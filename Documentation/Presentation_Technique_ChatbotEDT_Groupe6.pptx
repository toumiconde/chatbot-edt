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du dossier technique complet. 7 chapitres couvrant la BDD, le backend Laravel, le frontend, les animations, le PDF, les fonctionnalites et la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table emplois_du_temps est la TABLE CENTRALE qui relie les 9 autres via des cles etrangeres. Une seule requete Eloquent avec -&gt;with() recupere toutes les infos d'un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4 piliers du backend. Insister sur Eloquent qui remplace des dizaines de lignes SQL par une seule ligne lisible. Et sur le RBAC qui bloque les acces non autorises.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interfaces distinctes : Chatbot en clair/moderne pour les etudiants, Dashboard en dark mode premium pour l'administration. Le polling AJAX met a jour les alertes en temps reel sans recharger la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animations CSS qui rendent l'interface vivante. Insister sur le msgIn qui donne l'effet conversation naturelle, et le bounce qui simule la reflexion du 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etapes du PDF : du clic au telechargement. La vue Blade utilise des styles CSS inline car DomPDF ne supporte pas tous les frameworks CSS modernes.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ces fonctionnalites sont operationnelles et testees. Le dashboard chef est le plus complet avec toute la gestion administrative du departement.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pistes d'amelioration. La plus impactante serait l'integration LLM pour un vrai chatbot IA. Le caching Redis est important pour la scalabilite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Rappeler que tout est fonctionnel et tourne en local sur WAMP. Ouvrir la session de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1B4FD8">
              <a:alpha val="18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657600" cy="3657600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754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1B4FD8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TECHNIQUE &amp; FONCTIONNEL — GROUPE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Détaillé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&amp; Fonctionnel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de Gestion des Emplois du Temps — UGANC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6576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71216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Toumany Billy Condé &amp; Binôme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Mme Makera Kaba  |  Année académique 2024-2025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63040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Laravel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24912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724912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86784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986784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48656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48656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248656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10528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10528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4206240"/>
            <a:ext cx="1143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42245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772400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— BASE DE DONNÉES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relationnelles MySQL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rôles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078992"/>
            <a:ext cx="3108960" cy="1051560"/>
          </a:xfrm>
          <a:prstGeom prst="roundRect">
            <a:avLst>
              <a:gd name="adj" fmla="val 12174"/>
            </a:avLst>
          </a:prstGeom>
          <a:solidFill>
            <a:srgbClr val="0D1B2A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emplois_du_temps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14813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CENTRALE — relie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filiere · niveau · matiere · enseignant · salle · jour · heures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23317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5240">
            <a:solidFill>
              <a:srgbClr val="1B4F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" y="23865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" y="2660904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bcrypt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enseignant_id / filiere_id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" y="33832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5240">
            <a:solidFill>
              <a:srgbClr val="4C1D9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" y="343814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filieres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" y="3712464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NTIC, Dev. Logiciel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d'entree chatbot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4315968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5240">
            <a:solidFill>
              <a:srgbClr val="4C1D9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" y="43708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niveaux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" y="464515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/ L2 / L3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filiere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23317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04872" y="23865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enseignants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04872" y="266090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Separee de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formulaires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338328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E0F7FA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04872" y="343814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matieres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04872" y="371246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unique / credits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semestre S1-S6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23865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salles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266090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double-reservation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38328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28032" y="343814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modifications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3712464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ancien→nouveau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alertes temps reel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95160" y="23317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68312" y="23865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annonces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8312" y="2660904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/ expires_at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ciblage niveau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95160" y="33832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5240">
            <a:solidFill>
              <a:srgbClr val="4C1D9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068312" y="343814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🔕 notif_app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68312" y="3712464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/ read_at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internes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43000" y="2331720"/>
            <a:ext cx="0" cy="-201168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337560" y="2331720"/>
            <a:ext cx="0" cy="-201168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760720" y="2331720"/>
            <a:ext cx="0" cy="-201168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001000" y="2331720"/>
            <a:ext cx="0" cy="-201168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017520" y="2130552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— BACKEND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10 — Architecture technique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/ MVC / 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8872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Sécurité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517904"/>
            <a:ext cx="1929384" cy="1828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72768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bcrypt — mots de passe hachés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956816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CSRF — protection formulaires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34086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Injection SQL — requetes PDO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7249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Sessions sécurisées Laravel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109728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DBEAFE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2888" y="118872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RBAC Middleware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32888" y="1517904"/>
            <a:ext cx="1929384" cy="18288"/>
          </a:xfrm>
          <a:prstGeom prst="rect">
            <a:avLst/>
          </a:prstGeom>
          <a:solidFill>
            <a:srgbClr val="1B4FD8">
              <a:alpha val="4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572768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role:chef → /admin/*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32888" y="1956816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role:prof → /professor/*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32888" y="234086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403 si acces non autorise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32888" y="27249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Isolation stricte par role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81728" y="118872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Eloquent ORM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1728" y="1517904"/>
            <a:ext cx="1929384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572768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Relations hasMany / belongsTo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1956816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-&gt;with() charge les relations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81728" y="234086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Pas de SQL JOIN manuel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81728" y="27249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Migrations + Seeders versiones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20840" y="109728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30568" y="118872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API JSON Chatbot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30568" y="1517904"/>
            <a:ext cx="1929384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1572768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/api/filieres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30568" y="1956816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/api/edt/jour?filiere_id=1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30568" y="234086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/api/edt/semaine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30568" y="27249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GET /api/alertes → 48h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93192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Eloquent — Récupérer l'EDT d'un jour avec toutes ses relations 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EmploiDuTemps::with(['matiere','enseignant','salle'])-&gt;where('filiere_id',$fId)-&gt;where('jour',$jour)-&gt;orderBy('heure_debut')-&gt;get();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 — 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Blade + TailwindCSS + JavaScript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201168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Chatbot (Étudiants)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moderne dynamique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Fond bleu/indigo clair — interface épurée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Bulles de messages avec animations CSS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Boutons arrondis colorés avec hover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Champ de saisie + suggestions rapides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Responsive — adapté mobile &amp; desktop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2011680"/>
          </a:xfrm>
          <a:prstGeom prst="roundRect">
            <a:avLst>
              <a:gd name="adj" fmla="val 6364"/>
            </a:avLst>
          </a:prstGeom>
          <a:solidFill>
            <a:srgbClr val="1E2035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Admin / Dashboard (Dark Mode)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Esthétique premium Glassmorphism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Tonalités sombres bleu/violet profond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Bordures semi-transparentes (glassmorphism)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Cartes avec ombres douces et reliefs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Navigation structurée par 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Tableau de bord temps réel (polling)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218688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F1F5F9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Moteur Blade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63931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@foreach($annonces as $a)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$a-&gt;titre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@if(auth()-&gt;user()-&gt;isChef())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218688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F1F5F9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Polling AJAX (Fetch API)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63931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setInterval(async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 = await fetch('/board/modifs');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afficherAlertes(await r.json());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5000); // toutes les 5 secondes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 — ANIMATIONS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 fluide &amp; premium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Animations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148840" cy="3794760"/>
          </a:xfrm>
          <a:prstGeom prst="roundRect">
            <a:avLst>
              <a:gd name="adj" fmla="val 5532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Déclencheur: Point 'En ligne'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Clignotement lumineux vert — indique que le chatbot est actif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633472"/>
            <a:ext cx="2002536" cy="2103120"/>
          </a:xfrm>
          <a:prstGeom prst="roundRect">
            <a:avLst>
              <a:gd name="adj" fmla="val 3653"/>
            </a:avLst>
          </a:prstGeom>
          <a:solidFill>
            <a:srgbClr val="0D1B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8833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0%,100% { opacity:1;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30175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box-shadow:0 0 0 0 rgba(74,222,128,.4); }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3467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 { opacity:.7;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367588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box-shadow:0 0 0 4px rgba(74,222,128,0); 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1078992"/>
            <a:ext cx="2148840" cy="3794760"/>
          </a:xfrm>
          <a:prstGeom prst="roundRect">
            <a:avLst>
              <a:gd name="adj" fmla="val 5532"/>
            </a:avLst>
          </a:prstGeom>
          <a:solidFill>
            <a:srgbClr val="DBEAFE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316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1460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Déclencheur: Nouvelle bulle chat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21214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Fondu + glissement vers le haut — effet conversation naturelle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96312" y="2633472"/>
            <a:ext cx="2002536" cy="2103120"/>
          </a:xfrm>
          <a:prstGeom prst="roundRect">
            <a:avLst>
              <a:gd name="adj" fmla="val 3653"/>
            </a:avLst>
          </a:prstGeom>
          <a:solidFill>
            <a:srgbClr val="0D1B2A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268833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32888" y="30175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opacity:0;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32888" y="33467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transform:translateY(6px);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32888" y="367588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32888" y="400507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{ opacity:1; transform:translateY(0); 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1078992"/>
            <a:ext cx="2148840" cy="3794760"/>
          </a:xfrm>
          <a:prstGeom prst="roundRect">
            <a:avLst>
              <a:gd name="adj" fmla="val 5532"/>
            </a:avLst>
          </a:prstGeom>
          <a:solidFill>
            <a:srgbClr val="E0F7F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Déclencheur: Bot en train d'écrire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21214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points qui sautent — simule la réflexion du chatbot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2633472"/>
            <a:ext cx="2002536" cy="2103120"/>
          </a:xfrm>
          <a:prstGeom prst="roundRect">
            <a:avLst>
              <a:gd name="adj" fmla="val 3653"/>
            </a:avLst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68833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0%,80%,100% {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81728" y="30175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transform:translateY(0);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81728" y="33467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81728" y="367588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 {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81728" y="400507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transform:translateY(-6px);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81728" y="433425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20840" y="1078992"/>
            <a:ext cx="2148840" cy="3794760"/>
          </a:xfrm>
          <a:prstGeom prst="roundRect">
            <a:avLst>
              <a:gd name="adj" fmla="val 5532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20840" y="1115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1228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/ active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1228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Déclencheur: Survol &amp; clic boutons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12280" y="21214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Élévation +1px au survol, shrink scale(0.96) au clic — retour haptique virtuel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93992" y="2633472"/>
            <a:ext cx="2002536" cy="2103120"/>
          </a:xfrm>
          <a:prstGeom prst="roundRect">
            <a:avLst>
              <a:gd name="adj" fmla="val 3653"/>
            </a:avLst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268833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hover */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30568" y="30175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transform:translateY(-1px);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30568" y="33467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box-shadow:0 4px 14px ...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30568" y="367588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click */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30568" y="400507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transform:scale(0.96);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5 — GÉNÉRATION PDF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barryvdh/laravel-dompdf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planning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DBEAFE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15568"/>
            <a:ext cx="502920" cy="50292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utilisateur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'Télécharger PDF'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ou dashboard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18488" y="1508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1078992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E0F7F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115568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1645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/api/pdf?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filiere_id=1&amp;niveau_id=2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81528" y="1508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1078992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11880" y="111556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46120" y="1645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PDFController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 BDD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Eloquent -&gt;get()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44568" y="1508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74920" y="1115568"/>
            <a:ext cx="502920" cy="50292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09160" y="1645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Blade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épuré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inline compatible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07608" y="1508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1078992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111556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1645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DomPDF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HTML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flux binaire PDF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70648" y="1508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89520" y="1078992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01000" y="111556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35240" y="1645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EDT_NTIC_L3_Lundi.pdf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téléchargement auto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2651760"/>
            <a:ext cx="8595360" cy="219456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706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PDFController.php — generer()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299923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$cours = EmploiDuTemps::with(['matiere','enseignant','salle'])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3300984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-&gt;where('filiere_id', $request-&gt;filiere_id)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3602736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-&gt;when($request-&gt;jour, fn($q) =&gt; $q-&gt;where('jour', $request-&gt;jour))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390448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-&gt;orderBy('heure_debut')-&gt;get();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206240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$pdf = Pdf::loadView('pdf.emploi_du_temps', compact('cours', 'filiere', 'niveau'));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50799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$pdf-&gt;download('EDT_'.$filiere-&gt;code.'_'.$niveau-&gt;libelle.'.pdf');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6 — FONCTIONNALITÉS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complet des réalisations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opérationnelles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1664208"/>
          </a:xfrm>
          <a:prstGeom prst="roundRect">
            <a:avLst>
              <a:gd name="adj" fmla="val 6593"/>
            </a:avLst>
          </a:prstGeom>
          <a:solidFill>
            <a:srgbClr val="DBEAFE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 &amp; Profil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523744" cy="18288"/>
          </a:xfrm>
          <a:prstGeom prst="rect">
            <a:avLst/>
          </a:prstGeom>
          <a:solidFill>
            <a:srgbClr val="1B4FD8">
              <a:alpha val="4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54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Inscription / Connexion (3 roles)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938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Reinitialisation mot de passe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3225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Gestion profil — synchro auto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7066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Association filiere/niveau etudiant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43200" cy="1664208"/>
          </a:xfrm>
          <a:prstGeom prst="roundRect">
            <a:avLst>
              <a:gd name="adj" fmla="val 6593"/>
            </a:avLst>
          </a:prstGeom>
          <a:solidFill>
            <a:srgbClr val="E0F7F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Chatbot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10128" y="1499616"/>
            <a:ext cx="2523744" cy="18288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54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Mode guide (boutons)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1938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Mode libre (mots-cles)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23225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EDT jour / semaine / semestre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7066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Alertes 48h + PDF + suggestions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078992"/>
            <a:ext cx="2743200" cy="1664208"/>
          </a:xfrm>
          <a:prstGeom prst="roundRect">
            <a:avLst>
              <a:gd name="adj" fmla="val 6593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👨‍🎓 Dashboard Etudiant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499616"/>
            <a:ext cx="2523744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554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Cours semaine courante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6208" y="1938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Bandeau annonces urgentes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36208" y="23225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Alertes temps reel (polling)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27066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Annonces par categorie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4160520" cy="155448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" y="2971800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Dashboard Enseignant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84048" y="3300984"/>
            <a:ext cx="3941064" cy="18288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355848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Visualisation cours assignes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" y="3739896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Notifications d'affectation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123944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Modification cours (salle/jour/heure)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" y="4507992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Motif obligatoire + alerte auto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880360"/>
            <a:ext cx="4160520" cy="155448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2971800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Dashboard Chef de Programme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18888" y="3300984"/>
            <a:ext cx="3941064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355848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Publication annonces (type/ciblage/urgence/expiration)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18888" y="3739896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Saisie EDT complet (filiere/semestre/matiere/enseignant/salle/heures)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18888" y="4123944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Creation profs + compte user automatique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18888" y="4507992"/>
            <a:ext cx="3941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Creation matieres + contrainte code unique + suppression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7 —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restantes &amp; évolutions v2.0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8FA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Intégration LLM (IA)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81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 l'analyseur de mots-clés par Gemini/OpenAI API pour comprendre des phrases complexes : 'Est-ce que j'ai cours de réseau mardi matin ?'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8FA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Anti-conflit saisie EDT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48132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81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18013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dans DashboardController pour bloquer si une salle est occupée ou un enseignant déjà assigné sur le même créneau.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78992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8FA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Emails SMTP réels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48132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81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un serveur SMTP pour notifier étudiants et profs par email lors d'annulation de cours ou réinitialisation mot de passe.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8FA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Dark Mode généralisé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8587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clair/sombre sur toutes les vues publiques (Chatbot, Dashboard Étudiant) avec mémorisation de la préférence utilisateur.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15468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8FA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Caching Redis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54787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8587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cache les plannings hebdomadaires via Redis pour éviter les requêtes BDD répétitives lors des pics de connexion.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1B4FD8">
              <a:alpha val="18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TECHNIQUE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pleinement fonctionnelle — Prête pour la soutenance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54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MySQL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Entite-relation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 &amp; versione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81328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554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10 MVC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2128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API 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Eloquent ORM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81328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554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animations CSS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2128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fluide &amp; premium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Haptique virtuel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953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3319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etapes automatisees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dynamique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953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0" y="3319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hybride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611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+ mots-cles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suggestions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8803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2953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35040" y="3319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fonctions v2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3611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SMTP, Redis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Mode, Anti-conflit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0" y="4096512"/>
            <a:ext cx="4572000" cy="27432"/>
          </a:xfrm>
          <a:prstGeom prst="rect">
            <a:avLst/>
          </a:prstGeom>
          <a:solidFill>
            <a:srgbClr val="0EA5E9">
              <a:alpha val="6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6  |  Toumany Billy Condé &amp; Binôme  |  Mme Makera Kaba  |  UGANC 2024-2025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Technique — Chatbot EDT UGANC</dc:title>
  <dc:subject>PptxGenJS Presentation</dc:subject>
  <dc:creator>Groupe 6 — UGANC</dc:creator>
  <cp:lastModifiedBy>Groupe 6 — UGANC</cp:lastModifiedBy>
  <cp:revision>1</cp:revision>
  <dcterms:created xsi:type="dcterms:W3CDTF">2026-06-15T09:13:16Z</dcterms:created>
  <dcterms:modified xsi:type="dcterms:W3CDTF">2026-06-15T09:13:16Z</dcterms:modified>
</cp:coreProperties>
</file>
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d'utilisation complet pour les 3 roles. Montrer que la plateforme s'adapte dynamiquement selon le role du compte connecte.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sections du guide. Chaque section est dediee a un role specifique sauf la connexion et le PDF qui concernent tout le monde.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connexion est commune a tous. Insister sur le fait que le role Chef est preconfigure — pas accessible publiquement pour eviter les abus de securite.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dashboard etudiant est personalise selon sa filiere et son niveau. Le polling automatique toutes les 30 secondes evite a l'etudiant de devoir recharger la page pour voir les changements.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modes complementaires. Le mode guide est pour les debutants, le mode texte pour les utilisateurs avances. Montrer comment taper 'lundi' donne directement l'EDT du lundi.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prof peut voir tous ses cours et les modifier. Le motif est OBLIGATOIRE pour chaque modification. L'alerte est envoyee instantanement aux etudiants via le polling AJAX.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chef est l'administrateur du systeme. Il peut publier des annonces ciblees, creer des matieres et des enseignants. La contrainte de code unique par filiere evite les doublons de matieres.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saisie EDT est le coeur du travail du chef. 8 champs a remplir. La notif auto a l'enseignant evite les oublis. La suppression est definitive donc bien insister sur la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L'arbre de navigation complet du chatbot. 3 branches principales depuis l'accueil. Insister sur le champ de saisie en bas qui permet aussi d'ecrire directement ses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PDF est genere cote serveur par DomPDF. Le nom du fichier est dynamique selon les parametres de la requete. Il suffit d'un seul clic apres avoir consulte l'EDT dans le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conclusion. Rappeler que la plateforme s'adapte dynamiquement selon le role. Ouvrir la session de questions sur l'utilisation.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583680" y="-914400"/>
            <a:ext cx="5029200" cy="5029200"/>
          </a:xfrm>
          <a:prstGeom prst="ellipse">
            <a:avLst/>
          </a:prstGeom>
          <a:solidFill>
            <a:srgbClr val="1B4FD8">
              <a:alpha val="18000"/>
            </a:srgbClr>
          </a:solidFill>
          <a:ln w="12700">
            <a:solidFill>
              <a:srgbClr val="1B4FD8"/>
            </a:solidFill>
            <a:prstDash val="solid"/>
          </a:ln>
        </p:spPr>
      </p:sp>
      <p:sp>
        <p:nvSpPr>
          <p:cNvPr id="3" name="Shape 1"/>
          <p:cNvSpPr/>
          <p:nvPr/>
        </p:nvSpPr>
        <p:spPr>
          <a:xfrm>
            <a:off x="-731520" y="2743200"/>
            <a:ext cx="3657600" cy="3657600"/>
          </a:xfrm>
          <a:prstGeom prst="ellipse">
            <a:avLst/>
          </a:prstGeom>
          <a:solidFill>
            <a:srgbClr val="0EA5E9">
              <a:alpha val="14000"/>
            </a:srgbClr>
          </a:solidFill>
          <a:ln w="12700">
            <a:solidFill>
              <a:srgbClr val="0EA5E9"/>
            </a:solidFill>
            <a:prstDash val="solid"/>
          </a:ln>
        </p:spPr>
      </p:sp>
      <p:sp>
        <p:nvSpPr>
          <p:cNvPr id="4" name="Shape 2"/>
          <p:cNvSpPr/>
          <p:nvPr/>
        </p:nvSpPr>
        <p:spPr>
          <a:xfrm>
            <a:off x="457200" y="457200"/>
            <a:ext cx="4114800" cy="347472"/>
          </a:xfrm>
          <a:prstGeom prst="roundRect">
            <a:avLst>
              <a:gd name="adj" fmla="val 21053"/>
            </a:avLst>
          </a:prstGeom>
          <a:solidFill>
            <a:srgbClr val="1B4FD8">
              <a:alpha val="40000"/>
            </a:srgbClr>
          </a:solidFill>
          <a:ln w="12700">
            <a:solidFill>
              <a:srgbClr val="0EA5E9"/>
            </a:solidFill>
            <a:prstDash val="solid"/>
          </a:ln>
        </p:spPr>
      </p:sp>
      <p:sp>
        <p:nvSpPr>
          <p:cNvPr id="5" name="Text 3"/>
          <p:cNvSpPr/>
          <p:nvPr/>
        </p:nvSpPr>
        <p:spPr>
          <a:xfrm>
            <a:off x="457200" y="457200"/>
            <a:ext cx="4114800" cy="347472"/>
          </a:xfrm>
          <a:prstGeom prst="rect">
            <a:avLst/>
          </a:prstGeom>
          <a:noFill/>
          <a:ln/>
        </p:spPr>
        <p:txBody>
          <a:bodyPr wrap="square" lIns="0" tIns="0" rIns="0" bIns="0" rtlCol="0" anchor="ctr"/>
          <a:lstStyle/>
          <a:p>
            <a:pPr algn="ctr" indent="0" marL="0">
              <a:buNone/>
            </a:pPr>
            <a:r>
              <a:rPr lang="en-US" sz="900" b="1" spc="150" kern="0" dirty="0">
                <a:solidFill>
                  <a:srgbClr val="0EA5E9"/>
                </a:solidFill>
                <a:latin typeface="Arial" pitchFamily="34" charset="0"/>
                <a:ea typeface="Arial" pitchFamily="34" charset="-122"/>
                <a:cs typeface="Arial" pitchFamily="34" charset="-120"/>
              </a:rPr>
              <a:t>GUIDE D'UTILISATION COMPLET — CHATBOT EDT UGANC</a:t>
            </a:r>
            <a:endParaRPr lang="en-US" sz="900" dirty="0"/>
          </a:p>
        </p:txBody>
      </p:sp>
      <p:sp>
        <p:nvSpPr>
          <p:cNvPr id="6" name="Text 4"/>
          <p:cNvSpPr/>
          <p:nvPr/>
        </p:nvSpPr>
        <p:spPr>
          <a:xfrm>
            <a:off x="457200" y="987552"/>
            <a:ext cx="8229600" cy="6858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Guide d'Utilisation</a:t>
            </a:r>
            <a:endParaRPr lang="en-US" sz="4800" dirty="0"/>
          </a:p>
        </p:txBody>
      </p:sp>
      <p:sp>
        <p:nvSpPr>
          <p:cNvPr id="7" name="Text 5"/>
          <p:cNvSpPr/>
          <p:nvPr/>
        </p:nvSpPr>
        <p:spPr>
          <a:xfrm>
            <a:off x="457200" y="1691640"/>
            <a:ext cx="8229600" cy="502920"/>
          </a:xfrm>
          <a:prstGeom prst="rect">
            <a:avLst/>
          </a:prstGeom>
          <a:noFill/>
          <a:ln/>
        </p:spPr>
        <p:txBody>
          <a:bodyPr wrap="square" lIns="0" tIns="0" rIns="0" bIns="0" rtlCol="0" anchor="ctr"/>
          <a:lstStyle/>
          <a:p>
            <a:pPr indent="0" marL="0">
              <a:buNone/>
            </a:pPr>
            <a:r>
              <a:rPr lang="en-US" sz="2600" b="1" dirty="0">
                <a:solidFill>
                  <a:srgbClr val="0EA5E9"/>
                </a:solidFill>
                <a:latin typeface="Arial" pitchFamily="34" charset="0"/>
                <a:ea typeface="Arial" pitchFamily="34" charset="-122"/>
                <a:cs typeface="Arial" pitchFamily="34" charset="-120"/>
              </a:rPr>
              <a:t>Chatbot de Gestion des Emplois du Temps</a:t>
            </a:r>
            <a:endParaRPr lang="en-US" sz="2600" dirty="0"/>
          </a:p>
        </p:txBody>
      </p:sp>
      <p:sp>
        <p:nvSpPr>
          <p:cNvPr id="8" name="Text 6"/>
          <p:cNvSpPr/>
          <p:nvPr/>
        </p:nvSpPr>
        <p:spPr>
          <a:xfrm>
            <a:off x="457200" y="2267712"/>
            <a:ext cx="8229600" cy="365760"/>
          </a:xfrm>
          <a:prstGeom prst="rect">
            <a:avLst/>
          </a:prstGeom>
          <a:noFill/>
          <a:ln/>
        </p:spPr>
        <p:txBody>
          <a:bodyPr wrap="square" lIns="0" tIns="0" rIns="0" bIns="0" rtlCol="0" anchor="ctr"/>
          <a:lstStyle/>
          <a:p>
            <a:pPr indent="0" marL="0">
              <a:buNone/>
            </a:pPr>
            <a:r>
              <a:rPr lang="en-US" sz="1600" dirty="0">
                <a:solidFill>
                  <a:srgbClr val="93C5FD"/>
                </a:solidFill>
                <a:latin typeface="Arial" pitchFamily="34" charset="0"/>
                <a:ea typeface="Arial" pitchFamily="34" charset="-122"/>
                <a:cs typeface="Arial" pitchFamily="34" charset="-120"/>
              </a:rPr>
              <a:t>UGANC — Centre Informatique</a:t>
            </a:r>
            <a:endParaRPr lang="en-US" sz="1600" dirty="0"/>
          </a:p>
        </p:txBody>
      </p:sp>
      <p:sp>
        <p:nvSpPr>
          <p:cNvPr id="9" name="Shape 7"/>
          <p:cNvSpPr/>
          <p:nvPr/>
        </p:nvSpPr>
        <p:spPr>
          <a:xfrm>
            <a:off x="457200" y="2743200"/>
            <a:ext cx="4114800" cy="36576"/>
          </a:xfrm>
          <a:prstGeom prst="rect">
            <a:avLst/>
          </a:prstGeom>
          <a:solidFill>
            <a:srgbClr val="0EA5E9"/>
          </a:solidFill>
          <a:ln w="12700">
            <a:solidFill>
              <a:srgbClr val="0EA5E9"/>
            </a:solidFill>
            <a:prstDash val="solid"/>
          </a:ln>
        </p:spPr>
      </p:sp>
      <p:sp>
        <p:nvSpPr>
          <p:cNvPr id="10" name="Text 8"/>
          <p:cNvSpPr/>
          <p:nvPr/>
        </p:nvSpPr>
        <p:spPr>
          <a:xfrm>
            <a:off x="457200" y="2871216"/>
            <a:ext cx="7772400" cy="6858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Toumany Billy Condé &amp; Binôme</a:t>
            </a:r>
            <a:endParaRPr lang="en-US" sz="1300" dirty="0"/>
          </a:p>
          <a:p>
            <a:pPr indent="0" marL="0">
              <a:buNone/>
            </a:pPr>
            <a:r>
              <a:rPr lang="en-US" sz="1300" dirty="0">
                <a:solidFill>
                  <a:srgbClr val="93C5FD"/>
                </a:solidFill>
                <a:latin typeface="Arial" pitchFamily="34" charset="0"/>
                <a:ea typeface="Arial" pitchFamily="34" charset="-122"/>
                <a:cs typeface="Arial" pitchFamily="34" charset="-120"/>
              </a:rPr>
              <a:t>Superviseur : Mme Makera Kaba  |  Année académique 2024-2025</a:t>
            </a:r>
            <a:endParaRPr lang="en-US" sz="1300" dirty="0"/>
          </a:p>
        </p:txBody>
      </p:sp>
      <p:sp>
        <p:nvSpPr>
          <p:cNvPr id="11" name="Shape 9"/>
          <p:cNvSpPr/>
          <p:nvPr/>
        </p:nvSpPr>
        <p:spPr>
          <a:xfrm>
            <a:off x="1097280" y="4160520"/>
            <a:ext cx="2194560" cy="777240"/>
          </a:xfrm>
          <a:prstGeom prst="roundRect">
            <a:avLst>
              <a:gd name="adj" fmla="val 14118"/>
            </a:avLst>
          </a:prstGeom>
          <a:solidFill>
            <a:srgbClr val="FFFFFF">
              <a:alpha val="9000"/>
            </a:srgbClr>
          </a:solidFill>
          <a:ln w="19050">
            <a:solidFill>
              <a:srgbClr val="1B4FD8"/>
            </a:solidFill>
            <a:prstDash val="solid"/>
          </a:ln>
        </p:spPr>
      </p:sp>
      <p:sp>
        <p:nvSpPr>
          <p:cNvPr id="12" name="Text 10"/>
          <p:cNvSpPr/>
          <p:nvPr/>
        </p:nvSpPr>
        <p:spPr>
          <a:xfrm>
            <a:off x="1097280" y="4187952"/>
            <a:ext cx="2194560" cy="34747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3" name="Text 11"/>
          <p:cNvSpPr/>
          <p:nvPr/>
        </p:nvSpPr>
        <p:spPr>
          <a:xfrm>
            <a:off x="1097280" y="4517136"/>
            <a:ext cx="21945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Étudiant</a:t>
            </a:r>
            <a:endParaRPr lang="en-US" sz="1050" dirty="0"/>
          </a:p>
        </p:txBody>
      </p:sp>
      <p:sp>
        <p:nvSpPr>
          <p:cNvPr id="14" name="Shape 12"/>
          <p:cNvSpPr/>
          <p:nvPr/>
        </p:nvSpPr>
        <p:spPr>
          <a:xfrm>
            <a:off x="3657600" y="4160520"/>
            <a:ext cx="2194560" cy="777240"/>
          </a:xfrm>
          <a:prstGeom prst="roundRect">
            <a:avLst>
              <a:gd name="adj" fmla="val 14118"/>
            </a:avLst>
          </a:prstGeom>
          <a:solidFill>
            <a:srgbClr val="FFFFFF">
              <a:alpha val="9000"/>
            </a:srgbClr>
          </a:solidFill>
          <a:ln w="19050">
            <a:solidFill>
              <a:srgbClr val="10B981"/>
            </a:solidFill>
            <a:prstDash val="solid"/>
          </a:ln>
        </p:spPr>
      </p:sp>
      <p:sp>
        <p:nvSpPr>
          <p:cNvPr id="15" name="Text 13"/>
          <p:cNvSpPr/>
          <p:nvPr/>
        </p:nvSpPr>
        <p:spPr>
          <a:xfrm>
            <a:off x="3657600" y="4187952"/>
            <a:ext cx="2194560" cy="34747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6" name="Text 14"/>
          <p:cNvSpPr/>
          <p:nvPr/>
        </p:nvSpPr>
        <p:spPr>
          <a:xfrm>
            <a:off x="3657600" y="4517136"/>
            <a:ext cx="21945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Enseignant</a:t>
            </a:r>
            <a:endParaRPr lang="en-US" sz="1050" dirty="0"/>
          </a:p>
        </p:txBody>
      </p:sp>
      <p:sp>
        <p:nvSpPr>
          <p:cNvPr id="17" name="Shape 15"/>
          <p:cNvSpPr/>
          <p:nvPr/>
        </p:nvSpPr>
        <p:spPr>
          <a:xfrm>
            <a:off x="6217920" y="4160520"/>
            <a:ext cx="2194560" cy="777240"/>
          </a:xfrm>
          <a:prstGeom prst="roundRect">
            <a:avLst>
              <a:gd name="adj" fmla="val 14118"/>
            </a:avLst>
          </a:prstGeom>
          <a:solidFill>
            <a:srgbClr val="FFFFFF">
              <a:alpha val="9000"/>
            </a:srgbClr>
          </a:solidFill>
          <a:ln w="19050">
            <a:solidFill>
              <a:srgbClr val="4C1D95"/>
            </a:solidFill>
            <a:prstDash val="solid"/>
          </a:ln>
        </p:spPr>
      </p:sp>
      <p:sp>
        <p:nvSpPr>
          <p:cNvPr id="18" name="Text 16"/>
          <p:cNvSpPr/>
          <p:nvPr/>
        </p:nvSpPr>
        <p:spPr>
          <a:xfrm>
            <a:off x="6217920" y="4187952"/>
            <a:ext cx="2194560" cy="347472"/>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6217920" y="4517136"/>
            <a:ext cx="219456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Chef de Programme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PLAN DU GUIDE</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Ce que vous allez apprendre</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Vue d'ensemble</a:t>
            </a:r>
            <a:endParaRPr lang="en-US" sz="1100" dirty="0"/>
          </a:p>
        </p:txBody>
      </p:sp>
      <p:sp>
        <p:nvSpPr>
          <p:cNvPr id="6" name="Shape 4"/>
          <p:cNvSpPr/>
          <p:nvPr/>
        </p:nvSpPr>
        <p:spPr>
          <a:xfrm>
            <a:off x="274320" y="1097280"/>
            <a:ext cx="2743200" cy="1719072"/>
          </a:xfrm>
          <a:prstGeom prst="roundRect">
            <a:avLst>
              <a:gd name="adj" fmla="val 7447"/>
            </a:avLst>
          </a:prstGeom>
          <a:solidFill>
            <a:srgbClr val="DBEAFE"/>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7" name="Shape 5"/>
          <p:cNvSpPr/>
          <p:nvPr/>
        </p:nvSpPr>
        <p:spPr>
          <a:xfrm>
            <a:off x="384048" y="1207008"/>
            <a:ext cx="457200" cy="457200"/>
          </a:xfrm>
          <a:prstGeom prst="ellipse">
            <a:avLst/>
          </a:prstGeom>
          <a:solidFill>
            <a:srgbClr val="1B4FD8"/>
          </a:solidFill>
          <a:ln w="12700">
            <a:solidFill>
              <a:srgbClr val="1B4FD8"/>
            </a:solidFill>
            <a:prstDash val="solid"/>
          </a:ln>
        </p:spPr>
      </p:sp>
      <p:sp>
        <p:nvSpPr>
          <p:cNvPr id="8" name="Text 6"/>
          <p:cNvSpPr/>
          <p:nvPr/>
        </p:nvSpPr>
        <p:spPr>
          <a:xfrm>
            <a:off x="384048" y="1207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932688" y="1234440"/>
            <a:ext cx="1993392" cy="384048"/>
          </a:xfrm>
          <a:prstGeom prst="rect">
            <a:avLst/>
          </a:prstGeom>
          <a:noFill/>
          <a:ln/>
        </p:spPr>
        <p:txBody>
          <a:bodyPr wrap="square" lIns="0" tIns="0" rIns="0" bIns="0" rtlCol="0" anchor="ctr"/>
          <a:lstStyle/>
          <a:p>
            <a:pPr indent="0" marL="0">
              <a:buNone/>
            </a:pPr>
            <a:r>
              <a:rPr lang="en-US" sz="1300" b="1" dirty="0">
                <a:solidFill>
                  <a:srgbClr val="1B4FD8"/>
                </a:solidFill>
                <a:latin typeface="Arial" pitchFamily="34" charset="0"/>
                <a:ea typeface="Arial" pitchFamily="34" charset="-122"/>
                <a:cs typeface="Arial" pitchFamily="34" charset="-120"/>
              </a:rPr>
              <a:t>Inscription &amp; Connexion</a:t>
            </a:r>
            <a:endParaRPr lang="en-US" sz="1300" dirty="0"/>
          </a:p>
        </p:txBody>
      </p:sp>
      <p:sp>
        <p:nvSpPr>
          <p:cNvPr id="10" name="Text 8"/>
          <p:cNvSpPr/>
          <p:nvPr/>
        </p:nvSpPr>
        <p:spPr>
          <a:xfrm>
            <a:off x="384048" y="1691640"/>
            <a:ext cx="2542032" cy="59436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Créer son compte, se connecter, gérer son profil</a:t>
            </a:r>
            <a:endParaRPr lang="en-US" sz="1050" dirty="0"/>
          </a:p>
        </p:txBody>
      </p:sp>
      <p:sp>
        <p:nvSpPr>
          <p:cNvPr id="11" name="Shape 9"/>
          <p:cNvSpPr/>
          <p:nvPr/>
        </p:nvSpPr>
        <p:spPr>
          <a:xfrm>
            <a:off x="384048" y="2377440"/>
            <a:ext cx="1225296" cy="274320"/>
          </a:xfrm>
          <a:prstGeom prst="roundRect">
            <a:avLst>
              <a:gd name="adj" fmla="val 20000"/>
            </a:avLst>
          </a:prstGeom>
          <a:solidFill>
            <a:srgbClr val="1B4FD8">
              <a:alpha val="20000"/>
            </a:srgbClr>
          </a:solidFill>
          <a:ln w="12700">
            <a:solidFill>
              <a:srgbClr val="1B4FD8"/>
            </a:solidFill>
            <a:prstDash val="solid"/>
          </a:ln>
        </p:spPr>
      </p:sp>
      <p:sp>
        <p:nvSpPr>
          <p:cNvPr id="12" name="Text 10"/>
          <p:cNvSpPr/>
          <p:nvPr/>
        </p:nvSpPr>
        <p:spPr>
          <a:xfrm>
            <a:off x="384048" y="2377440"/>
            <a:ext cx="1225296" cy="274320"/>
          </a:xfrm>
          <a:prstGeom prst="rect">
            <a:avLst/>
          </a:prstGeom>
          <a:noFill/>
          <a:ln/>
        </p:spPr>
        <p:txBody>
          <a:bodyPr wrap="square" lIns="0" tIns="0" rIns="0" bIns="0" rtlCol="0" anchor="ctr"/>
          <a:lstStyle/>
          <a:p>
            <a:pPr algn="ctr" indent="0" marL="0">
              <a:buNone/>
            </a:pPr>
            <a:r>
              <a:rPr lang="en-US" sz="850" b="1" dirty="0">
                <a:solidFill>
                  <a:srgbClr val="1B4FD8"/>
                </a:solidFill>
                <a:latin typeface="Arial" pitchFamily="34" charset="0"/>
                <a:ea typeface="Arial" pitchFamily="34" charset="-122"/>
                <a:cs typeface="Arial" pitchFamily="34" charset="-120"/>
              </a:rPr>
              <a:t>Tous les rôles</a:t>
            </a:r>
            <a:endParaRPr lang="en-US" sz="850" dirty="0"/>
          </a:p>
        </p:txBody>
      </p:sp>
      <p:sp>
        <p:nvSpPr>
          <p:cNvPr id="13" name="Shape 11"/>
          <p:cNvSpPr/>
          <p:nvPr/>
        </p:nvSpPr>
        <p:spPr>
          <a:xfrm>
            <a:off x="3200400" y="1097280"/>
            <a:ext cx="2743200" cy="1719072"/>
          </a:xfrm>
          <a:prstGeom prst="roundRect">
            <a:avLst>
              <a:gd name="adj" fmla="val 7447"/>
            </a:avLst>
          </a:prstGeom>
          <a:solidFill>
            <a:srgbClr val="D1FAE5"/>
          </a:solidFill>
          <a:ln w="19050">
            <a:solidFill>
              <a:srgbClr val="10B981"/>
            </a:solidFill>
            <a:prstDash val="solid"/>
          </a:ln>
          <a:effectLst>
            <a:outerShdw sx="100000" sy="100000" kx="0" ky="0" algn="bl" rotWithShape="0" blurRad="88900" dist="25400" dir="2700000">
              <a:srgbClr val="000000">
                <a:alpha val="13000"/>
              </a:srgbClr>
            </a:outerShdw>
          </a:effectLst>
        </p:spPr>
      </p:sp>
      <p:sp>
        <p:nvSpPr>
          <p:cNvPr id="14" name="Shape 12"/>
          <p:cNvSpPr/>
          <p:nvPr/>
        </p:nvSpPr>
        <p:spPr>
          <a:xfrm>
            <a:off x="3310128" y="1207008"/>
            <a:ext cx="457200" cy="457200"/>
          </a:xfrm>
          <a:prstGeom prst="ellipse">
            <a:avLst/>
          </a:prstGeom>
          <a:solidFill>
            <a:srgbClr val="10B981"/>
          </a:solidFill>
          <a:ln w="12700">
            <a:solidFill>
              <a:srgbClr val="10B981"/>
            </a:solidFill>
            <a:prstDash val="solid"/>
          </a:ln>
        </p:spPr>
      </p:sp>
      <p:sp>
        <p:nvSpPr>
          <p:cNvPr id="15" name="Text 13"/>
          <p:cNvSpPr/>
          <p:nvPr/>
        </p:nvSpPr>
        <p:spPr>
          <a:xfrm>
            <a:off x="3310128" y="1207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p:nvPr/>
        </p:nvSpPr>
        <p:spPr>
          <a:xfrm>
            <a:off x="3858768" y="1234440"/>
            <a:ext cx="1993392" cy="384048"/>
          </a:xfrm>
          <a:prstGeom prst="rect">
            <a:avLst/>
          </a:prstGeom>
          <a:noFill/>
          <a:ln/>
        </p:spPr>
        <p:txBody>
          <a:bodyPr wrap="square" lIns="0" tIns="0" rIns="0" bIns="0" rtlCol="0" anchor="ctr"/>
          <a:lstStyle/>
          <a:p>
            <a:pPr indent="0" marL="0">
              <a:buNone/>
            </a:pPr>
            <a:r>
              <a:rPr lang="en-US" sz="1300" b="1" dirty="0">
                <a:solidFill>
                  <a:srgbClr val="10B981"/>
                </a:solidFill>
                <a:latin typeface="Arial" pitchFamily="34" charset="0"/>
                <a:ea typeface="Arial" pitchFamily="34" charset="-122"/>
                <a:cs typeface="Arial" pitchFamily="34" charset="-120"/>
              </a:rPr>
              <a:t>Guide Étudiant</a:t>
            </a:r>
            <a:endParaRPr lang="en-US" sz="1300" dirty="0"/>
          </a:p>
        </p:txBody>
      </p:sp>
      <p:sp>
        <p:nvSpPr>
          <p:cNvPr id="17" name="Text 15"/>
          <p:cNvSpPr/>
          <p:nvPr/>
        </p:nvSpPr>
        <p:spPr>
          <a:xfrm>
            <a:off x="3310128" y="1691640"/>
            <a:ext cx="2542032" cy="59436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Dashboard, chatbot, alertes, téléchargement PDF</a:t>
            </a:r>
            <a:endParaRPr lang="en-US" sz="1050" dirty="0"/>
          </a:p>
        </p:txBody>
      </p:sp>
      <p:sp>
        <p:nvSpPr>
          <p:cNvPr id="18" name="Shape 16"/>
          <p:cNvSpPr/>
          <p:nvPr/>
        </p:nvSpPr>
        <p:spPr>
          <a:xfrm>
            <a:off x="3310128" y="2377440"/>
            <a:ext cx="1225296" cy="274320"/>
          </a:xfrm>
          <a:prstGeom prst="roundRect">
            <a:avLst>
              <a:gd name="adj" fmla="val 20000"/>
            </a:avLst>
          </a:prstGeom>
          <a:solidFill>
            <a:srgbClr val="10B981">
              <a:alpha val="20000"/>
            </a:srgbClr>
          </a:solidFill>
          <a:ln w="12700">
            <a:solidFill>
              <a:srgbClr val="10B981"/>
            </a:solidFill>
            <a:prstDash val="solid"/>
          </a:ln>
        </p:spPr>
      </p:sp>
      <p:sp>
        <p:nvSpPr>
          <p:cNvPr id="19" name="Text 17"/>
          <p:cNvSpPr/>
          <p:nvPr/>
        </p:nvSpPr>
        <p:spPr>
          <a:xfrm>
            <a:off x="3310128" y="2377440"/>
            <a:ext cx="1225296" cy="274320"/>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 Étudiant</a:t>
            </a:r>
            <a:endParaRPr lang="en-US" sz="850" dirty="0"/>
          </a:p>
        </p:txBody>
      </p:sp>
      <p:sp>
        <p:nvSpPr>
          <p:cNvPr id="20" name="Shape 18"/>
          <p:cNvSpPr/>
          <p:nvPr/>
        </p:nvSpPr>
        <p:spPr>
          <a:xfrm>
            <a:off x="6126480" y="1097280"/>
            <a:ext cx="2743200" cy="1719072"/>
          </a:xfrm>
          <a:prstGeom prst="roundRect">
            <a:avLst>
              <a:gd name="adj" fmla="val 7447"/>
            </a:avLst>
          </a:prstGeom>
          <a:solidFill>
            <a:srgbClr val="E0F7FA"/>
          </a:solidFill>
          <a:ln w="19050">
            <a:solidFill>
              <a:srgbClr val="0EA5E9"/>
            </a:solidFill>
            <a:prstDash val="solid"/>
          </a:ln>
          <a:effectLst>
            <a:outerShdw sx="100000" sy="100000" kx="0" ky="0" algn="bl" rotWithShape="0" blurRad="88900" dist="25400" dir="2700000">
              <a:srgbClr val="000000">
                <a:alpha val="13000"/>
              </a:srgbClr>
            </a:outerShdw>
          </a:effectLst>
        </p:spPr>
      </p:sp>
      <p:sp>
        <p:nvSpPr>
          <p:cNvPr id="21" name="Shape 19"/>
          <p:cNvSpPr/>
          <p:nvPr/>
        </p:nvSpPr>
        <p:spPr>
          <a:xfrm>
            <a:off x="6236208" y="1207008"/>
            <a:ext cx="457200" cy="457200"/>
          </a:xfrm>
          <a:prstGeom prst="ellipse">
            <a:avLst/>
          </a:prstGeom>
          <a:solidFill>
            <a:srgbClr val="0EA5E9"/>
          </a:solidFill>
          <a:ln w="12700">
            <a:solidFill>
              <a:srgbClr val="0EA5E9"/>
            </a:solidFill>
            <a:prstDash val="solid"/>
          </a:ln>
        </p:spPr>
      </p:sp>
      <p:sp>
        <p:nvSpPr>
          <p:cNvPr id="22" name="Text 20"/>
          <p:cNvSpPr/>
          <p:nvPr/>
        </p:nvSpPr>
        <p:spPr>
          <a:xfrm>
            <a:off x="6236208" y="120700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3" name="Text 21"/>
          <p:cNvSpPr/>
          <p:nvPr/>
        </p:nvSpPr>
        <p:spPr>
          <a:xfrm>
            <a:off x="6784848" y="1234440"/>
            <a:ext cx="1993392" cy="384048"/>
          </a:xfrm>
          <a:prstGeom prst="rect">
            <a:avLst/>
          </a:prstGeom>
          <a:noFill/>
          <a:ln/>
        </p:spPr>
        <p:txBody>
          <a:bodyPr wrap="square" lIns="0" tIns="0" rIns="0" bIns="0" rtlCol="0" anchor="ctr"/>
          <a:lstStyle/>
          <a:p>
            <a:pPr indent="0" marL="0">
              <a:buNone/>
            </a:pPr>
            <a:r>
              <a:rPr lang="en-US" sz="1300" b="1" dirty="0">
                <a:solidFill>
                  <a:srgbClr val="0EA5E9"/>
                </a:solidFill>
                <a:latin typeface="Arial" pitchFamily="34" charset="0"/>
                <a:ea typeface="Arial" pitchFamily="34" charset="-122"/>
                <a:cs typeface="Arial" pitchFamily="34" charset="-120"/>
              </a:rPr>
              <a:t>Guide Enseignant</a:t>
            </a:r>
            <a:endParaRPr lang="en-US" sz="1300" dirty="0"/>
          </a:p>
        </p:txBody>
      </p:sp>
      <p:sp>
        <p:nvSpPr>
          <p:cNvPr id="24" name="Text 22"/>
          <p:cNvSpPr/>
          <p:nvPr/>
        </p:nvSpPr>
        <p:spPr>
          <a:xfrm>
            <a:off x="6236208" y="1691640"/>
            <a:ext cx="2542032" cy="59436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Consulter ses cours, déclarer une modification, notifier</a:t>
            </a:r>
            <a:endParaRPr lang="en-US" sz="1050" dirty="0"/>
          </a:p>
        </p:txBody>
      </p:sp>
      <p:sp>
        <p:nvSpPr>
          <p:cNvPr id="25" name="Shape 23"/>
          <p:cNvSpPr/>
          <p:nvPr/>
        </p:nvSpPr>
        <p:spPr>
          <a:xfrm>
            <a:off x="6236208" y="2377440"/>
            <a:ext cx="1225296" cy="274320"/>
          </a:xfrm>
          <a:prstGeom prst="roundRect">
            <a:avLst>
              <a:gd name="adj" fmla="val 20000"/>
            </a:avLst>
          </a:prstGeom>
          <a:solidFill>
            <a:srgbClr val="0EA5E9">
              <a:alpha val="20000"/>
            </a:srgbClr>
          </a:solidFill>
          <a:ln w="12700">
            <a:solidFill>
              <a:srgbClr val="0EA5E9"/>
            </a:solidFill>
            <a:prstDash val="solid"/>
          </a:ln>
        </p:spPr>
      </p:sp>
      <p:sp>
        <p:nvSpPr>
          <p:cNvPr id="26" name="Text 24"/>
          <p:cNvSpPr/>
          <p:nvPr/>
        </p:nvSpPr>
        <p:spPr>
          <a:xfrm>
            <a:off x="6236208" y="2377440"/>
            <a:ext cx="1225296" cy="274320"/>
          </a:xfrm>
          <a:prstGeom prst="rect">
            <a:avLst/>
          </a:prstGeom>
          <a:noFill/>
          <a:ln/>
        </p:spPr>
        <p:txBody>
          <a:bodyPr wrap="square" lIns="0" tIns="0" rIns="0" bIns="0"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 Enseignant</a:t>
            </a:r>
            <a:endParaRPr lang="en-US" sz="850" dirty="0"/>
          </a:p>
        </p:txBody>
      </p:sp>
      <p:sp>
        <p:nvSpPr>
          <p:cNvPr id="27" name="Shape 25"/>
          <p:cNvSpPr/>
          <p:nvPr/>
        </p:nvSpPr>
        <p:spPr>
          <a:xfrm>
            <a:off x="274320" y="3017520"/>
            <a:ext cx="2743200" cy="1719072"/>
          </a:xfrm>
          <a:prstGeom prst="roundRect">
            <a:avLst>
              <a:gd name="adj" fmla="val 7447"/>
            </a:avLst>
          </a:prstGeom>
          <a:solidFill>
            <a:srgbClr val="EDE9FE"/>
          </a:solidFill>
          <a:ln w="19050">
            <a:solidFill>
              <a:srgbClr val="4C1D95"/>
            </a:solidFill>
            <a:prstDash val="solid"/>
          </a:ln>
          <a:effectLst>
            <a:outerShdw sx="100000" sy="100000" kx="0" ky="0" algn="bl" rotWithShape="0" blurRad="88900" dist="25400" dir="2700000">
              <a:srgbClr val="000000">
                <a:alpha val="13000"/>
              </a:srgbClr>
            </a:outerShdw>
          </a:effectLst>
        </p:spPr>
      </p:sp>
      <p:sp>
        <p:nvSpPr>
          <p:cNvPr id="28" name="Shape 26"/>
          <p:cNvSpPr/>
          <p:nvPr/>
        </p:nvSpPr>
        <p:spPr>
          <a:xfrm>
            <a:off x="384048" y="3127248"/>
            <a:ext cx="457200" cy="457200"/>
          </a:xfrm>
          <a:prstGeom prst="ellipse">
            <a:avLst/>
          </a:prstGeom>
          <a:solidFill>
            <a:srgbClr val="4C1D95"/>
          </a:solidFill>
          <a:ln w="12700">
            <a:solidFill>
              <a:srgbClr val="4C1D95"/>
            </a:solidFill>
            <a:prstDash val="solid"/>
          </a:ln>
        </p:spPr>
      </p:sp>
      <p:sp>
        <p:nvSpPr>
          <p:cNvPr id="29" name="Text 27"/>
          <p:cNvSpPr/>
          <p:nvPr/>
        </p:nvSpPr>
        <p:spPr>
          <a:xfrm>
            <a:off x="384048" y="3127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0" name="Text 28"/>
          <p:cNvSpPr/>
          <p:nvPr/>
        </p:nvSpPr>
        <p:spPr>
          <a:xfrm>
            <a:off x="932688" y="3154680"/>
            <a:ext cx="1993392" cy="384048"/>
          </a:xfrm>
          <a:prstGeom prst="rect">
            <a:avLst/>
          </a:prstGeom>
          <a:noFill/>
          <a:ln/>
        </p:spPr>
        <p:txBody>
          <a:bodyPr wrap="square" lIns="0" tIns="0" rIns="0" bIns="0" rtlCol="0" anchor="ctr"/>
          <a:lstStyle/>
          <a:p>
            <a:pPr indent="0" marL="0">
              <a:buNone/>
            </a:pPr>
            <a:r>
              <a:rPr lang="en-US" sz="1300" b="1" dirty="0">
                <a:solidFill>
                  <a:srgbClr val="4C1D95"/>
                </a:solidFill>
                <a:latin typeface="Arial" pitchFamily="34" charset="0"/>
                <a:ea typeface="Arial" pitchFamily="34" charset="-122"/>
                <a:cs typeface="Arial" pitchFamily="34" charset="-120"/>
              </a:rPr>
              <a:t>Guide Chef de Programme</a:t>
            </a:r>
            <a:endParaRPr lang="en-US" sz="1300" dirty="0"/>
          </a:p>
        </p:txBody>
      </p:sp>
      <p:sp>
        <p:nvSpPr>
          <p:cNvPr id="31" name="Text 29"/>
          <p:cNvSpPr/>
          <p:nvPr/>
        </p:nvSpPr>
        <p:spPr>
          <a:xfrm>
            <a:off x="384048" y="3611880"/>
            <a:ext cx="2542032" cy="59436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Annonces, matières, enseignants, planification EDT</a:t>
            </a:r>
            <a:endParaRPr lang="en-US" sz="1050" dirty="0"/>
          </a:p>
        </p:txBody>
      </p:sp>
      <p:sp>
        <p:nvSpPr>
          <p:cNvPr id="32" name="Shape 30"/>
          <p:cNvSpPr/>
          <p:nvPr/>
        </p:nvSpPr>
        <p:spPr>
          <a:xfrm>
            <a:off x="384048" y="4297680"/>
            <a:ext cx="1225296" cy="274320"/>
          </a:xfrm>
          <a:prstGeom prst="roundRect">
            <a:avLst>
              <a:gd name="adj" fmla="val 20000"/>
            </a:avLst>
          </a:prstGeom>
          <a:solidFill>
            <a:srgbClr val="4C1D95">
              <a:alpha val="20000"/>
            </a:srgbClr>
          </a:solidFill>
          <a:ln w="12700">
            <a:solidFill>
              <a:srgbClr val="4C1D95"/>
            </a:solidFill>
            <a:prstDash val="solid"/>
          </a:ln>
        </p:spPr>
      </p:sp>
      <p:sp>
        <p:nvSpPr>
          <p:cNvPr id="33" name="Text 31"/>
          <p:cNvSpPr/>
          <p:nvPr/>
        </p:nvSpPr>
        <p:spPr>
          <a:xfrm>
            <a:off x="384048" y="4297680"/>
            <a:ext cx="1225296" cy="274320"/>
          </a:xfrm>
          <a:prstGeom prst="rect">
            <a:avLst/>
          </a:prstGeom>
          <a:noFill/>
          <a:ln/>
        </p:spPr>
        <p:txBody>
          <a:bodyPr wrap="square" lIns="0" tIns="0" rIns="0" bIns="0" rtlCol="0" anchor="ctr"/>
          <a:lstStyle/>
          <a:p>
            <a:pPr algn="ctr" indent="0" marL="0">
              <a:buNone/>
            </a:pPr>
            <a:r>
              <a:rPr lang="en-US" sz="850" b="1" dirty="0">
                <a:solidFill>
                  <a:srgbClr val="4C1D95"/>
                </a:solidFill>
                <a:latin typeface="Arial" pitchFamily="34" charset="0"/>
                <a:ea typeface="Arial" pitchFamily="34" charset="-122"/>
                <a:cs typeface="Arial" pitchFamily="34" charset="-120"/>
              </a:rPr>
              <a:t>🎓 Chef</a:t>
            </a:r>
            <a:endParaRPr lang="en-US" sz="850" dirty="0"/>
          </a:p>
        </p:txBody>
      </p:sp>
      <p:sp>
        <p:nvSpPr>
          <p:cNvPr id="34" name="Shape 32"/>
          <p:cNvSpPr/>
          <p:nvPr/>
        </p:nvSpPr>
        <p:spPr>
          <a:xfrm>
            <a:off x="3200400" y="3017520"/>
            <a:ext cx="2743200" cy="1719072"/>
          </a:xfrm>
          <a:prstGeom prst="roundRect">
            <a:avLst>
              <a:gd name="adj" fmla="val 7447"/>
            </a:avLst>
          </a:prstGeom>
          <a:solidFill>
            <a:srgbClr val="FEF3C7"/>
          </a:solidFill>
          <a:ln w="19050">
            <a:solidFill>
              <a:srgbClr val="F59E0B"/>
            </a:solidFill>
            <a:prstDash val="solid"/>
          </a:ln>
          <a:effectLst>
            <a:outerShdw sx="100000" sy="100000" kx="0" ky="0" algn="bl" rotWithShape="0" blurRad="88900" dist="25400" dir="2700000">
              <a:srgbClr val="000000">
                <a:alpha val="13000"/>
              </a:srgbClr>
            </a:outerShdw>
          </a:effectLst>
        </p:spPr>
      </p:sp>
      <p:sp>
        <p:nvSpPr>
          <p:cNvPr id="35" name="Shape 33"/>
          <p:cNvSpPr/>
          <p:nvPr/>
        </p:nvSpPr>
        <p:spPr>
          <a:xfrm>
            <a:off x="3310128" y="3127248"/>
            <a:ext cx="457200" cy="457200"/>
          </a:xfrm>
          <a:prstGeom prst="ellipse">
            <a:avLst/>
          </a:prstGeom>
          <a:solidFill>
            <a:srgbClr val="F59E0B"/>
          </a:solidFill>
          <a:ln w="12700">
            <a:solidFill>
              <a:srgbClr val="F59E0B"/>
            </a:solidFill>
            <a:prstDash val="solid"/>
          </a:ln>
        </p:spPr>
      </p:sp>
      <p:sp>
        <p:nvSpPr>
          <p:cNvPr id="36" name="Text 34"/>
          <p:cNvSpPr/>
          <p:nvPr/>
        </p:nvSpPr>
        <p:spPr>
          <a:xfrm>
            <a:off x="3310128" y="3127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7" name="Text 35"/>
          <p:cNvSpPr/>
          <p:nvPr/>
        </p:nvSpPr>
        <p:spPr>
          <a:xfrm>
            <a:off x="3858768" y="3154680"/>
            <a:ext cx="1993392" cy="384048"/>
          </a:xfrm>
          <a:prstGeom prst="rect">
            <a:avLst/>
          </a:prstGeom>
          <a:noFill/>
          <a:ln/>
        </p:spPr>
        <p:txBody>
          <a:bodyPr wrap="square" lIns="0" tIns="0" rIns="0" bIns="0" rtlCol="0" anchor="ctr"/>
          <a:lstStyle/>
          <a:p>
            <a:pPr indent="0" marL="0">
              <a:buNone/>
            </a:pPr>
            <a:r>
              <a:rPr lang="en-US" sz="1300" b="1" dirty="0">
                <a:solidFill>
                  <a:srgbClr val="F59E0B"/>
                </a:solidFill>
                <a:latin typeface="Arial" pitchFamily="34" charset="0"/>
                <a:ea typeface="Arial" pitchFamily="34" charset="-122"/>
                <a:cs typeface="Arial" pitchFamily="34" charset="-120"/>
              </a:rPr>
              <a:t>Chatbot en détail</a:t>
            </a:r>
            <a:endParaRPr lang="en-US" sz="1300" dirty="0"/>
          </a:p>
        </p:txBody>
      </p:sp>
      <p:sp>
        <p:nvSpPr>
          <p:cNvPr id="38" name="Text 36"/>
          <p:cNvSpPr/>
          <p:nvPr/>
        </p:nvSpPr>
        <p:spPr>
          <a:xfrm>
            <a:off x="3310128" y="3611880"/>
            <a:ext cx="2542032" cy="59436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Mode guidé, mode texte, mots-clés, suggestions</a:t>
            </a:r>
            <a:endParaRPr lang="en-US" sz="1050" dirty="0"/>
          </a:p>
        </p:txBody>
      </p:sp>
      <p:sp>
        <p:nvSpPr>
          <p:cNvPr id="39" name="Shape 37"/>
          <p:cNvSpPr/>
          <p:nvPr/>
        </p:nvSpPr>
        <p:spPr>
          <a:xfrm>
            <a:off x="3310128" y="4297680"/>
            <a:ext cx="1225296" cy="274320"/>
          </a:xfrm>
          <a:prstGeom prst="roundRect">
            <a:avLst>
              <a:gd name="adj" fmla="val 20000"/>
            </a:avLst>
          </a:prstGeom>
          <a:solidFill>
            <a:srgbClr val="F59E0B">
              <a:alpha val="20000"/>
            </a:srgbClr>
          </a:solidFill>
          <a:ln w="12700">
            <a:solidFill>
              <a:srgbClr val="F59E0B"/>
            </a:solidFill>
            <a:prstDash val="solid"/>
          </a:ln>
        </p:spPr>
      </p:sp>
      <p:sp>
        <p:nvSpPr>
          <p:cNvPr id="40" name="Text 38"/>
          <p:cNvSpPr/>
          <p:nvPr/>
        </p:nvSpPr>
        <p:spPr>
          <a:xfrm>
            <a:off x="3310128" y="4297680"/>
            <a:ext cx="1225296" cy="274320"/>
          </a:xfrm>
          <a:prstGeom prst="rect">
            <a:avLst/>
          </a:prstGeom>
          <a:noFill/>
          <a:ln/>
        </p:spPr>
        <p:txBody>
          <a:bodyPr wrap="square" lIns="0" tIns="0" rIns="0" bIns="0"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 Étudiant</a:t>
            </a:r>
            <a:endParaRPr lang="en-US" sz="850" dirty="0"/>
          </a:p>
        </p:txBody>
      </p:sp>
      <p:sp>
        <p:nvSpPr>
          <p:cNvPr id="41" name="Shape 39"/>
          <p:cNvSpPr/>
          <p:nvPr/>
        </p:nvSpPr>
        <p:spPr>
          <a:xfrm>
            <a:off x="4608576" y="4297680"/>
            <a:ext cx="1225296" cy="274320"/>
          </a:xfrm>
          <a:prstGeom prst="roundRect">
            <a:avLst>
              <a:gd name="adj" fmla="val 20000"/>
            </a:avLst>
          </a:prstGeom>
          <a:solidFill>
            <a:srgbClr val="F59E0B">
              <a:alpha val="20000"/>
            </a:srgbClr>
          </a:solidFill>
          <a:ln w="12700">
            <a:solidFill>
              <a:srgbClr val="F59E0B"/>
            </a:solidFill>
            <a:prstDash val="solid"/>
          </a:ln>
        </p:spPr>
      </p:sp>
      <p:sp>
        <p:nvSpPr>
          <p:cNvPr id="42" name="Text 40"/>
          <p:cNvSpPr/>
          <p:nvPr/>
        </p:nvSpPr>
        <p:spPr>
          <a:xfrm>
            <a:off x="4608576" y="4297680"/>
            <a:ext cx="1225296" cy="274320"/>
          </a:xfrm>
          <a:prstGeom prst="rect">
            <a:avLst/>
          </a:prstGeom>
          <a:noFill/>
          <a:ln/>
        </p:spPr>
        <p:txBody>
          <a:bodyPr wrap="square" lIns="0" tIns="0" rIns="0" bIns="0"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 Enseignant</a:t>
            </a:r>
            <a:endParaRPr lang="en-US" sz="850" dirty="0"/>
          </a:p>
        </p:txBody>
      </p:sp>
      <p:sp>
        <p:nvSpPr>
          <p:cNvPr id="43" name="Shape 41"/>
          <p:cNvSpPr/>
          <p:nvPr/>
        </p:nvSpPr>
        <p:spPr>
          <a:xfrm>
            <a:off x="6126480" y="3017520"/>
            <a:ext cx="2743200" cy="1719072"/>
          </a:xfrm>
          <a:prstGeom prst="roundRect">
            <a:avLst>
              <a:gd name="adj" fmla="val 7447"/>
            </a:avLst>
          </a:prstGeom>
          <a:solidFill>
            <a:srgbClr val="FEE2E2"/>
          </a:solidFill>
          <a:ln w="19050">
            <a:solidFill>
              <a:srgbClr val="EF4444"/>
            </a:solidFill>
            <a:prstDash val="solid"/>
          </a:ln>
          <a:effectLst>
            <a:outerShdw sx="100000" sy="100000" kx="0" ky="0" algn="bl" rotWithShape="0" blurRad="88900" dist="25400" dir="2700000">
              <a:srgbClr val="000000">
                <a:alpha val="13000"/>
              </a:srgbClr>
            </a:outerShdw>
          </a:effectLst>
        </p:spPr>
      </p:sp>
      <p:sp>
        <p:nvSpPr>
          <p:cNvPr id="44" name="Shape 42"/>
          <p:cNvSpPr/>
          <p:nvPr/>
        </p:nvSpPr>
        <p:spPr>
          <a:xfrm>
            <a:off x="6236208" y="3127248"/>
            <a:ext cx="457200" cy="457200"/>
          </a:xfrm>
          <a:prstGeom prst="ellipse">
            <a:avLst/>
          </a:prstGeom>
          <a:solidFill>
            <a:srgbClr val="EF4444"/>
          </a:solidFill>
          <a:ln w="12700">
            <a:solidFill>
              <a:srgbClr val="EF4444"/>
            </a:solidFill>
            <a:prstDash val="solid"/>
          </a:ln>
        </p:spPr>
      </p:sp>
      <p:sp>
        <p:nvSpPr>
          <p:cNvPr id="45" name="Text 43"/>
          <p:cNvSpPr/>
          <p:nvPr/>
        </p:nvSpPr>
        <p:spPr>
          <a:xfrm>
            <a:off x="6236208" y="3127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46" name="Text 44"/>
          <p:cNvSpPr/>
          <p:nvPr/>
        </p:nvSpPr>
        <p:spPr>
          <a:xfrm>
            <a:off x="6784848" y="3154680"/>
            <a:ext cx="1993392" cy="384048"/>
          </a:xfrm>
          <a:prstGeom prst="rect">
            <a:avLst/>
          </a:prstGeom>
          <a:noFill/>
          <a:ln/>
        </p:spPr>
        <p:txBody>
          <a:bodyPr wrap="square" lIns="0" tIns="0" rIns="0" bIns="0" rtlCol="0" anchor="ctr"/>
          <a:lstStyle/>
          <a:p>
            <a:pPr indent="0" marL="0">
              <a:buNone/>
            </a:pPr>
            <a:r>
              <a:rPr lang="en-US" sz="1300" b="1" dirty="0">
                <a:solidFill>
                  <a:srgbClr val="EF4444"/>
                </a:solidFill>
                <a:latin typeface="Arial" pitchFamily="34" charset="0"/>
                <a:ea typeface="Arial" pitchFamily="34" charset="-122"/>
                <a:cs typeface="Arial" pitchFamily="34" charset="-120"/>
              </a:rPr>
              <a:t>Export PDF</a:t>
            </a:r>
            <a:endParaRPr lang="en-US" sz="1300" dirty="0"/>
          </a:p>
        </p:txBody>
      </p:sp>
      <p:sp>
        <p:nvSpPr>
          <p:cNvPr id="47" name="Text 45"/>
          <p:cNvSpPr/>
          <p:nvPr/>
        </p:nvSpPr>
        <p:spPr>
          <a:xfrm>
            <a:off x="6236208" y="3611880"/>
            <a:ext cx="2542032" cy="59436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Générer et télécharger son planning en PDF</a:t>
            </a:r>
            <a:endParaRPr lang="en-US" sz="1050" dirty="0"/>
          </a:p>
        </p:txBody>
      </p:sp>
      <p:sp>
        <p:nvSpPr>
          <p:cNvPr id="48" name="Shape 46"/>
          <p:cNvSpPr/>
          <p:nvPr/>
        </p:nvSpPr>
        <p:spPr>
          <a:xfrm>
            <a:off x="6236208" y="4297680"/>
            <a:ext cx="1225296" cy="274320"/>
          </a:xfrm>
          <a:prstGeom prst="roundRect">
            <a:avLst>
              <a:gd name="adj" fmla="val 20000"/>
            </a:avLst>
          </a:prstGeom>
          <a:solidFill>
            <a:srgbClr val="EF4444">
              <a:alpha val="20000"/>
            </a:srgbClr>
          </a:solidFill>
          <a:ln w="12700">
            <a:solidFill>
              <a:srgbClr val="EF4444"/>
            </a:solidFill>
            <a:prstDash val="solid"/>
          </a:ln>
        </p:spPr>
      </p:sp>
      <p:sp>
        <p:nvSpPr>
          <p:cNvPr id="49" name="Text 47"/>
          <p:cNvSpPr/>
          <p:nvPr/>
        </p:nvSpPr>
        <p:spPr>
          <a:xfrm>
            <a:off x="6236208" y="4297680"/>
            <a:ext cx="1225296" cy="274320"/>
          </a:xfrm>
          <a:prstGeom prst="rect">
            <a:avLst/>
          </a:prstGeom>
          <a:noFill/>
          <a:ln/>
        </p:spPr>
        <p:txBody>
          <a:bodyPr wrap="square" lIns="0" tIns="0" rIns="0" bIns="0" rtlCol="0" anchor="ctr"/>
          <a:lstStyle/>
          <a:p>
            <a:pPr algn="ctr" indent="0" marL="0">
              <a:buNone/>
            </a:pPr>
            <a:r>
              <a:rPr lang="en-US" sz="850" b="1" dirty="0">
                <a:solidFill>
                  <a:srgbClr val="EF4444"/>
                </a:solidFill>
                <a:latin typeface="Arial" pitchFamily="34" charset="0"/>
                <a:ea typeface="Arial" pitchFamily="34" charset="-122"/>
                <a:cs typeface="Arial" pitchFamily="34" charset="-120"/>
              </a:rPr>
              <a:t>Tous les rôles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SECTION 1 — PROCÉDURE COMMUNE</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Inscription, Connexion &amp; Gestion du Profil</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Tous les rôles</a:t>
            </a:r>
            <a:endParaRPr lang="en-US" sz="1100" dirty="0"/>
          </a:p>
        </p:txBody>
      </p:sp>
      <p:sp>
        <p:nvSpPr>
          <p:cNvPr id="6" name="Text 4"/>
          <p:cNvSpPr/>
          <p:nvPr/>
        </p:nvSpPr>
        <p:spPr>
          <a:xfrm>
            <a:off x="274320" y="1051560"/>
            <a:ext cx="8595360" cy="320040"/>
          </a:xfrm>
          <a:prstGeom prst="rect">
            <a:avLst/>
          </a:prstGeom>
          <a:noFill/>
          <a:ln/>
        </p:spPr>
        <p:txBody>
          <a:bodyPr wrap="square" lIns="0" tIns="0" rIns="0" bIns="0" rtlCol="0" anchor="ctr"/>
          <a:lstStyle/>
          <a:p>
            <a:pPr indent="0" marL="0">
              <a:buNone/>
            </a:pPr>
            <a:r>
              <a:rPr lang="en-US" sz="1400" b="1" dirty="0">
                <a:solidFill>
                  <a:srgbClr val="0D1B2A"/>
                </a:solidFill>
                <a:latin typeface="Arial" pitchFamily="34" charset="0"/>
                <a:ea typeface="Arial" pitchFamily="34" charset="-122"/>
                <a:cs typeface="Arial" pitchFamily="34" charset="-120"/>
              </a:rPr>
              <a:t>1.1  Inscription — Créer son compte</a:t>
            </a:r>
            <a:endParaRPr lang="en-US" sz="1400" dirty="0"/>
          </a:p>
        </p:txBody>
      </p:sp>
      <p:sp>
        <p:nvSpPr>
          <p:cNvPr id="7" name="Shape 5"/>
          <p:cNvSpPr/>
          <p:nvPr/>
        </p:nvSpPr>
        <p:spPr>
          <a:xfrm>
            <a:off x="256032" y="1444752"/>
            <a:ext cx="2057400" cy="1143000"/>
          </a:xfrm>
          <a:prstGeom prst="roundRect">
            <a:avLst>
              <a:gd name="adj" fmla="val 8000"/>
            </a:avLst>
          </a:prstGeom>
          <a:solidFill>
            <a:srgbClr val="DBEAFE"/>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8" name="Shape 6"/>
          <p:cNvSpPr/>
          <p:nvPr/>
        </p:nvSpPr>
        <p:spPr>
          <a:xfrm>
            <a:off x="347472" y="1554480"/>
            <a:ext cx="402336" cy="402336"/>
          </a:xfrm>
          <a:prstGeom prst="ellipse">
            <a:avLst/>
          </a:prstGeom>
          <a:solidFill>
            <a:srgbClr val="1B4FD8"/>
          </a:solidFill>
          <a:ln w="12700">
            <a:solidFill>
              <a:srgbClr val="1B4FD8"/>
            </a:solidFill>
            <a:prstDash val="solid"/>
          </a:ln>
        </p:spPr>
      </p:sp>
      <p:sp>
        <p:nvSpPr>
          <p:cNvPr id="9" name="Text 7"/>
          <p:cNvSpPr/>
          <p:nvPr/>
        </p:nvSpPr>
        <p:spPr>
          <a:xfrm>
            <a:off x="347472" y="15544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822960" y="1572768"/>
            <a:ext cx="1399032" cy="320040"/>
          </a:xfrm>
          <a:prstGeom prst="rect">
            <a:avLst/>
          </a:prstGeom>
          <a:noFill/>
          <a:ln/>
        </p:spPr>
        <p:txBody>
          <a:bodyPr wrap="square" lIns="0" tIns="0" rIns="0" bIns="0" rtlCol="0" anchor="ctr"/>
          <a:lstStyle/>
          <a:p>
            <a:pPr indent="0" marL="0">
              <a:buNone/>
            </a:pPr>
            <a:r>
              <a:rPr lang="en-US" sz="1200" b="1" dirty="0">
                <a:solidFill>
                  <a:srgbClr val="1B4FD8"/>
                </a:solidFill>
                <a:latin typeface="Arial" pitchFamily="34" charset="0"/>
                <a:ea typeface="Arial" pitchFamily="34" charset="-122"/>
                <a:cs typeface="Arial" pitchFamily="34" charset="-120"/>
              </a:rPr>
              <a:t>Accéder à /register</a:t>
            </a:r>
            <a:endParaRPr lang="en-US" sz="1200" dirty="0"/>
          </a:p>
        </p:txBody>
      </p:sp>
      <p:sp>
        <p:nvSpPr>
          <p:cNvPr id="11" name="Text 9"/>
          <p:cNvSpPr/>
          <p:nvPr/>
        </p:nvSpPr>
        <p:spPr>
          <a:xfrm>
            <a:off x="365760" y="1947672"/>
            <a:ext cx="1837944" cy="566928"/>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Depuis /login cliquer sur 'Créer un compte'</a:t>
            </a:r>
            <a:endParaRPr lang="en-US" sz="1000" dirty="0"/>
          </a:p>
        </p:txBody>
      </p:sp>
      <p:sp>
        <p:nvSpPr>
          <p:cNvPr id="12" name="Shape 10"/>
          <p:cNvSpPr/>
          <p:nvPr/>
        </p:nvSpPr>
        <p:spPr>
          <a:xfrm>
            <a:off x="2468880" y="1444752"/>
            <a:ext cx="2057400" cy="1143000"/>
          </a:xfrm>
          <a:prstGeom prst="roundRect">
            <a:avLst>
              <a:gd name="adj" fmla="val 8000"/>
            </a:avLst>
          </a:prstGeom>
          <a:solidFill>
            <a:srgbClr val="DBEAFE"/>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13" name="Shape 11"/>
          <p:cNvSpPr/>
          <p:nvPr/>
        </p:nvSpPr>
        <p:spPr>
          <a:xfrm>
            <a:off x="2560320" y="1554480"/>
            <a:ext cx="402336" cy="402336"/>
          </a:xfrm>
          <a:prstGeom prst="ellipse">
            <a:avLst/>
          </a:prstGeom>
          <a:solidFill>
            <a:srgbClr val="1B4FD8"/>
          </a:solidFill>
          <a:ln w="12700">
            <a:solidFill>
              <a:srgbClr val="1B4FD8"/>
            </a:solidFill>
            <a:prstDash val="solid"/>
          </a:ln>
        </p:spPr>
      </p:sp>
      <p:sp>
        <p:nvSpPr>
          <p:cNvPr id="14" name="Text 12"/>
          <p:cNvSpPr/>
          <p:nvPr/>
        </p:nvSpPr>
        <p:spPr>
          <a:xfrm>
            <a:off x="2560320" y="15544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3035808" y="1572768"/>
            <a:ext cx="1399032" cy="320040"/>
          </a:xfrm>
          <a:prstGeom prst="rect">
            <a:avLst/>
          </a:prstGeom>
          <a:noFill/>
          <a:ln/>
        </p:spPr>
        <p:txBody>
          <a:bodyPr wrap="square" lIns="0" tIns="0" rIns="0" bIns="0" rtlCol="0" anchor="ctr"/>
          <a:lstStyle/>
          <a:p>
            <a:pPr indent="0" marL="0">
              <a:buNone/>
            </a:pPr>
            <a:r>
              <a:rPr lang="en-US" sz="1200" b="1" dirty="0">
                <a:solidFill>
                  <a:srgbClr val="1B4FD8"/>
                </a:solidFill>
                <a:latin typeface="Arial" pitchFamily="34" charset="0"/>
                <a:ea typeface="Arial" pitchFamily="34" charset="-122"/>
                <a:cs typeface="Arial" pitchFamily="34" charset="-120"/>
              </a:rPr>
              <a:t>Remplir le formulaire</a:t>
            </a:r>
            <a:endParaRPr lang="en-US" sz="1200" dirty="0"/>
          </a:p>
        </p:txBody>
      </p:sp>
      <p:sp>
        <p:nvSpPr>
          <p:cNvPr id="16" name="Text 14"/>
          <p:cNvSpPr/>
          <p:nvPr/>
        </p:nvSpPr>
        <p:spPr>
          <a:xfrm>
            <a:off x="2578608" y="1947672"/>
            <a:ext cx="1837944" cy="566928"/>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Nom, e-mail, mot de passe (6 car. min + confirmation)</a:t>
            </a:r>
            <a:endParaRPr lang="en-US" sz="1000" dirty="0"/>
          </a:p>
        </p:txBody>
      </p:sp>
      <p:sp>
        <p:nvSpPr>
          <p:cNvPr id="17" name="Shape 15"/>
          <p:cNvSpPr/>
          <p:nvPr/>
        </p:nvSpPr>
        <p:spPr>
          <a:xfrm>
            <a:off x="4681728" y="1444752"/>
            <a:ext cx="2057400" cy="1143000"/>
          </a:xfrm>
          <a:prstGeom prst="roundRect">
            <a:avLst>
              <a:gd name="adj" fmla="val 8000"/>
            </a:avLst>
          </a:prstGeom>
          <a:solidFill>
            <a:srgbClr val="DBEAFE"/>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18" name="Shape 16"/>
          <p:cNvSpPr/>
          <p:nvPr/>
        </p:nvSpPr>
        <p:spPr>
          <a:xfrm>
            <a:off x="4773168" y="1554480"/>
            <a:ext cx="402336" cy="402336"/>
          </a:xfrm>
          <a:prstGeom prst="ellipse">
            <a:avLst/>
          </a:prstGeom>
          <a:solidFill>
            <a:srgbClr val="1B4FD8"/>
          </a:solidFill>
          <a:ln w="12700">
            <a:solidFill>
              <a:srgbClr val="1B4FD8"/>
            </a:solidFill>
            <a:prstDash val="solid"/>
          </a:ln>
        </p:spPr>
      </p:sp>
      <p:sp>
        <p:nvSpPr>
          <p:cNvPr id="19" name="Text 17"/>
          <p:cNvSpPr/>
          <p:nvPr/>
        </p:nvSpPr>
        <p:spPr>
          <a:xfrm>
            <a:off x="4773168" y="15544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0" name="Text 18"/>
          <p:cNvSpPr/>
          <p:nvPr/>
        </p:nvSpPr>
        <p:spPr>
          <a:xfrm>
            <a:off x="5248656" y="1572768"/>
            <a:ext cx="1399032" cy="320040"/>
          </a:xfrm>
          <a:prstGeom prst="rect">
            <a:avLst/>
          </a:prstGeom>
          <a:noFill/>
          <a:ln/>
        </p:spPr>
        <p:txBody>
          <a:bodyPr wrap="square" lIns="0" tIns="0" rIns="0" bIns="0" rtlCol="0" anchor="ctr"/>
          <a:lstStyle/>
          <a:p>
            <a:pPr indent="0" marL="0">
              <a:buNone/>
            </a:pPr>
            <a:r>
              <a:rPr lang="en-US" sz="1200" b="1" dirty="0">
                <a:solidFill>
                  <a:srgbClr val="1B4FD8"/>
                </a:solidFill>
                <a:latin typeface="Arial" pitchFamily="34" charset="0"/>
                <a:ea typeface="Arial" pitchFamily="34" charset="-122"/>
                <a:cs typeface="Arial" pitchFamily="34" charset="-120"/>
              </a:rPr>
              <a:t>Choisir son rôle</a:t>
            </a:r>
            <a:endParaRPr lang="en-US" sz="1200" dirty="0"/>
          </a:p>
        </p:txBody>
      </p:sp>
      <p:sp>
        <p:nvSpPr>
          <p:cNvPr id="21" name="Text 19"/>
          <p:cNvSpPr/>
          <p:nvPr/>
        </p:nvSpPr>
        <p:spPr>
          <a:xfrm>
            <a:off x="4791456" y="1947672"/>
            <a:ext cx="1837944" cy="566928"/>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Étudiant → filière + niveau</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Enseignant → départements</a:t>
            </a:r>
            <a:endParaRPr lang="en-US" sz="1000" dirty="0"/>
          </a:p>
        </p:txBody>
      </p:sp>
      <p:sp>
        <p:nvSpPr>
          <p:cNvPr id="22" name="Shape 20"/>
          <p:cNvSpPr/>
          <p:nvPr/>
        </p:nvSpPr>
        <p:spPr>
          <a:xfrm>
            <a:off x="6894576" y="1444752"/>
            <a:ext cx="2057400" cy="1143000"/>
          </a:xfrm>
          <a:prstGeom prst="roundRect">
            <a:avLst>
              <a:gd name="adj" fmla="val 8000"/>
            </a:avLst>
          </a:prstGeom>
          <a:solidFill>
            <a:srgbClr val="DBEAFE"/>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23" name="Shape 21"/>
          <p:cNvSpPr/>
          <p:nvPr/>
        </p:nvSpPr>
        <p:spPr>
          <a:xfrm>
            <a:off x="6986016" y="1554480"/>
            <a:ext cx="402336" cy="402336"/>
          </a:xfrm>
          <a:prstGeom prst="ellipse">
            <a:avLst/>
          </a:prstGeom>
          <a:solidFill>
            <a:srgbClr val="1B4FD8"/>
          </a:solidFill>
          <a:ln w="12700">
            <a:solidFill>
              <a:srgbClr val="1B4FD8"/>
            </a:solidFill>
            <a:prstDash val="solid"/>
          </a:ln>
        </p:spPr>
      </p:sp>
      <p:sp>
        <p:nvSpPr>
          <p:cNvPr id="24" name="Text 22"/>
          <p:cNvSpPr/>
          <p:nvPr/>
        </p:nvSpPr>
        <p:spPr>
          <a:xfrm>
            <a:off x="6986016" y="15544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5" name="Text 23"/>
          <p:cNvSpPr/>
          <p:nvPr/>
        </p:nvSpPr>
        <p:spPr>
          <a:xfrm>
            <a:off x="7461504" y="1572768"/>
            <a:ext cx="1399032" cy="320040"/>
          </a:xfrm>
          <a:prstGeom prst="rect">
            <a:avLst/>
          </a:prstGeom>
          <a:noFill/>
          <a:ln/>
        </p:spPr>
        <p:txBody>
          <a:bodyPr wrap="square" lIns="0" tIns="0" rIns="0" bIns="0" rtlCol="0" anchor="ctr"/>
          <a:lstStyle/>
          <a:p>
            <a:pPr indent="0" marL="0">
              <a:buNone/>
            </a:pPr>
            <a:r>
              <a:rPr lang="en-US" sz="1200" b="1" dirty="0">
                <a:solidFill>
                  <a:srgbClr val="1B4FD8"/>
                </a:solidFill>
                <a:latin typeface="Arial" pitchFamily="34" charset="0"/>
                <a:ea typeface="Arial" pitchFamily="34" charset="-122"/>
                <a:cs typeface="Arial" pitchFamily="34" charset="-120"/>
              </a:rPr>
              <a:t>Cliquer S'inscrire</a:t>
            </a:r>
            <a:endParaRPr lang="en-US" sz="1200" dirty="0"/>
          </a:p>
        </p:txBody>
      </p:sp>
      <p:sp>
        <p:nvSpPr>
          <p:cNvPr id="26" name="Text 24"/>
          <p:cNvSpPr/>
          <p:nvPr/>
        </p:nvSpPr>
        <p:spPr>
          <a:xfrm>
            <a:off x="7004304" y="1947672"/>
            <a:ext cx="1837944" cy="566928"/>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Redirection automatique vers le dashboard</a:t>
            </a:r>
            <a:endParaRPr lang="en-US" sz="1000" dirty="0"/>
          </a:p>
        </p:txBody>
      </p:sp>
      <p:sp>
        <p:nvSpPr>
          <p:cNvPr id="27" name="Text 25"/>
          <p:cNvSpPr/>
          <p:nvPr/>
        </p:nvSpPr>
        <p:spPr>
          <a:xfrm>
            <a:off x="274320" y="2724912"/>
            <a:ext cx="4114800" cy="320040"/>
          </a:xfrm>
          <a:prstGeom prst="rect">
            <a:avLst/>
          </a:prstGeom>
          <a:noFill/>
          <a:ln/>
        </p:spPr>
        <p:txBody>
          <a:bodyPr wrap="square" lIns="0" tIns="0" rIns="0" bIns="0" rtlCol="0" anchor="ctr"/>
          <a:lstStyle/>
          <a:p>
            <a:pPr indent="0" marL="0">
              <a:buNone/>
            </a:pPr>
            <a:r>
              <a:rPr lang="en-US" sz="1400" b="1" dirty="0">
                <a:solidFill>
                  <a:srgbClr val="0D1B2A"/>
                </a:solidFill>
                <a:latin typeface="Arial" pitchFamily="34" charset="0"/>
                <a:ea typeface="Arial" pitchFamily="34" charset="-122"/>
                <a:cs typeface="Arial" pitchFamily="34" charset="-120"/>
              </a:rPr>
              <a:t>1.2  Connexion</a:t>
            </a:r>
            <a:endParaRPr lang="en-US" sz="1400" dirty="0"/>
          </a:p>
        </p:txBody>
      </p:sp>
      <p:sp>
        <p:nvSpPr>
          <p:cNvPr id="28" name="Text 26"/>
          <p:cNvSpPr/>
          <p:nvPr/>
        </p:nvSpPr>
        <p:spPr>
          <a:xfrm>
            <a:off x="320040" y="3063240"/>
            <a:ext cx="3931920" cy="30175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1.  Aller sur /login</a:t>
            </a:r>
            <a:endParaRPr lang="en-US" sz="1100" dirty="0"/>
          </a:p>
        </p:txBody>
      </p:sp>
      <p:sp>
        <p:nvSpPr>
          <p:cNvPr id="29" name="Text 27"/>
          <p:cNvSpPr/>
          <p:nvPr/>
        </p:nvSpPr>
        <p:spPr>
          <a:xfrm>
            <a:off x="320040" y="3392424"/>
            <a:ext cx="3931920" cy="30175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2.  Saisir e-mail &amp; mot de passe</a:t>
            </a:r>
            <a:endParaRPr lang="en-US" sz="1100" dirty="0"/>
          </a:p>
        </p:txBody>
      </p:sp>
      <p:sp>
        <p:nvSpPr>
          <p:cNvPr id="30" name="Text 28"/>
          <p:cNvSpPr/>
          <p:nvPr/>
        </p:nvSpPr>
        <p:spPr>
          <a:xfrm>
            <a:off x="320040" y="3721608"/>
            <a:ext cx="3931920" cy="30175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3.  Cocher 'Se souvenir de moi' (optionnel)</a:t>
            </a:r>
            <a:endParaRPr lang="en-US" sz="1100" dirty="0"/>
          </a:p>
        </p:txBody>
      </p:sp>
      <p:sp>
        <p:nvSpPr>
          <p:cNvPr id="31" name="Text 29"/>
          <p:cNvSpPr/>
          <p:nvPr/>
        </p:nvSpPr>
        <p:spPr>
          <a:xfrm>
            <a:off x="320040" y="4050792"/>
            <a:ext cx="3931920" cy="301752"/>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4.  Cliquer 'Se connecter' → redirection auto selon rôle</a:t>
            </a:r>
            <a:endParaRPr lang="en-US" sz="1100" dirty="0"/>
          </a:p>
        </p:txBody>
      </p:sp>
      <p:sp>
        <p:nvSpPr>
          <p:cNvPr id="32" name="Shape 30"/>
          <p:cNvSpPr/>
          <p:nvPr/>
        </p:nvSpPr>
        <p:spPr>
          <a:xfrm>
            <a:off x="4572000" y="2651760"/>
            <a:ext cx="4389120" cy="1847088"/>
          </a:xfrm>
          <a:prstGeom prst="roundRect">
            <a:avLst>
              <a:gd name="adj" fmla="val 5941"/>
            </a:avLst>
          </a:prstGeom>
          <a:solidFill>
            <a:srgbClr val="FFF7ED"/>
          </a:solidFill>
          <a:ln w="19050">
            <a:solidFill>
              <a:srgbClr val="F59E0B"/>
            </a:solidFill>
            <a:prstDash val="solid"/>
          </a:ln>
          <a:effectLst>
            <a:outerShdw sx="100000" sy="100000" kx="0" ky="0" algn="bl" rotWithShape="0" blurRad="88900" dist="25400" dir="2700000">
              <a:srgbClr val="000000">
                <a:alpha val="13000"/>
              </a:srgbClr>
            </a:outerShdw>
          </a:effectLst>
        </p:spPr>
      </p:sp>
      <p:sp>
        <p:nvSpPr>
          <p:cNvPr id="33" name="Text 31"/>
          <p:cNvSpPr/>
          <p:nvPr/>
        </p:nvSpPr>
        <p:spPr>
          <a:xfrm>
            <a:off x="4709160" y="2724912"/>
            <a:ext cx="4114800" cy="347472"/>
          </a:xfrm>
          <a:prstGeom prst="rect">
            <a:avLst/>
          </a:prstGeom>
          <a:noFill/>
          <a:ln/>
        </p:spPr>
        <p:txBody>
          <a:bodyPr wrap="square" lIns="0" tIns="0" rIns="0" bIns="0" rtlCol="0" anchor="ctr"/>
          <a:lstStyle/>
          <a:p>
            <a:pPr indent="0" marL="0">
              <a:buNone/>
            </a:pPr>
            <a:r>
              <a:rPr lang="en-US" sz="1200" b="1" dirty="0">
                <a:solidFill>
                  <a:srgbClr val="F59E0B"/>
                </a:solidFill>
                <a:latin typeface="Arial" pitchFamily="34" charset="0"/>
                <a:ea typeface="Arial" pitchFamily="34" charset="-122"/>
                <a:cs typeface="Arial" pitchFamily="34" charset="-120"/>
              </a:rPr>
              <a:t>⚠️  Note importante — Chef de Programme</a:t>
            </a:r>
            <a:endParaRPr lang="en-US" sz="1200" dirty="0"/>
          </a:p>
        </p:txBody>
      </p:sp>
      <p:sp>
        <p:nvSpPr>
          <p:cNvPr id="34" name="Text 32"/>
          <p:cNvSpPr/>
          <p:nvPr/>
        </p:nvSpPr>
        <p:spPr>
          <a:xfrm>
            <a:off x="4709160" y="3108960"/>
            <a:ext cx="4114800" cy="126187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Le rôle Chef de Programme ne peut PAS être créé depuis le formulaire public pour des raisons de sécurité.</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Il est pré-configuré par l'administrateur système via un Seeder Laravel en base de données.</a:t>
            </a:r>
            <a:endParaRPr lang="en-US" sz="1050" dirty="0"/>
          </a:p>
        </p:txBody>
      </p:sp>
      <p:sp>
        <p:nvSpPr>
          <p:cNvPr id="35" name="Text 33"/>
          <p:cNvSpPr/>
          <p:nvPr/>
        </p:nvSpPr>
        <p:spPr>
          <a:xfrm>
            <a:off x="274320" y="4663440"/>
            <a:ext cx="8595360" cy="320040"/>
          </a:xfrm>
          <a:prstGeom prst="rect">
            <a:avLst/>
          </a:prstGeom>
          <a:noFill/>
          <a:ln/>
        </p:spPr>
        <p:txBody>
          <a:bodyPr wrap="square" lIns="0" tIns="0" rIns="0" bIns="0" rtlCol="0" anchor="ctr"/>
          <a:lstStyle/>
          <a:p>
            <a:pPr indent="0" marL="0">
              <a:buNone/>
            </a:pPr>
            <a:r>
              <a:rPr lang="en-US" sz="1400" b="1" dirty="0">
                <a:solidFill>
                  <a:srgbClr val="0D1B2A"/>
                </a:solidFill>
                <a:latin typeface="Arial" pitchFamily="34" charset="0"/>
                <a:ea typeface="Arial" pitchFamily="34" charset="-122"/>
                <a:cs typeface="Arial" pitchFamily="34" charset="-120"/>
              </a:rPr>
              <a:t>1.3  Gestion du Profil</a:t>
            </a:r>
            <a:endParaRPr lang="en-US" sz="1400" dirty="0"/>
          </a:p>
        </p:txBody>
      </p:sp>
      <p:sp>
        <p:nvSpPr>
          <p:cNvPr id="36" name="Shape 34"/>
          <p:cNvSpPr/>
          <p:nvPr/>
        </p:nvSpPr>
        <p:spPr>
          <a:xfrm>
            <a:off x="274320" y="5010912"/>
            <a:ext cx="2743200" cy="475488"/>
          </a:xfrm>
          <a:prstGeom prst="roundRect">
            <a:avLst>
              <a:gd name="adj" fmla="val 15385"/>
            </a:avLst>
          </a:prstGeom>
          <a:solidFill>
            <a:srgbClr val="DBEAFE"/>
          </a:solidFill>
          <a:ln w="12700">
            <a:solidFill>
              <a:srgbClr val="1B4FD8"/>
            </a:solidFill>
            <a:prstDash val="solid"/>
          </a:ln>
        </p:spPr>
      </p:sp>
      <p:sp>
        <p:nvSpPr>
          <p:cNvPr id="37" name="Text 35"/>
          <p:cNvSpPr/>
          <p:nvPr/>
        </p:nvSpPr>
        <p:spPr>
          <a:xfrm>
            <a:off x="365760" y="5010912"/>
            <a:ext cx="2560320" cy="475488"/>
          </a:xfrm>
          <a:prstGeom prst="rect">
            <a:avLst/>
          </a:prstGeom>
          <a:noFill/>
          <a:ln/>
        </p:spPr>
        <p:txBody>
          <a:bodyPr wrap="square" lIns="0" tIns="0" rIns="0" bIns="0" rtlCol="0" anchor="ctr"/>
          <a:lstStyle/>
          <a:p>
            <a:pPr indent="0" marL="0">
              <a:buNone/>
            </a:pPr>
            <a:r>
              <a:rPr lang="en-US" sz="1100" b="1" dirty="0">
                <a:solidFill>
                  <a:srgbClr val="1B4FD8"/>
                </a:solidFill>
                <a:latin typeface="Arial" pitchFamily="34" charset="0"/>
                <a:ea typeface="Arial" pitchFamily="34" charset="-122"/>
                <a:cs typeface="Arial" pitchFamily="34" charset="-120"/>
              </a:rPr>
              <a:t>✓  Modifier nom / e-mail</a:t>
            </a:r>
            <a:endParaRPr lang="en-US" sz="1100" dirty="0"/>
          </a:p>
        </p:txBody>
      </p:sp>
      <p:sp>
        <p:nvSpPr>
          <p:cNvPr id="38" name="Shape 36"/>
          <p:cNvSpPr/>
          <p:nvPr/>
        </p:nvSpPr>
        <p:spPr>
          <a:xfrm>
            <a:off x="3200400" y="5010912"/>
            <a:ext cx="2743200" cy="475488"/>
          </a:xfrm>
          <a:prstGeom prst="roundRect">
            <a:avLst>
              <a:gd name="adj" fmla="val 15385"/>
            </a:avLst>
          </a:prstGeom>
          <a:solidFill>
            <a:srgbClr val="D1FAE5"/>
          </a:solidFill>
          <a:ln w="12700">
            <a:solidFill>
              <a:srgbClr val="10B981"/>
            </a:solidFill>
            <a:prstDash val="solid"/>
          </a:ln>
        </p:spPr>
      </p:sp>
      <p:sp>
        <p:nvSpPr>
          <p:cNvPr id="39" name="Text 37"/>
          <p:cNvSpPr/>
          <p:nvPr/>
        </p:nvSpPr>
        <p:spPr>
          <a:xfrm>
            <a:off x="3291840" y="5010912"/>
            <a:ext cx="2560320" cy="475488"/>
          </a:xfrm>
          <a:prstGeom prst="rect">
            <a:avLst/>
          </a:prstGeom>
          <a:noFill/>
          <a:ln/>
        </p:spPr>
        <p:txBody>
          <a:bodyPr wrap="square" lIns="0" tIns="0" rIns="0" bIns="0" rtlCol="0" anchor="ctr"/>
          <a:lstStyle/>
          <a:p>
            <a:pPr indent="0" marL="0">
              <a:buNone/>
            </a:pPr>
            <a:r>
              <a:rPr lang="en-US" sz="1100" b="1" dirty="0">
                <a:solidFill>
                  <a:srgbClr val="10B981"/>
                </a:solidFill>
                <a:latin typeface="Arial" pitchFamily="34" charset="0"/>
                <a:ea typeface="Arial" pitchFamily="34" charset="-122"/>
                <a:cs typeface="Arial" pitchFamily="34" charset="-120"/>
              </a:rPr>
              <a:t>✓  Changer mot de passe</a:t>
            </a:r>
            <a:endParaRPr lang="en-US" sz="1100" dirty="0"/>
          </a:p>
        </p:txBody>
      </p:sp>
      <p:sp>
        <p:nvSpPr>
          <p:cNvPr id="40" name="Shape 38"/>
          <p:cNvSpPr/>
          <p:nvPr/>
        </p:nvSpPr>
        <p:spPr>
          <a:xfrm>
            <a:off x="6126480" y="5010912"/>
            <a:ext cx="2743200" cy="475488"/>
          </a:xfrm>
          <a:prstGeom prst="roundRect">
            <a:avLst>
              <a:gd name="adj" fmla="val 15385"/>
            </a:avLst>
          </a:prstGeom>
          <a:solidFill>
            <a:srgbClr val="EDE9FE"/>
          </a:solidFill>
          <a:ln w="12700">
            <a:solidFill>
              <a:srgbClr val="4C1D95"/>
            </a:solidFill>
            <a:prstDash val="solid"/>
          </a:ln>
        </p:spPr>
      </p:sp>
      <p:sp>
        <p:nvSpPr>
          <p:cNvPr id="41" name="Text 39"/>
          <p:cNvSpPr/>
          <p:nvPr/>
        </p:nvSpPr>
        <p:spPr>
          <a:xfrm>
            <a:off x="6217920" y="5010912"/>
            <a:ext cx="2560320" cy="475488"/>
          </a:xfrm>
          <a:prstGeom prst="rect">
            <a:avLst/>
          </a:prstGeom>
          <a:noFill/>
          <a:ln/>
        </p:spPr>
        <p:txBody>
          <a:bodyPr wrap="square" lIns="0" tIns="0" rIns="0" bIns="0" rtlCol="0" anchor="ctr"/>
          <a:lstStyle/>
          <a:p>
            <a:pPr indent="0" marL="0">
              <a:buNone/>
            </a:pPr>
            <a:r>
              <a:rPr lang="en-US" sz="1100" b="1" dirty="0">
                <a:solidFill>
                  <a:srgbClr val="4C1D95"/>
                </a:solidFill>
                <a:latin typeface="Arial" pitchFamily="34" charset="0"/>
                <a:ea typeface="Arial" pitchFamily="34" charset="-122"/>
                <a:cs typeface="Arial" pitchFamily="34" charset="-120"/>
              </a:rPr>
              <a:t>✓  Mettre à jour filière/niveau</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SECTION 2 — GUIDE ÉTUDIANT</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Le Tableau de Bord Étudiant</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 Rôle : etudiant</a:t>
            </a:r>
            <a:endParaRPr lang="en-US" sz="1100" dirty="0"/>
          </a:p>
        </p:txBody>
      </p:sp>
      <p:sp>
        <p:nvSpPr>
          <p:cNvPr id="6" name="Shape 4"/>
          <p:cNvSpPr/>
          <p:nvPr/>
        </p:nvSpPr>
        <p:spPr>
          <a:xfrm>
            <a:off x="274320" y="1051560"/>
            <a:ext cx="8595360" cy="438912"/>
          </a:xfrm>
          <a:prstGeom prst="roundRect">
            <a:avLst>
              <a:gd name="adj" fmla="val 16667"/>
            </a:avLst>
          </a:prstGeom>
          <a:solidFill>
            <a:srgbClr val="EF4444"/>
          </a:solidFill>
          <a:ln w="12700">
            <a:solidFill>
              <a:srgbClr val="EF4444"/>
            </a:solidFill>
            <a:prstDash val="solid"/>
          </a:ln>
        </p:spPr>
      </p:sp>
      <p:sp>
        <p:nvSpPr>
          <p:cNvPr id="7" name="Text 5"/>
          <p:cNvSpPr/>
          <p:nvPr/>
        </p:nvSpPr>
        <p:spPr>
          <a:xfrm>
            <a:off x="365760" y="1051560"/>
            <a:ext cx="8412480" cy="438912"/>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  URGENT — Cours de Réseaux annulé ce Mardi 18 juin — Salle indisponible  ◄►  URGENT — Cours de Réseaux annulé ce Mardi 18 juin</a:t>
            </a:r>
            <a:endParaRPr lang="en-US" sz="1100" dirty="0"/>
          </a:p>
        </p:txBody>
      </p:sp>
      <p:sp>
        <p:nvSpPr>
          <p:cNvPr id="8" name="Shape 6"/>
          <p:cNvSpPr/>
          <p:nvPr/>
        </p:nvSpPr>
        <p:spPr>
          <a:xfrm>
            <a:off x="274320" y="1572768"/>
            <a:ext cx="8595360" cy="1828800"/>
          </a:xfrm>
          <a:prstGeom prst="roundRect">
            <a:avLst>
              <a:gd name="adj" fmla="val 5000"/>
            </a:avLst>
          </a:prstGeom>
          <a:solidFill>
            <a:srgbClr val="F1F5F9"/>
          </a:solidFill>
          <a:ln w="12700">
            <a:solidFill>
              <a:srgbClr val="CBD5E1"/>
            </a:solidFill>
            <a:prstDash val="solid"/>
          </a:ln>
        </p:spPr>
      </p:sp>
      <p:sp>
        <p:nvSpPr>
          <p:cNvPr id="9" name="Text 7"/>
          <p:cNvSpPr/>
          <p:nvPr/>
        </p:nvSpPr>
        <p:spPr>
          <a:xfrm>
            <a:off x="411480" y="1627632"/>
            <a:ext cx="4572000" cy="320040"/>
          </a:xfrm>
          <a:prstGeom prst="rect">
            <a:avLst/>
          </a:prstGeom>
          <a:noFill/>
          <a:ln/>
        </p:spPr>
        <p:txBody>
          <a:bodyPr wrap="square" lIns="0" tIns="0" rIns="0" bIns="0" rtlCol="0" anchor="ctr"/>
          <a:lstStyle/>
          <a:p>
            <a:pPr indent="0" marL="0">
              <a:buNone/>
            </a:pPr>
            <a:r>
              <a:rPr lang="en-US" sz="1300" b="1" dirty="0">
                <a:solidFill>
                  <a:srgbClr val="0D1B2A"/>
                </a:solidFill>
                <a:latin typeface="Arial" pitchFamily="34" charset="0"/>
                <a:ea typeface="Arial" pitchFamily="34" charset="-122"/>
                <a:cs typeface="Arial" pitchFamily="34" charset="-120"/>
              </a:rPr>
              <a:t>📅  Grille de la semaine — L2 NTIC</a:t>
            </a:r>
            <a:endParaRPr lang="en-US" sz="1300" dirty="0"/>
          </a:p>
        </p:txBody>
      </p:sp>
      <p:sp>
        <p:nvSpPr>
          <p:cNvPr id="10" name="Shape 8"/>
          <p:cNvSpPr/>
          <p:nvPr/>
        </p:nvSpPr>
        <p:spPr>
          <a:xfrm>
            <a:off x="347472" y="1993392"/>
            <a:ext cx="1627632" cy="320040"/>
          </a:xfrm>
          <a:prstGeom prst="roundRect">
            <a:avLst>
              <a:gd name="adj" fmla="val 17143"/>
            </a:avLst>
          </a:prstGeom>
          <a:solidFill>
            <a:srgbClr val="0D1B2A"/>
          </a:solidFill>
          <a:ln w="12700">
            <a:solidFill>
              <a:srgbClr val="0D1B2A"/>
            </a:solidFill>
            <a:prstDash val="solid"/>
          </a:ln>
        </p:spPr>
      </p:sp>
      <p:sp>
        <p:nvSpPr>
          <p:cNvPr id="11" name="Text 9"/>
          <p:cNvSpPr/>
          <p:nvPr/>
        </p:nvSpPr>
        <p:spPr>
          <a:xfrm>
            <a:off x="347472" y="1993392"/>
            <a:ext cx="1627632"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Lundi</a:t>
            </a:r>
            <a:endParaRPr lang="en-US" sz="1000" dirty="0"/>
          </a:p>
        </p:txBody>
      </p:sp>
      <p:sp>
        <p:nvSpPr>
          <p:cNvPr id="12" name="Shape 10"/>
          <p:cNvSpPr/>
          <p:nvPr/>
        </p:nvSpPr>
        <p:spPr>
          <a:xfrm>
            <a:off x="347472" y="2359152"/>
            <a:ext cx="1627632" cy="868680"/>
          </a:xfrm>
          <a:prstGeom prst="roundRect">
            <a:avLst>
              <a:gd name="adj" fmla="val 6316"/>
            </a:avLst>
          </a:prstGeom>
          <a:solidFill>
            <a:srgbClr val="DBEAFE"/>
          </a:solidFill>
          <a:ln w="12700">
            <a:solidFill>
              <a:srgbClr val="1B4FD8"/>
            </a:solidFill>
            <a:prstDash val="solid"/>
          </a:ln>
        </p:spPr>
      </p:sp>
      <p:sp>
        <p:nvSpPr>
          <p:cNvPr id="13" name="Text 11"/>
          <p:cNvSpPr/>
          <p:nvPr/>
        </p:nvSpPr>
        <p:spPr>
          <a:xfrm>
            <a:off x="347472" y="2359152"/>
            <a:ext cx="1627632" cy="868680"/>
          </a:xfrm>
          <a:prstGeom prst="rect">
            <a:avLst/>
          </a:prstGeom>
          <a:noFill/>
          <a:ln/>
        </p:spPr>
        <p:txBody>
          <a:bodyPr wrap="square" lIns="0" tIns="0" rIns="0" bIns="0" rtlCol="0" anchor="ctr"/>
          <a:lstStyle/>
          <a:p>
            <a:pPr algn="ctr" indent="0" marL="0">
              <a:buNone/>
            </a:pPr>
            <a:r>
              <a:rPr lang="en-US" sz="1000" dirty="0">
                <a:solidFill>
                  <a:srgbClr val="1B4FD8"/>
                </a:solidFill>
                <a:latin typeface="Arial" pitchFamily="34" charset="0"/>
                <a:ea typeface="Arial" pitchFamily="34" charset="-122"/>
                <a:cs typeface="Arial" pitchFamily="34" charset="-120"/>
              </a:rPr>
              <a:t>BDD 08h-10h</a:t>
            </a:r>
            <a:endParaRPr lang="en-US" sz="1000" dirty="0"/>
          </a:p>
        </p:txBody>
      </p:sp>
      <p:sp>
        <p:nvSpPr>
          <p:cNvPr id="14" name="Shape 12"/>
          <p:cNvSpPr/>
          <p:nvPr/>
        </p:nvSpPr>
        <p:spPr>
          <a:xfrm>
            <a:off x="2048256" y="1993392"/>
            <a:ext cx="1627632" cy="320040"/>
          </a:xfrm>
          <a:prstGeom prst="roundRect">
            <a:avLst>
              <a:gd name="adj" fmla="val 17143"/>
            </a:avLst>
          </a:prstGeom>
          <a:solidFill>
            <a:srgbClr val="0D1B2A"/>
          </a:solidFill>
          <a:ln w="12700">
            <a:solidFill>
              <a:srgbClr val="0D1B2A"/>
            </a:solidFill>
            <a:prstDash val="solid"/>
          </a:ln>
        </p:spPr>
      </p:sp>
      <p:sp>
        <p:nvSpPr>
          <p:cNvPr id="15" name="Text 13"/>
          <p:cNvSpPr/>
          <p:nvPr/>
        </p:nvSpPr>
        <p:spPr>
          <a:xfrm>
            <a:off x="2048256" y="1993392"/>
            <a:ext cx="1627632"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Mardi</a:t>
            </a:r>
            <a:endParaRPr lang="en-US" sz="1000" dirty="0"/>
          </a:p>
        </p:txBody>
      </p:sp>
      <p:sp>
        <p:nvSpPr>
          <p:cNvPr id="16" name="Shape 14"/>
          <p:cNvSpPr/>
          <p:nvPr/>
        </p:nvSpPr>
        <p:spPr>
          <a:xfrm>
            <a:off x="2048256" y="2359152"/>
            <a:ext cx="1627632" cy="868680"/>
          </a:xfrm>
          <a:prstGeom prst="roundRect">
            <a:avLst>
              <a:gd name="adj" fmla="val 6316"/>
            </a:avLst>
          </a:prstGeom>
          <a:solidFill>
            <a:srgbClr val="F1F5F9"/>
          </a:solidFill>
          <a:ln w="12700">
            <a:solidFill>
              <a:srgbClr val="94A3B8"/>
            </a:solidFill>
            <a:prstDash val="solid"/>
          </a:ln>
        </p:spPr>
      </p:sp>
      <p:sp>
        <p:nvSpPr>
          <p:cNvPr id="17" name="Text 15"/>
          <p:cNvSpPr/>
          <p:nvPr/>
        </p:nvSpPr>
        <p:spPr>
          <a:xfrm>
            <a:off x="2048256" y="2359152"/>
            <a:ext cx="1627632" cy="868680"/>
          </a:xfrm>
          <a:prstGeom prst="rect">
            <a:avLst/>
          </a:prstGeom>
          <a:noFill/>
          <a:ln/>
        </p:spPr>
        <p:txBody>
          <a:bodyPr wrap="square" lIns="0" tIns="0" rIns="0" bIns="0"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a:t>
            </a:r>
            <a:endParaRPr lang="en-US" sz="1000" dirty="0"/>
          </a:p>
        </p:txBody>
      </p:sp>
      <p:sp>
        <p:nvSpPr>
          <p:cNvPr id="18" name="Shape 16"/>
          <p:cNvSpPr/>
          <p:nvPr/>
        </p:nvSpPr>
        <p:spPr>
          <a:xfrm>
            <a:off x="3749040" y="1993392"/>
            <a:ext cx="1627632" cy="320040"/>
          </a:xfrm>
          <a:prstGeom prst="roundRect">
            <a:avLst>
              <a:gd name="adj" fmla="val 17143"/>
            </a:avLst>
          </a:prstGeom>
          <a:solidFill>
            <a:srgbClr val="0D1B2A"/>
          </a:solidFill>
          <a:ln w="12700">
            <a:solidFill>
              <a:srgbClr val="0D1B2A"/>
            </a:solidFill>
            <a:prstDash val="solid"/>
          </a:ln>
        </p:spPr>
      </p:sp>
      <p:sp>
        <p:nvSpPr>
          <p:cNvPr id="19" name="Text 17"/>
          <p:cNvSpPr/>
          <p:nvPr/>
        </p:nvSpPr>
        <p:spPr>
          <a:xfrm>
            <a:off x="3749040" y="1993392"/>
            <a:ext cx="1627632"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Mercredi</a:t>
            </a:r>
            <a:endParaRPr lang="en-US" sz="1000" dirty="0"/>
          </a:p>
        </p:txBody>
      </p:sp>
      <p:sp>
        <p:nvSpPr>
          <p:cNvPr id="20" name="Shape 18"/>
          <p:cNvSpPr/>
          <p:nvPr/>
        </p:nvSpPr>
        <p:spPr>
          <a:xfrm>
            <a:off x="3749040" y="2359152"/>
            <a:ext cx="1627632" cy="868680"/>
          </a:xfrm>
          <a:prstGeom prst="roundRect">
            <a:avLst>
              <a:gd name="adj" fmla="val 6316"/>
            </a:avLst>
          </a:prstGeom>
          <a:solidFill>
            <a:srgbClr val="DBEAFE"/>
          </a:solidFill>
          <a:ln w="12700">
            <a:solidFill>
              <a:srgbClr val="1B4FD8"/>
            </a:solidFill>
            <a:prstDash val="solid"/>
          </a:ln>
        </p:spPr>
      </p:sp>
      <p:sp>
        <p:nvSpPr>
          <p:cNvPr id="21" name="Text 19"/>
          <p:cNvSpPr/>
          <p:nvPr/>
        </p:nvSpPr>
        <p:spPr>
          <a:xfrm>
            <a:off x="3749040" y="2359152"/>
            <a:ext cx="1627632" cy="868680"/>
          </a:xfrm>
          <a:prstGeom prst="rect">
            <a:avLst/>
          </a:prstGeom>
          <a:noFill/>
          <a:ln/>
        </p:spPr>
        <p:txBody>
          <a:bodyPr wrap="square" lIns="0" tIns="0" rIns="0" bIns="0" rtlCol="0" anchor="ctr"/>
          <a:lstStyle/>
          <a:p>
            <a:pPr algn="ctr" indent="0" marL="0">
              <a:buNone/>
            </a:pPr>
            <a:r>
              <a:rPr lang="en-US" sz="1000" dirty="0">
                <a:solidFill>
                  <a:srgbClr val="1B4FD8"/>
                </a:solidFill>
                <a:latin typeface="Arial" pitchFamily="34" charset="0"/>
                <a:ea typeface="Arial" pitchFamily="34" charset="-122"/>
                <a:cs typeface="Arial" pitchFamily="34" charset="-120"/>
              </a:rPr>
              <a:t>Réseaux 10h-12h</a:t>
            </a:r>
            <a:endParaRPr lang="en-US" sz="1000" dirty="0"/>
          </a:p>
        </p:txBody>
      </p:sp>
      <p:sp>
        <p:nvSpPr>
          <p:cNvPr id="22" name="Shape 20"/>
          <p:cNvSpPr/>
          <p:nvPr/>
        </p:nvSpPr>
        <p:spPr>
          <a:xfrm>
            <a:off x="5449824" y="1993392"/>
            <a:ext cx="1627632" cy="320040"/>
          </a:xfrm>
          <a:prstGeom prst="roundRect">
            <a:avLst>
              <a:gd name="adj" fmla="val 17143"/>
            </a:avLst>
          </a:prstGeom>
          <a:solidFill>
            <a:srgbClr val="0D1B2A"/>
          </a:solidFill>
          <a:ln w="12700">
            <a:solidFill>
              <a:srgbClr val="0D1B2A"/>
            </a:solidFill>
            <a:prstDash val="solid"/>
          </a:ln>
        </p:spPr>
      </p:sp>
      <p:sp>
        <p:nvSpPr>
          <p:cNvPr id="23" name="Text 21"/>
          <p:cNvSpPr/>
          <p:nvPr/>
        </p:nvSpPr>
        <p:spPr>
          <a:xfrm>
            <a:off x="5449824" y="1993392"/>
            <a:ext cx="1627632"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Jeudi</a:t>
            </a:r>
            <a:endParaRPr lang="en-US" sz="1000" dirty="0"/>
          </a:p>
        </p:txBody>
      </p:sp>
      <p:sp>
        <p:nvSpPr>
          <p:cNvPr id="24" name="Shape 22"/>
          <p:cNvSpPr/>
          <p:nvPr/>
        </p:nvSpPr>
        <p:spPr>
          <a:xfrm>
            <a:off x="5449824" y="2359152"/>
            <a:ext cx="1627632" cy="868680"/>
          </a:xfrm>
          <a:prstGeom prst="roundRect">
            <a:avLst>
              <a:gd name="adj" fmla="val 6316"/>
            </a:avLst>
          </a:prstGeom>
          <a:solidFill>
            <a:srgbClr val="DBEAFE"/>
          </a:solidFill>
          <a:ln w="12700">
            <a:solidFill>
              <a:srgbClr val="1B4FD8"/>
            </a:solidFill>
            <a:prstDash val="solid"/>
          </a:ln>
        </p:spPr>
      </p:sp>
      <p:sp>
        <p:nvSpPr>
          <p:cNvPr id="25" name="Text 23"/>
          <p:cNvSpPr/>
          <p:nvPr/>
        </p:nvSpPr>
        <p:spPr>
          <a:xfrm>
            <a:off x="5449824" y="2359152"/>
            <a:ext cx="1627632" cy="868680"/>
          </a:xfrm>
          <a:prstGeom prst="rect">
            <a:avLst/>
          </a:prstGeom>
          <a:noFill/>
          <a:ln/>
        </p:spPr>
        <p:txBody>
          <a:bodyPr wrap="square" lIns="0" tIns="0" rIns="0" bIns="0" rtlCol="0" anchor="ctr"/>
          <a:lstStyle/>
          <a:p>
            <a:pPr algn="ctr" indent="0" marL="0">
              <a:buNone/>
            </a:pPr>
            <a:r>
              <a:rPr lang="en-US" sz="1000" dirty="0">
                <a:solidFill>
                  <a:srgbClr val="1B4FD8"/>
                </a:solidFill>
                <a:latin typeface="Arial" pitchFamily="34" charset="0"/>
                <a:ea typeface="Arial" pitchFamily="34" charset="-122"/>
                <a:cs typeface="Arial" pitchFamily="34" charset="-120"/>
              </a:rPr>
              <a:t>Algo 08h-10h</a:t>
            </a:r>
            <a:endParaRPr lang="en-US" sz="1000" dirty="0"/>
          </a:p>
        </p:txBody>
      </p:sp>
      <p:sp>
        <p:nvSpPr>
          <p:cNvPr id="26" name="Shape 24"/>
          <p:cNvSpPr/>
          <p:nvPr/>
        </p:nvSpPr>
        <p:spPr>
          <a:xfrm>
            <a:off x="7150608" y="1993392"/>
            <a:ext cx="1627632" cy="320040"/>
          </a:xfrm>
          <a:prstGeom prst="roundRect">
            <a:avLst>
              <a:gd name="adj" fmla="val 17143"/>
            </a:avLst>
          </a:prstGeom>
          <a:solidFill>
            <a:srgbClr val="0D1B2A"/>
          </a:solidFill>
          <a:ln w="12700">
            <a:solidFill>
              <a:srgbClr val="0D1B2A"/>
            </a:solidFill>
            <a:prstDash val="solid"/>
          </a:ln>
        </p:spPr>
      </p:sp>
      <p:sp>
        <p:nvSpPr>
          <p:cNvPr id="27" name="Text 25"/>
          <p:cNvSpPr/>
          <p:nvPr/>
        </p:nvSpPr>
        <p:spPr>
          <a:xfrm>
            <a:off x="7150608" y="1993392"/>
            <a:ext cx="1627632"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Vendredi</a:t>
            </a:r>
            <a:endParaRPr lang="en-US" sz="1000" dirty="0"/>
          </a:p>
        </p:txBody>
      </p:sp>
      <p:sp>
        <p:nvSpPr>
          <p:cNvPr id="28" name="Shape 26"/>
          <p:cNvSpPr/>
          <p:nvPr/>
        </p:nvSpPr>
        <p:spPr>
          <a:xfrm>
            <a:off x="7150608" y="2359152"/>
            <a:ext cx="1627632" cy="868680"/>
          </a:xfrm>
          <a:prstGeom prst="roundRect">
            <a:avLst>
              <a:gd name="adj" fmla="val 6316"/>
            </a:avLst>
          </a:prstGeom>
          <a:solidFill>
            <a:srgbClr val="DBEAFE"/>
          </a:solidFill>
          <a:ln w="12700">
            <a:solidFill>
              <a:srgbClr val="1B4FD8"/>
            </a:solidFill>
            <a:prstDash val="solid"/>
          </a:ln>
        </p:spPr>
      </p:sp>
      <p:sp>
        <p:nvSpPr>
          <p:cNvPr id="29" name="Text 27"/>
          <p:cNvSpPr/>
          <p:nvPr/>
        </p:nvSpPr>
        <p:spPr>
          <a:xfrm>
            <a:off x="7150608" y="2359152"/>
            <a:ext cx="1627632" cy="868680"/>
          </a:xfrm>
          <a:prstGeom prst="rect">
            <a:avLst/>
          </a:prstGeom>
          <a:noFill/>
          <a:ln/>
        </p:spPr>
        <p:txBody>
          <a:bodyPr wrap="square" lIns="0" tIns="0" rIns="0" bIns="0" rtlCol="0" anchor="ctr"/>
          <a:lstStyle/>
          <a:p>
            <a:pPr algn="ctr" indent="0" marL="0">
              <a:buNone/>
            </a:pPr>
            <a:r>
              <a:rPr lang="en-US" sz="1000" dirty="0">
                <a:solidFill>
                  <a:srgbClr val="1B4FD8"/>
                </a:solidFill>
                <a:latin typeface="Arial" pitchFamily="34" charset="0"/>
                <a:ea typeface="Arial" pitchFamily="34" charset="-122"/>
                <a:cs typeface="Arial" pitchFamily="34" charset="-120"/>
              </a:rPr>
              <a:t>Web 14h-16h</a:t>
            </a:r>
            <a:endParaRPr lang="en-US" sz="1000" dirty="0"/>
          </a:p>
        </p:txBody>
      </p:sp>
      <p:sp>
        <p:nvSpPr>
          <p:cNvPr id="30" name="Shape 28"/>
          <p:cNvSpPr/>
          <p:nvPr/>
        </p:nvSpPr>
        <p:spPr>
          <a:xfrm>
            <a:off x="274320" y="3520440"/>
            <a:ext cx="2084832" cy="1554480"/>
          </a:xfrm>
          <a:prstGeom prst="roundRect">
            <a:avLst>
              <a:gd name="adj" fmla="val 7059"/>
            </a:avLst>
          </a:prstGeom>
          <a:solidFill>
            <a:srgbClr val="FEE2E2"/>
          </a:solidFill>
          <a:ln w="19050">
            <a:solidFill>
              <a:srgbClr val="EF4444"/>
            </a:solidFill>
            <a:prstDash val="solid"/>
          </a:ln>
          <a:effectLst>
            <a:outerShdw sx="100000" sy="100000" kx="0" ky="0" algn="bl" rotWithShape="0" blurRad="88900" dist="25400" dir="2700000">
              <a:srgbClr val="000000">
                <a:alpha val="13000"/>
              </a:srgbClr>
            </a:outerShdw>
          </a:effectLst>
        </p:spPr>
      </p:sp>
      <p:sp>
        <p:nvSpPr>
          <p:cNvPr id="31" name="Text 29"/>
          <p:cNvSpPr/>
          <p:nvPr/>
        </p:nvSpPr>
        <p:spPr>
          <a:xfrm>
            <a:off x="274320" y="3566160"/>
            <a:ext cx="2084832" cy="384048"/>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32" name="Text 30"/>
          <p:cNvSpPr/>
          <p:nvPr/>
        </p:nvSpPr>
        <p:spPr>
          <a:xfrm>
            <a:off x="365760" y="3931920"/>
            <a:ext cx="1901952" cy="292608"/>
          </a:xfrm>
          <a:prstGeom prst="rect">
            <a:avLst/>
          </a:prstGeom>
          <a:noFill/>
          <a:ln/>
        </p:spPr>
        <p:txBody>
          <a:bodyPr wrap="square" lIns="0" tIns="0" rIns="0" bIns="0" rtlCol="0" anchor="ctr"/>
          <a:lstStyle/>
          <a:p>
            <a:pPr indent="0" marL="0">
              <a:buNone/>
            </a:pPr>
            <a:r>
              <a:rPr lang="en-US" sz="1200" b="1" dirty="0">
                <a:solidFill>
                  <a:srgbClr val="EF4444"/>
                </a:solidFill>
                <a:latin typeface="Arial" pitchFamily="34" charset="0"/>
                <a:ea typeface="Arial" pitchFamily="34" charset="-122"/>
                <a:cs typeface="Arial" pitchFamily="34" charset="-120"/>
              </a:rPr>
              <a:t>Bandeau urgent</a:t>
            </a:r>
            <a:endParaRPr lang="en-US" sz="1200" dirty="0"/>
          </a:p>
        </p:txBody>
      </p:sp>
      <p:sp>
        <p:nvSpPr>
          <p:cNvPr id="33" name="Text 31"/>
          <p:cNvSpPr/>
          <p:nvPr/>
        </p:nvSpPr>
        <p:spPr>
          <a:xfrm>
            <a:off x="365760" y="4242816"/>
            <a:ext cx="1901952" cy="77724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Annonces urgentes défilent en rouge en haut — impossible à manquer</a:t>
            </a:r>
            <a:endParaRPr lang="en-US" sz="1000" dirty="0"/>
          </a:p>
        </p:txBody>
      </p:sp>
      <p:sp>
        <p:nvSpPr>
          <p:cNvPr id="34" name="Shape 32"/>
          <p:cNvSpPr/>
          <p:nvPr/>
        </p:nvSpPr>
        <p:spPr>
          <a:xfrm>
            <a:off x="2487168" y="3520440"/>
            <a:ext cx="2084832" cy="1554480"/>
          </a:xfrm>
          <a:prstGeom prst="roundRect">
            <a:avLst>
              <a:gd name="adj" fmla="val 7059"/>
            </a:avLst>
          </a:prstGeom>
          <a:solidFill>
            <a:srgbClr val="DBEAFE"/>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35" name="Text 33"/>
          <p:cNvSpPr/>
          <p:nvPr/>
        </p:nvSpPr>
        <p:spPr>
          <a:xfrm>
            <a:off x="2487168" y="3566160"/>
            <a:ext cx="2084832" cy="384048"/>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36" name="Text 34"/>
          <p:cNvSpPr/>
          <p:nvPr/>
        </p:nvSpPr>
        <p:spPr>
          <a:xfrm>
            <a:off x="2578608" y="3931920"/>
            <a:ext cx="1901952" cy="292608"/>
          </a:xfrm>
          <a:prstGeom prst="rect">
            <a:avLst/>
          </a:prstGeom>
          <a:noFill/>
          <a:ln/>
        </p:spPr>
        <p:txBody>
          <a:bodyPr wrap="square" lIns="0" tIns="0" rIns="0" bIns="0" rtlCol="0" anchor="ctr"/>
          <a:lstStyle/>
          <a:p>
            <a:pPr indent="0" marL="0">
              <a:buNone/>
            </a:pPr>
            <a:r>
              <a:rPr lang="en-US" sz="1200" b="1" dirty="0">
                <a:solidFill>
                  <a:srgbClr val="1B4FD8"/>
                </a:solidFill>
                <a:latin typeface="Arial" pitchFamily="34" charset="0"/>
                <a:ea typeface="Arial" pitchFamily="34" charset="-122"/>
                <a:cs typeface="Arial" pitchFamily="34" charset="-120"/>
              </a:rPr>
              <a:t>Grille semaine</a:t>
            </a:r>
            <a:endParaRPr lang="en-US" sz="1200" dirty="0"/>
          </a:p>
        </p:txBody>
      </p:sp>
      <p:sp>
        <p:nvSpPr>
          <p:cNvPr id="37" name="Text 35"/>
          <p:cNvSpPr/>
          <p:nvPr/>
        </p:nvSpPr>
        <p:spPr>
          <a:xfrm>
            <a:off x="2578608" y="4242816"/>
            <a:ext cx="1901952" cy="77724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Lundi→Vendredi pour sa filière et son niveau — personnalisé automatiquement</a:t>
            </a:r>
            <a:endParaRPr lang="en-US" sz="1000" dirty="0"/>
          </a:p>
        </p:txBody>
      </p:sp>
      <p:sp>
        <p:nvSpPr>
          <p:cNvPr id="38" name="Shape 36"/>
          <p:cNvSpPr/>
          <p:nvPr/>
        </p:nvSpPr>
        <p:spPr>
          <a:xfrm>
            <a:off x="4700016" y="3520440"/>
            <a:ext cx="2084832" cy="1554480"/>
          </a:xfrm>
          <a:prstGeom prst="roundRect">
            <a:avLst>
              <a:gd name="adj" fmla="val 7059"/>
            </a:avLst>
          </a:prstGeom>
          <a:solidFill>
            <a:srgbClr val="FEF3C7"/>
          </a:solidFill>
          <a:ln w="19050">
            <a:solidFill>
              <a:srgbClr val="F59E0B"/>
            </a:solidFill>
            <a:prstDash val="solid"/>
          </a:ln>
          <a:effectLst>
            <a:outerShdw sx="100000" sy="100000" kx="0" ky="0" algn="bl" rotWithShape="0" blurRad="88900" dist="25400" dir="2700000">
              <a:srgbClr val="000000">
                <a:alpha val="13000"/>
              </a:srgbClr>
            </a:outerShdw>
          </a:effectLst>
        </p:spPr>
      </p:sp>
      <p:sp>
        <p:nvSpPr>
          <p:cNvPr id="39" name="Text 37"/>
          <p:cNvSpPr/>
          <p:nvPr/>
        </p:nvSpPr>
        <p:spPr>
          <a:xfrm>
            <a:off x="4700016" y="3566160"/>
            <a:ext cx="2084832" cy="384048"/>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40" name="Text 38"/>
          <p:cNvSpPr/>
          <p:nvPr/>
        </p:nvSpPr>
        <p:spPr>
          <a:xfrm>
            <a:off x="4791456" y="3931920"/>
            <a:ext cx="1901952" cy="292608"/>
          </a:xfrm>
          <a:prstGeom prst="rect">
            <a:avLst/>
          </a:prstGeom>
          <a:noFill/>
          <a:ln/>
        </p:spPr>
        <p:txBody>
          <a:bodyPr wrap="square" lIns="0" tIns="0" rIns="0" bIns="0" rtlCol="0" anchor="ctr"/>
          <a:lstStyle/>
          <a:p>
            <a:pPr indent="0" marL="0">
              <a:buNone/>
            </a:pPr>
            <a:r>
              <a:rPr lang="en-US" sz="1200" b="1" dirty="0">
                <a:solidFill>
                  <a:srgbClr val="F59E0B"/>
                </a:solidFill>
                <a:latin typeface="Arial" pitchFamily="34" charset="0"/>
                <a:ea typeface="Arial" pitchFamily="34" charset="-122"/>
                <a:cs typeface="Arial" pitchFamily="34" charset="-120"/>
              </a:rPr>
              <a:t>Alertes modifs</a:t>
            </a:r>
            <a:endParaRPr lang="en-US" sz="1200" dirty="0"/>
          </a:p>
        </p:txBody>
      </p:sp>
      <p:sp>
        <p:nvSpPr>
          <p:cNvPr id="41" name="Text 39"/>
          <p:cNvSpPr/>
          <p:nvPr/>
        </p:nvSpPr>
        <p:spPr>
          <a:xfrm>
            <a:off x="4791456" y="4242816"/>
            <a:ext cx="1901952" cy="77724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Cartes colorées quand un prof modifie un cours — apparaissent en temps réel</a:t>
            </a:r>
            <a:endParaRPr lang="en-US" sz="1000" dirty="0"/>
          </a:p>
        </p:txBody>
      </p:sp>
      <p:sp>
        <p:nvSpPr>
          <p:cNvPr id="42" name="Shape 40"/>
          <p:cNvSpPr/>
          <p:nvPr/>
        </p:nvSpPr>
        <p:spPr>
          <a:xfrm>
            <a:off x="6912864" y="3520440"/>
            <a:ext cx="2084832" cy="1554480"/>
          </a:xfrm>
          <a:prstGeom prst="roundRect">
            <a:avLst>
              <a:gd name="adj" fmla="val 7059"/>
            </a:avLst>
          </a:prstGeom>
          <a:solidFill>
            <a:srgbClr val="D1FAE5"/>
          </a:solidFill>
          <a:ln w="19050">
            <a:solidFill>
              <a:srgbClr val="10B981"/>
            </a:solidFill>
            <a:prstDash val="solid"/>
          </a:ln>
          <a:effectLst>
            <a:outerShdw sx="100000" sy="100000" kx="0" ky="0" algn="bl" rotWithShape="0" blurRad="88900" dist="25400" dir="2700000">
              <a:srgbClr val="000000">
                <a:alpha val="13000"/>
              </a:srgbClr>
            </a:outerShdw>
          </a:effectLst>
        </p:spPr>
      </p:sp>
      <p:sp>
        <p:nvSpPr>
          <p:cNvPr id="43" name="Text 41"/>
          <p:cNvSpPr/>
          <p:nvPr/>
        </p:nvSpPr>
        <p:spPr>
          <a:xfrm>
            <a:off x="6912864" y="3566160"/>
            <a:ext cx="2084832" cy="384048"/>
          </a:xfrm>
          <a:prstGeom prst="rect">
            <a:avLst/>
          </a:prstGeom>
          <a:noFill/>
          <a:ln/>
        </p:spPr>
        <p:txBody>
          <a:bodyPr wrap="square" lIns="0" tIns="0" rIns="0" bIns="0"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44" name="Text 42"/>
          <p:cNvSpPr/>
          <p:nvPr/>
        </p:nvSpPr>
        <p:spPr>
          <a:xfrm>
            <a:off x="7004304" y="3931920"/>
            <a:ext cx="1901952" cy="292608"/>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Polling 30s</a:t>
            </a:r>
            <a:endParaRPr lang="en-US" sz="1200" dirty="0"/>
          </a:p>
        </p:txBody>
      </p:sp>
      <p:sp>
        <p:nvSpPr>
          <p:cNvPr id="45" name="Text 43"/>
          <p:cNvSpPr/>
          <p:nvPr/>
        </p:nvSpPr>
        <p:spPr>
          <a:xfrm>
            <a:off x="7004304" y="4242816"/>
            <a:ext cx="1901952" cy="777240"/>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Page se rafraîchit en arrière-plan toutes les 30 secondes — aucune action requise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SECTION 2 — GUIDE ÉTUDIANT</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Utilisation du Chatbot Interactif</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 Mode guidé &amp; texte libre</a:t>
            </a:r>
            <a:endParaRPr lang="en-US" sz="1100" dirty="0"/>
          </a:p>
        </p:txBody>
      </p:sp>
      <p:sp>
        <p:nvSpPr>
          <p:cNvPr id="6" name="Shape 4"/>
          <p:cNvSpPr/>
          <p:nvPr/>
        </p:nvSpPr>
        <p:spPr>
          <a:xfrm>
            <a:off x="274320" y="1051560"/>
            <a:ext cx="4160520" cy="3794760"/>
          </a:xfrm>
          <a:prstGeom prst="roundRect">
            <a:avLst>
              <a:gd name="adj" fmla="val 3373"/>
            </a:avLst>
          </a:prstGeom>
          <a:solidFill>
            <a:srgbClr val="DBEAFE"/>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7" name="Text 5"/>
          <p:cNvSpPr/>
          <p:nvPr/>
        </p:nvSpPr>
        <p:spPr>
          <a:xfrm>
            <a:off x="411480" y="1124712"/>
            <a:ext cx="3840480" cy="365760"/>
          </a:xfrm>
          <a:prstGeom prst="rect">
            <a:avLst/>
          </a:prstGeom>
          <a:noFill/>
          <a:ln/>
        </p:spPr>
        <p:txBody>
          <a:bodyPr wrap="square" lIns="0" tIns="0" rIns="0" bIns="0" rtlCol="0" anchor="ctr"/>
          <a:lstStyle/>
          <a:p>
            <a:pPr indent="0" marL="0">
              <a:buNone/>
            </a:pPr>
            <a:r>
              <a:rPr lang="en-US" sz="1400" b="1" dirty="0">
                <a:solidFill>
                  <a:srgbClr val="1B4FD8"/>
                </a:solidFill>
                <a:latin typeface="Arial" pitchFamily="34" charset="0"/>
                <a:ea typeface="Arial" pitchFamily="34" charset="-122"/>
                <a:cs typeface="Arial" pitchFamily="34" charset="-120"/>
              </a:rPr>
              <a:t>🖱️  Mode Guidé (Boutons)</a:t>
            </a:r>
            <a:endParaRPr lang="en-US" sz="1400" dirty="0"/>
          </a:p>
        </p:txBody>
      </p:sp>
      <p:sp>
        <p:nvSpPr>
          <p:cNvPr id="8" name="Shape 6"/>
          <p:cNvSpPr/>
          <p:nvPr/>
        </p:nvSpPr>
        <p:spPr>
          <a:xfrm>
            <a:off x="411480" y="1481328"/>
            <a:ext cx="3840480" cy="18288"/>
          </a:xfrm>
          <a:prstGeom prst="rect">
            <a:avLst/>
          </a:prstGeom>
          <a:solidFill>
            <a:srgbClr val="1B4FD8">
              <a:alpha val="40000"/>
            </a:srgbClr>
          </a:solidFill>
          <a:ln w="12700">
            <a:solidFill>
              <a:srgbClr val="1B4FD8"/>
            </a:solidFill>
            <a:prstDash val="solid"/>
          </a:ln>
        </p:spPr>
      </p:sp>
      <p:sp>
        <p:nvSpPr>
          <p:cNvPr id="9" name="Shape 7"/>
          <p:cNvSpPr/>
          <p:nvPr/>
        </p:nvSpPr>
        <p:spPr>
          <a:xfrm>
            <a:off x="411480" y="1572768"/>
            <a:ext cx="329184" cy="329184"/>
          </a:xfrm>
          <a:prstGeom prst="ellipse">
            <a:avLst/>
          </a:prstGeom>
          <a:solidFill>
            <a:srgbClr val="1B4FD8"/>
          </a:solidFill>
          <a:ln w="12700">
            <a:solidFill>
              <a:srgbClr val="1B4FD8"/>
            </a:solidFill>
            <a:prstDash val="solid"/>
          </a:ln>
        </p:spPr>
      </p:sp>
      <p:sp>
        <p:nvSpPr>
          <p:cNvPr id="10" name="Text 8"/>
          <p:cNvSpPr/>
          <p:nvPr/>
        </p:nvSpPr>
        <p:spPr>
          <a:xfrm>
            <a:off x="411480" y="15727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9"/>
          <p:cNvSpPr/>
          <p:nvPr/>
        </p:nvSpPr>
        <p:spPr>
          <a:xfrm>
            <a:off x="822960" y="1591056"/>
            <a:ext cx="3474720" cy="310896"/>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Le bot salue et propose les options d'EDT</a:t>
            </a:r>
            <a:endParaRPr lang="en-US" sz="1100" dirty="0"/>
          </a:p>
        </p:txBody>
      </p:sp>
      <p:sp>
        <p:nvSpPr>
          <p:cNvPr id="12" name="Shape 10"/>
          <p:cNvSpPr/>
          <p:nvPr/>
        </p:nvSpPr>
        <p:spPr>
          <a:xfrm>
            <a:off x="411480" y="2029968"/>
            <a:ext cx="329184" cy="329184"/>
          </a:xfrm>
          <a:prstGeom prst="ellipse">
            <a:avLst/>
          </a:prstGeom>
          <a:solidFill>
            <a:srgbClr val="1B4FD8"/>
          </a:solidFill>
          <a:ln w="12700">
            <a:solidFill>
              <a:srgbClr val="1B4FD8"/>
            </a:solidFill>
            <a:prstDash val="solid"/>
          </a:ln>
        </p:spPr>
      </p:sp>
      <p:sp>
        <p:nvSpPr>
          <p:cNvPr id="13" name="Text 11"/>
          <p:cNvSpPr/>
          <p:nvPr/>
        </p:nvSpPr>
        <p:spPr>
          <a:xfrm>
            <a:off x="411480" y="20299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822960" y="2048256"/>
            <a:ext cx="3474720" cy="310896"/>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Cliquer 📋 Mon EDT semestriel → tous vos cours</a:t>
            </a:r>
            <a:endParaRPr lang="en-US" sz="1100" dirty="0"/>
          </a:p>
        </p:txBody>
      </p:sp>
      <p:sp>
        <p:nvSpPr>
          <p:cNvPr id="15" name="Shape 13"/>
          <p:cNvSpPr/>
          <p:nvPr/>
        </p:nvSpPr>
        <p:spPr>
          <a:xfrm>
            <a:off x="411480" y="2487168"/>
            <a:ext cx="329184" cy="329184"/>
          </a:xfrm>
          <a:prstGeom prst="ellipse">
            <a:avLst/>
          </a:prstGeom>
          <a:solidFill>
            <a:srgbClr val="1B4FD8"/>
          </a:solidFill>
          <a:ln w="12700">
            <a:solidFill>
              <a:srgbClr val="1B4FD8"/>
            </a:solidFill>
            <a:prstDash val="solid"/>
          </a:ln>
        </p:spPr>
      </p:sp>
      <p:sp>
        <p:nvSpPr>
          <p:cNvPr id="16" name="Text 14"/>
          <p:cNvSpPr/>
          <p:nvPr/>
        </p:nvSpPr>
        <p:spPr>
          <a:xfrm>
            <a:off x="411480" y="2487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822960" y="2505456"/>
            <a:ext cx="3474720" cy="310896"/>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Cliquer 📅 Par jour → choisir Lundi, Mardi...</a:t>
            </a:r>
            <a:endParaRPr lang="en-US" sz="1100" dirty="0"/>
          </a:p>
        </p:txBody>
      </p:sp>
      <p:sp>
        <p:nvSpPr>
          <p:cNvPr id="18" name="Shape 16"/>
          <p:cNvSpPr/>
          <p:nvPr/>
        </p:nvSpPr>
        <p:spPr>
          <a:xfrm>
            <a:off x="411480" y="2944368"/>
            <a:ext cx="329184" cy="329184"/>
          </a:xfrm>
          <a:prstGeom prst="ellipse">
            <a:avLst/>
          </a:prstGeom>
          <a:solidFill>
            <a:srgbClr val="1B4FD8"/>
          </a:solidFill>
          <a:ln w="12700">
            <a:solidFill>
              <a:srgbClr val="1B4FD8"/>
            </a:solidFill>
            <a:prstDash val="solid"/>
          </a:ln>
        </p:spPr>
      </p:sp>
      <p:sp>
        <p:nvSpPr>
          <p:cNvPr id="19" name="Text 17"/>
          <p:cNvSpPr/>
          <p:nvPr/>
        </p:nvSpPr>
        <p:spPr>
          <a:xfrm>
            <a:off x="411480" y="2944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822960" y="2962656"/>
            <a:ext cx="3474720" cy="310896"/>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Cliquer 🔔 Alertes horaires → modifs 48h</a:t>
            </a:r>
            <a:endParaRPr lang="en-US" sz="1100" dirty="0"/>
          </a:p>
        </p:txBody>
      </p:sp>
      <p:sp>
        <p:nvSpPr>
          <p:cNvPr id="21" name="Shape 19"/>
          <p:cNvSpPr/>
          <p:nvPr/>
        </p:nvSpPr>
        <p:spPr>
          <a:xfrm>
            <a:off x="411480" y="3401568"/>
            <a:ext cx="329184" cy="329184"/>
          </a:xfrm>
          <a:prstGeom prst="ellipse">
            <a:avLst/>
          </a:prstGeom>
          <a:solidFill>
            <a:srgbClr val="1B4FD8"/>
          </a:solidFill>
          <a:ln w="12700">
            <a:solidFill>
              <a:srgbClr val="1B4FD8"/>
            </a:solidFill>
            <a:prstDash val="solid"/>
          </a:ln>
        </p:spPr>
      </p:sp>
      <p:sp>
        <p:nvSpPr>
          <p:cNvPr id="22" name="Text 20"/>
          <p:cNvSpPr/>
          <p:nvPr/>
        </p:nvSpPr>
        <p:spPr>
          <a:xfrm>
            <a:off x="411480" y="34015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3" name="Text 21"/>
          <p:cNvSpPr/>
          <p:nvPr/>
        </p:nvSpPr>
        <p:spPr>
          <a:xfrm>
            <a:off x="822960" y="3419856"/>
            <a:ext cx="3474720" cy="310896"/>
          </a:xfrm>
          <a:prstGeom prst="rect">
            <a:avLst/>
          </a:prstGeom>
          <a:noFill/>
          <a:ln/>
        </p:spPr>
        <p:txBody>
          <a:bodyPr wrap="square" lIns="0" tIns="0" rIns="0" bIns="0" rtlCol="0" anchor="ctr"/>
          <a:lstStyle/>
          <a:p>
            <a:pPr indent="0" marL="0">
              <a:buNone/>
            </a:pPr>
            <a:r>
              <a:rPr lang="en-US" sz="1100" dirty="0">
                <a:solidFill>
                  <a:srgbClr val="1E293B"/>
                </a:solidFill>
                <a:latin typeface="Arial" pitchFamily="34" charset="0"/>
                <a:ea typeface="Arial" pitchFamily="34" charset="-122"/>
                <a:cs typeface="Arial" pitchFamily="34" charset="-120"/>
              </a:rPr>
              <a:t>Bouton vert PDF → télécharger le planning</a:t>
            </a:r>
            <a:endParaRPr lang="en-US" sz="1100" dirty="0"/>
          </a:p>
        </p:txBody>
      </p:sp>
      <p:sp>
        <p:nvSpPr>
          <p:cNvPr id="24" name="Shape 22"/>
          <p:cNvSpPr/>
          <p:nvPr/>
        </p:nvSpPr>
        <p:spPr>
          <a:xfrm>
            <a:off x="411480" y="3822192"/>
            <a:ext cx="3886200" cy="777240"/>
          </a:xfrm>
          <a:prstGeom prst="roundRect">
            <a:avLst>
              <a:gd name="adj" fmla="val 11765"/>
            </a:avLst>
          </a:prstGeom>
          <a:solidFill>
            <a:srgbClr val="0D1B2A"/>
          </a:solidFill>
          <a:ln w="12700">
            <a:solidFill>
              <a:srgbClr val="0EA5E9"/>
            </a:solidFill>
            <a:prstDash val="solid"/>
          </a:ln>
        </p:spPr>
      </p:sp>
      <p:sp>
        <p:nvSpPr>
          <p:cNvPr id="25" name="Text 23"/>
          <p:cNvSpPr/>
          <p:nvPr/>
        </p:nvSpPr>
        <p:spPr>
          <a:xfrm>
            <a:off x="548640" y="3877056"/>
            <a:ext cx="1371600" cy="274320"/>
          </a:xfrm>
          <a:prstGeom prst="rect">
            <a:avLst/>
          </a:prstGeom>
          <a:noFill/>
          <a:ln/>
        </p:spPr>
        <p:txBody>
          <a:bodyPr wrap="square" lIns="0" tIns="0" rIns="0" bIns="0" rtlCol="0" anchor="ctr"/>
          <a:lstStyle/>
          <a:p>
            <a:pPr indent="0" marL="0">
              <a:buNone/>
            </a:pPr>
            <a:r>
              <a:rPr lang="en-US" sz="1000" b="1" dirty="0">
                <a:solidFill>
                  <a:srgbClr val="0EA5E9"/>
                </a:solidFill>
                <a:latin typeface="Arial" pitchFamily="34" charset="0"/>
                <a:ea typeface="Arial" pitchFamily="34" charset="-122"/>
                <a:cs typeface="Arial" pitchFamily="34" charset="-120"/>
              </a:rPr>
              <a:t>💬 Chatbot:</a:t>
            </a:r>
            <a:endParaRPr lang="en-US" sz="1000" dirty="0"/>
          </a:p>
        </p:txBody>
      </p:sp>
      <p:sp>
        <p:nvSpPr>
          <p:cNvPr id="26" name="Text 24"/>
          <p:cNvSpPr/>
          <p:nvPr/>
        </p:nvSpPr>
        <p:spPr>
          <a:xfrm>
            <a:off x="548640" y="4151376"/>
            <a:ext cx="347472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Bonjour ! Que souhaitez-vous faire ?</a:t>
            </a:r>
            <a:endParaRPr lang="en-US" sz="1000" dirty="0"/>
          </a:p>
        </p:txBody>
      </p:sp>
      <p:sp>
        <p:nvSpPr>
          <p:cNvPr id="27" name="Shape 25"/>
          <p:cNvSpPr/>
          <p:nvPr/>
        </p:nvSpPr>
        <p:spPr>
          <a:xfrm>
            <a:off x="4709160" y="1051560"/>
            <a:ext cx="4160520" cy="3794760"/>
          </a:xfrm>
          <a:prstGeom prst="roundRect">
            <a:avLst>
              <a:gd name="adj" fmla="val 3373"/>
            </a:avLst>
          </a:prstGeom>
          <a:solidFill>
            <a:srgbClr val="D1FAE5"/>
          </a:solidFill>
          <a:ln w="19050">
            <a:solidFill>
              <a:srgbClr val="10B981"/>
            </a:solidFill>
            <a:prstDash val="solid"/>
          </a:ln>
          <a:effectLst>
            <a:outerShdw sx="100000" sy="100000" kx="0" ky="0" algn="bl" rotWithShape="0" blurRad="88900" dist="25400" dir="2700000">
              <a:srgbClr val="000000">
                <a:alpha val="13000"/>
              </a:srgbClr>
            </a:outerShdw>
          </a:effectLst>
        </p:spPr>
      </p:sp>
      <p:sp>
        <p:nvSpPr>
          <p:cNvPr id="28" name="Text 26"/>
          <p:cNvSpPr/>
          <p:nvPr/>
        </p:nvSpPr>
        <p:spPr>
          <a:xfrm>
            <a:off x="4846320" y="1124712"/>
            <a:ext cx="3840480" cy="365760"/>
          </a:xfrm>
          <a:prstGeom prst="rect">
            <a:avLst/>
          </a:prstGeom>
          <a:noFill/>
          <a:ln/>
        </p:spPr>
        <p:txBody>
          <a:bodyPr wrap="square" lIns="0" tIns="0" rIns="0" bIns="0" rtlCol="0" anchor="ctr"/>
          <a:lstStyle/>
          <a:p>
            <a:pPr indent="0" marL="0">
              <a:buNone/>
            </a:pPr>
            <a:r>
              <a:rPr lang="en-US" sz="1400" b="1" dirty="0">
                <a:solidFill>
                  <a:srgbClr val="10B981"/>
                </a:solidFill>
                <a:latin typeface="Arial" pitchFamily="34" charset="0"/>
                <a:ea typeface="Arial" pitchFamily="34" charset="-122"/>
                <a:cs typeface="Arial" pitchFamily="34" charset="-120"/>
              </a:rPr>
              <a:t>⌨️  Mode Libre (Saisie texte)</a:t>
            </a:r>
            <a:endParaRPr lang="en-US" sz="1400" dirty="0"/>
          </a:p>
        </p:txBody>
      </p:sp>
      <p:sp>
        <p:nvSpPr>
          <p:cNvPr id="29" name="Shape 27"/>
          <p:cNvSpPr/>
          <p:nvPr/>
        </p:nvSpPr>
        <p:spPr>
          <a:xfrm>
            <a:off x="4846320" y="1481328"/>
            <a:ext cx="3840480" cy="18288"/>
          </a:xfrm>
          <a:prstGeom prst="rect">
            <a:avLst/>
          </a:prstGeom>
          <a:solidFill>
            <a:srgbClr val="10B981">
              <a:alpha val="40000"/>
            </a:srgbClr>
          </a:solidFill>
          <a:ln w="12700">
            <a:solidFill>
              <a:srgbClr val="10B981"/>
            </a:solidFill>
            <a:prstDash val="solid"/>
          </a:ln>
        </p:spPr>
      </p:sp>
      <p:sp>
        <p:nvSpPr>
          <p:cNvPr id="30" name="Shape 28"/>
          <p:cNvSpPr/>
          <p:nvPr/>
        </p:nvSpPr>
        <p:spPr>
          <a:xfrm>
            <a:off x="4846320" y="1572768"/>
            <a:ext cx="1554480" cy="237744"/>
          </a:xfrm>
          <a:prstGeom prst="roundRect">
            <a:avLst>
              <a:gd name="adj" fmla="val 19231"/>
            </a:avLst>
          </a:prstGeom>
          <a:solidFill>
            <a:srgbClr val="D1FAE5"/>
          </a:solidFill>
          <a:ln w="12700">
            <a:solidFill>
              <a:srgbClr val="10B981"/>
            </a:solidFill>
            <a:prstDash val="solid"/>
          </a:ln>
        </p:spPr>
      </p:sp>
      <p:sp>
        <p:nvSpPr>
          <p:cNvPr id="31" name="Text 29"/>
          <p:cNvSpPr/>
          <p:nvPr/>
        </p:nvSpPr>
        <p:spPr>
          <a:xfrm>
            <a:off x="4846320" y="1572768"/>
            <a:ext cx="1554480" cy="237744"/>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edt / planning / cours</a:t>
            </a:r>
            <a:endParaRPr lang="en-US" sz="850" dirty="0"/>
          </a:p>
        </p:txBody>
      </p:sp>
      <p:sp>
        <p:nvSpPr>
          <p:cNvPr id="32" name="Text 30"/>
          <p:cNvSpPr/>
          <p:nvPr/>
        </p:nvSpPr>
        <p:spPr>
          <a:xfrm>
            <a:off x="6473952" y="1581912"/>
            <a:ext cx="2286000" cy="21945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  Consulter l'emploi du temps</a:t>
            </a:r>
            <a:endParaRPr lang="en-US" sz="950" dirty="0"/>
          </a:p>
        </p:txBody>
      </p:sp>
      <p:sp>
        <p:nvSpPr>
          <p:cNvPr id="33" name="Shape 31"/>
          <p:cNvSpPr/>
          <p:nvPr/>
        </p:nvSpPr>
        <p:spPr>
          <a:xfrm>
            <a:off x="4846320" y="1847088"/>
            <a:ext cx="1554480" cy="237744"/>
          </a:xfrm>
          <a:prstGeom prst="roundRect">
            <a:avLst>
              <a:gd name="adj" fmla="val 19231"/>
            </a:avLst>
          </a:prstGeom>
          <a:solidFill>
            <a:srgbClr val="D1FAE5"/>
          </a:solidFill>
          <a:ln w="12700">
            <a:solidFill>
              <a:srgbClr val="10B981"/>
            </a:solidFill>
            <a:prstDash val="solid"/>
          </a:ln>
        </p:spPr>
      </p:sp>
      <p:sp>
        <p:nvSpPr>
          <p:cNvPr id="34" name="Text 32"/>
          <p:cNvSpPr/>
          <p:nvPr/>
        </p:nvSpPr>
        <p:spPr>
          <a:xfrm>
            <a:off x="4846320" y="1847088"/>
            <a:ext cx="1554480" cy="237744"/>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lundi / mardi / mercredi...</a:t>
            </a:r>
            <a:endParaRPr lang="en-US" sz="850" dirty="0"/>
          </a:p>
        </p:txBody>
      </p:sp>
      <p:sp>
        <p:nvSpPr>
          <p:cNvPr id="35" name="Text 33"/>
          <p:cNvSpPr/>
          <p:nvPr/>
        </p:nvSpPr>
        <p:spPr>
          <a:xfrm>
            <a:off x="6473952" y="1856232"/>
            <a:ext cx="2286000" cy="21945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  EDT d'un jour précis</a:t>
            </a:r>
            <a:endParaRPr lang="en-US" sz="950" dirty="0"/>
          </a:p>
        </p:txBody>
      </p:sp>
      <p:sp>
        <p:nvSpPr>
          <p:cNvPr id="36" name="Shape 34"/>
          <p:cNvSpPr/>
          <p:nvPr/>
        </p:nvSpPr>
        <p:spPr>
          <a:xfrm>
            <a:off x="4846320" y="2121408"/>
            <a:ext cx="1554480" cy="237744"/>
          </a:xfrm>
          <a:prstGeom prst="roundRect">
            <a:avLst>
              <a:gd name="adj" fmla="val 19231"/>
            </a:avLst>
          </a:prstGeom>
          <a:solidFill>
            <a:srgbClr val="D1FAE5"/>
          </a:solidFill>
          <a:ln w="12700">
            <a:solidFill>
              <a:srgbClr val="10B981"/>
            </a:solidFill>
            <a:prstDash val="solid"/>
          </a:ln>
        </p:spPr>
      </p:sp>
      <p:sp>
        <p:nvSpPr>
          <p:cNvPr id="37" name="Text 35"/>
          <p:cNvSpPr/>
          <p:nvPr/>
        </p:nvSpPr>
        <p:spPr>
          <a:xfrm>
            <a:off x="4846320" y="2121408"/>
            <a:ext cx="1554480" cy="237744"/>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alertes / modif</a:t>
            </a:r>
            <a:endParaRPr lang="en-US" sz="850" dirty="0"/>
          </a:p>
        </p:txBody>
      </p:sp>
      <p:sp>
        <p:nvSpPr>
          <p:cNvPr id="38" name="Text 36"/>
          <p:cNvSpPr/>
          <p:nvPr/>
        </p:nvSpPr>
        <p:spPr>
          <a:xfrm>
            <a:off x="6473952" y="2130552"/>
            <a:ext cx="2286000" cy="21945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  Modifications des 48h</a:t>
            </a:r>
            <a:endParaRPr lang="en-US" sz="950" dirty="0"/>
          </a:p>
        </p:txBody>
      </p:sp>
      <p:sp>
        <p:nvSpPr>
          <p:cNvPr id="39" name="Shape 37"/>
          <p:cNvSpPr/>
          <p:nvPr/>
        </p:nvSpPr>
        <p:spPr>
          <a:xfrm>
            <a:off x="4846320" y="2395728"/>
            <a:ext cx="1554480" cy="237744"/>
          </a:xfrm>
          <a:prstGeom prst="roundRect">
            <a:avLst>
              <a:gd name="adj" fmla="val 19231"/>
            </a:avLst>
          </a:prstGeom>
          <a:solidFill>
            <a:srgbClr val="D1FAE5"/>
          </a:solidFill>
          <a:ln w="12700">
            <a:solidFill>
              <a:srgbClr val="10B981"/>
            </a:solidFill>
            <a:prstDash val="solid"/>
          </a:ln>
        </p:spPr>
      </p:sp>
      <p:sp>
        <p:nvSpPr>
          <p:cNvPr id="40" name="Text 38"/>
          <p:cNvSpPr/>
          <p:nvPr/>
        </p:nvSpPr>
        <p:spPr>
          <a:xfrm>
            <a:off x="4846320" y="2395728"/>
            <a:ext cx="1554480" cy="237744"/>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prof / enseignant</a:t>
            </a:r>
            <a:endParaRPr lang="en-US" sz="850" dirty="0"/>
          </a:p>
        </p:txBody>
      </p:sp>
      <p:sp>
        <p:nvSpPr>
          <p:cNvPr id="41" name="Text 39"/>
          <p:cNvSpPr/>
          <p:nvPr/>
        </p:nvSpPr>
        <p:spPr>
          <a:xfrm>
            <a:off x="6473952" y="2404872"/>
            <a:ext cx="2286000" cy="21945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  Planning d'un professeur</a:t>
            </a:r>
            <a:endParaRPr lang="en-US" sz="950" dirty="0"/>
          </a:p>
        </p:txBody>
      </p:sp>
      <p:sp>
        <p:nvSpPr>
          <p:cNvPr id="42" name="Shape 40"/>
          <p:cNvSpPr/>
          <p:nvPr/>
        </p:nvSpPr>
        <p:spPr>
          <a:xfrm>
            <a:off x="4846320" y="2670048"/>
            <a:ext cx="1554480" cy="237744"/>
          </a:xfrm>
          <a:prstGeom prst="roundRect">
            <a:avLst>
              <a:gd name="adj" fmla="val 19231"/>
            </a:avLst>
          </a:prstGeom>
          <a:solidFill>
            <a:srgbClr val="D1FAE5"/>
          </a:solidFill>
          <a:ln w="12700">
            <a:solidFill>
              <a:srgbClr val="10B981"/>
            </a:solidFill>
            <a:prstDash val="solid"/>
          </a:ln>
        </p:spPr>
      </p:sp>
      <p:sp>
        <p:nvSpPr>
          <p:cNvPr id="43" name="Text 41"/>
          <p:cNvSpPr/>
          <p:nvPr/>
        </p:nvSpPr>
        <p:spPr>
          <a:xfrm>
            <a:off x="4846320" y="2670048"/>
            <a:ext cx="1554480" cy="237744"/>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semaine</a:t>
            </a:r>
            <a:endParaRPr lang="en-US" sz="850" dirty="0"/>
          </a:p>
        </p:txBody>
      </p:sp>
      <p:sp>
        <p:nvSpPr>
          <p:cNvPr id="44" name="Text 42"/>
          <p:cNvSpPr/>
          <p:nvPr/>
        </p:nvSpPr>
        <p:spPr>
          <a:xfrm>
            <a:off x="6473952" y="2679192"/>
            <a:ext cx="2286000" cy="21945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  Planning complet semaine</a:t>
            </a:r>
            <a:endParaRPr lang="en-US" sz="950" dirty="0"/>
          </a:p>
        </p:txBody>
      </p:sp>
      <p:sp>
        <p:nvSpPr>
          <p:cNvPr id="45" name="Shape 43"/>
          <p:cNvSpPr/>
          <p:nvPr/>
        </p:nvSpPr>
        <p:spPr>
          <a:xfrm>
            <a:off x="4846320" y="2944368"/>
            <a:ext cx="1554480" cy="237744"/>
          </a:xfrm>
          <a:prstGeom prst="roundRect">
            <a:avLst>
              <a:gd name="adj" fmla="val 19231"/>
            </a:avLst>
          </a:prstGeom>
          <a:solidFill>
            <a:srgbClr val="D1FAE5"/>
          </a:solidFill>
          <a:ln w="12700">
            <a:solidFill>
              <a:srgbClr val="10B981"/>
            </a:solidFill>
            <a:prstDash val="solid"/>
          </a:ln>
        </p:spPr>
      </p:sp>
      <p:sp>
        <p:nvSpPr>
          <p:cNvPr id="46" name="Text 44"/>
          <p:cNvSpPr/>
          <p:nvPr/>
        </p:nvSpPr>
        <p:spPr>
          <a:xfrm>
            <a:off x="4846320" y="2944368"/>
            <a:ext cx="1554480" cy="237744"/>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pdf / télécharger</a:t>
            </a:r>
            <a:endParaRPr lang="en-US" sz="850" dirty="0"/>
          </a:p>
        </p:txBody>
      </p:sp>
      <p:sp>
        <p:nvSpPr>
          <p:cNvPr id="47" name="Text 45"/>
          <p:cNvSpPr/>
          <p:nvPr/>
        </p:nvSpPr>
        <p:spPr>
          <a:xfrm>
            <a:off x="6473952" y="2953512"/>
            <a:ext cx="2286000" cy="21945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  Générer le PDF</a:t>
            </a:r>
            <a:endParaRPr lang="en-US" sz="950" dirty="0"/>
          </a:p>
        </p:txBody>
      </p:sp>
      <p:sp>
        <p:nvSpPr>
          <p:cNvPr id="48" name="Shape 46"/>
          <p:cNvSpPr/>
          <p:nvPr/>
        </p:nvSpPr>
        <p:spPr>
          <a:xfrm>
            <a:off x="4846320" y="3218688"/>
            <a:ext cx="1554480" cy="237744"/>
          </a:xfrm>
          <a:prstGeom prst="roundRect">
            <a:avLst>
              <a:gd name="adj" fmla="val 19231"/>
            </a:avLst>
          </a:prstGeom>
          <a:solidFill>
            <a:srgbClr val="D1FAE5"/>
          </a:solidFill>
          <a:ln w="12700">
            <a:solidFill>
              <a:srgbClr val="10B981"/>
            </a:solidFill>
            <a:prstDash val="solid"/>
          </a:ln>
        </p:spPr>
      </p:sp>
      <p:sp>
        <p:nvSpPr>
          <p:cNvPr id="49" name="Text 47"/>
          <p:cNvSpPr/>
          <p:nvPr/>
        </p:nvSpPr>
        <p:spPr>
          <a:xfrm>
            <a:off x="4846320" y="3218688"/>
            <a:ext cx="1554480" cy="237744"/>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aide / menu</a:t>
            </a:r>
            <a:endParaRPr lang="en-US" sz="850" dirty="0"/>
          </a:p>
        </p:txBody>
      </p:sp>
      <p:sp>
        <p:nvSpPr>
          <p:cNvPr id="50" name="Text 48"/>
          <p:cNvSpPr/>
          <p:nvPr/>
        </p:nvSpPr>
        <p:spPr>
          <a:xfrm>
            <a:off x="6473952" y="3227832"/>
            <a:ext cx="2286000" cy="21945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  Afficher les options</a:t>
            </a:r>
            <a:endParaRPr lang="en-US" sz="950" dirty="0"/>
          </a:p>
        </p:txBody>
      </p:sp>
      <p:sp>
        <p:nvSpPr>
          <p:cNvPr id="51" name="Shape 49"/>
          <p:cNvSpPr/>
          <p:nvPr/>
        </p:nvSpPr>
        <p:spPr>
          <a:xfrm>
            <a:off x="4846320" y="3493008"/>
            <a:ext cx="1554480" cy="237744"/>
          </a:xfrm>
          <a:prstGeom prst="roundRect">
            <a:avLst>
              <a:gd name="adj" fmla="val 19231"/>
            </a:avLst>
          </a:prstGeom>
          <a:solidFill>
            <a:srgbClr val="D1FAE5"/>
          </a:solidFill>
          <a:ln w="12700">
            <a:solidFill>
              <a:srgbClr val="10B981"/>
            </a:solidFill>
            <a:prstDash val="solid"/>
          </a:ln>
        </p:spPr>
      </p:sp>
      <p:sp>
        <p:nvSpPr>
          <p:cNvPr id="52" name="Text 50"/>
          <p:cNvSpPr/>
          <p:nvPr/>
        </p:nvSpPr>
        <p:spPr>
          <a:xfrm>
            <a:off x="4846320" y="3493008"/>
            <a:ext cx="1554480" cy="237744"/>
          </a:xfrm>
          <a:prstGeom prst="rect">
            <a:avLst/>
          </a:prstGeom>
          <a:noFill/>
          <a:ln/>
        </p:spPr>
        <p:txBody>
          <a:bodyPr wrap="square" lIns="0" tIns="0" rIns="0" bIns="0"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bonjour / salut</a:t>
            </a:r>
            <a:endParaRPr lang="en-US" sz="850" dirty="0"/>
          </a:p>
        </p:txBody>
      </p:sp>
      <p:sp>
        <p:nvSpPr>
          <p:cNvPr id="53" name="Text 51"/>
          <p:cNvSpPr/>
          <p:nvPr/>
        </p:nvSpPr>
        <p:spPr>
          <a:xfrm>
            <a:off x="6473952" y="3502152"/>
            <a:ext cx="2286000" cy="21945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  Salutation + menu accueil</a:t>
            </a:r>
            <a:endParaRPr lang="en-US" sz="950" dirty="0"/>
          </a:p>
        </p:txBody>
      </p:sp>
      <p:sp>
        <p:nvSpPr>
          <p:cNvPr id="54" name="Shape 52"/>
          <p:cNvSpPr/>
          <p:nvPr/>
        </p:nvSpPr>
        <p:spPr>
          <a:xfrm>
            <a:off x="4846320" y="3822192"/>
            <a:ext cx="3886200" cy="777240"/>
          </a:xfrm>
          <a:prstGeom prst="roundRect">
            <a:avLst>
              <a:gd name="adj" fmla="val 11765"/>
            </a:avLst>
          </a:prstGeom>
          <a:solidFill>
            <a:srgbClr val="0D1B2A"/>
          </a:solidFill>
          <a:ln w="12700">
            <a:solidFill>
              <a:srgbClr val="10B981"/>
            </a:solidFill>
            <a:prstDash val="solid"/>
          </a:ln>
        </p:spPr>
      </p:sp>
      <p:sp>
        <p:nvSpPr>
          <p:cNvPr id="55" name="Text 53"/>
          <p:cNvSpPr/>
          <p:nvPr/>
        </p:nvSpPr>
        <p:spPr>
          <a:xfrm>
            <a:off x="4983480" y="3877056"/>
            <a:ext cx="1828800" cy="274320"/>
          </a:xfrm>
          <a:prstGeom prst="rect">
            <a:avLst/>
          </a:prstGeom>
          <a:noFill/>
          <a:ln/>
        </p:spPr>
        <p:txBody>
          <a:bodyPr wrap="square" lIns="0" tIns="0" rIns="0" bIns="0" rtlCol="0" anchor="ctr"/>
          <a:lstStyle/>
          <a:p>
            <a:pPr indent="0" marL="0">
              <a:buNone/>
            </a:pPr>
            <a:r>
              <a:rPr lang="en-US" sz="1000" b="1" dirty="0">
                <a:solidFill>
                  <a:srgbClr val="10B981"/>
                </a:solidFill>
                <a:latin typeface="Arial" pitchFamily="34" charset="0"/>
                <a:ea typeface="Arial" pitchFamily="34" charset="-122"/>
                <a:cs typeface="Arial" pitchFamily="34" charset="-120"/>
              </a:rPr>
              <a:t>💬 Vous tapez:</a:t>
            </a:r>
            <a:endParaRPr lang="en-US" sz="1000" dirty="0"/>
          </a:p>
        </p:txBody>
      </p:sp>
      <p:sp>
        <p:nvSpPr>
          <p:cNvPr id="56" name="Text 54"/>
          <p:cNvSpPr/>
          <p:nvPr/>
        </p:nvSpPr>
        <p:spPr>
          <a:xfrm>
            <a:off x="4983480" y="4151376"/>
            <a:ext cx="3566160" cy="27432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"lundi" → Affiche automatiquement vos cours du lundi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SECTION 3 — GUIDE ENSEIGNANT</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Consulter ses cours &amp; Déclarer une modification</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 Rôle : prof</a:t>
            </a:r>
            <a:endParaRPr lang="en-US" sz="1100" dirty="0"/>
          </a:p>
        </p:txBody>
      </p:sp>
      <p:sp>
        <p:nvSpPr>
          <p:cNvPr id="6" name="Shape 4"/>
          <p:cNvSpPr/>
          <p:nvPr/>
        </p:nvSpPr>
        <p:spPr>
          <a:xfrm>
            <a:off x="274320" y="1051560"/>
            <a:ext cx="4160520" cy="3703320"/>
          </a:xfrm>
          <a:prstGeom prst="roundRect">
            <a:avLst>
              <a:gd name="adj" fmla="val 3457"/>
            </a:avLst>
          </a:prstGeom>
          <a:solidFill>
            <a:srgbClr val="D1FAE5"/>
          </a:solidFill>
          <a:ln w="19050">
            <a:solidFill>
              <a:srgbClr val="10B981"/>
            </a:solidFill>
            <a:prstDash val="solid"/>
          </a:ln>
          <a:effectLst>
            <a:outerShdw sx="100000" sy="100000" kx="0" ky="0" algn="bl" rotWithShape="0" blurRad="88900" dist="25400" dir="2700000">
              <a:srgbClr val="000000">
                <a:alpha val="13000"/>
              </a:srgbClr>
            </a:outerShdw>
          </a:effectLst>
        </p:spPr>
      </p:sp>
      <p:sp>
        <p:nvSpPr>
          <p:cNvPr id="7" name="Text 5"/>
          <p:cNvSpPr/>
          <p:nvPr/>
        </p:nvSpPr>
        <p:spPr>
          <a:xfrm>
            <a:off x="411480" y="1115568"/>
            <a:ext cx="3886200" cy="365760"/>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  Dashboard Enseignant — /professor/cours</a:t>
            </a:r>
            <a:endParaRPr lang="en-US" sz="1200" dirty="0"/>
          </a:p>
        </p:txBody>
      </p:sp>
      <p:sp>
        <p:nvSpPr>
          <p:cNvPr id="8" name="Shape 6"/>
          <p:cNvSpPr/>
          <p:nvPr/>
        </p:nvSpPr>
        <p:spPr>
          <a:xfrm>
            <a:off x="384048" y="1572768"/>
            <a:ext cx="3913632" cy="658368"/>
          </a:xfrm>
          <a:prstGeom prst="roundRect">
            <a:avLst>
              <a:gd name="adj" fmla="val 11111"/>
            </a:avLst>
          </a:prstGeom>
          <a:solidFill>
            <a:srgbClr val="FFFFFF"/>
          </a:solidFill>
          <a:ln w="12700">
            <a:solidFill>
              <a:srgbClr val="CBD5E1"/>
            </a:solidFill>
            <a:prstDash val="solid"/>
          </a:ln>
          <a:effectLst>
            <a:outerShdw sx="100000" sy="100000" kx="0" ky="0" algn="bl" rotWithShape="0" blurRad="88900" dist="25400" dir="2700000">
              <a:srgbClr val="000000">
                <a:alpha val="13000"/>
              </a:srgbClr>
            </a:outerShdw>
          </a:effectLst>
        </p:spPr>
      </p:sp>
      <p:sp>
        <p:nvSpPr>
          <p:cNvPr id="9" name="Shape 7"/>
          <p:cNvSpPr/>
          <p:nvPr/>
        </p:nvSpPr>
        <p:spPr>
          <a:xfrm>
            <a:off x="384048" y="1572768"/>
            <a:ext cx="548640" cy="658368"/>
          </a:xfrm>
          <a:prstGeom prst="roundRect">
            <a:avLst>
              <a:gd name="adj" fmla="val 13333"/>
            </a:avLst>
          </a:prstGeom>
          <a:solidFill>
            <a:srgbClr val="10B981"/>
          </a:solidFill>
          <a:ln w="12700">
            <a:solidFill>
              <a:srgbClr val="10B981"/>
            </a:solidFill>
            <a:prstDash val="solid"/>
          </a:ln>
        </p:spPr>
      </p:sp>
      <p:sp>
        <p:nvSpPr>
          <p:cNvPr id="10" name="Text 8"/>
          <p:cNvSpPr/>
          <p:nvPr/>
        </p:nvSpPr>
        <p:spPr>
          <a:xfrm>
            <a:off x="384048" y="1572768"/>
            <a:ext cx="54864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Lun</a:t>
            </a:r>
            <a:endParaRPr lang="en-US" sz="1000" dirty="0"/>
          </a:p>
        </p:txBody>
      </p:sp>
      <p:sp>
        <p:nvSpPr>
          <p:cNvPr id="11" name="Text 9"/>
          <p:cNvSpPr/>
          <p:nvPr/>
        </p:nvSpPr>
        <p:spPr>
          <a:xfrm>
            <a:off x="1005840" y="1609344"/>
            <a:ext cx="2286000" cy="274320"/>
          </a:xfrm>
          <a:prstGeom prst="rect">
            <a:avLst/>
          </a:prstGeom>
          <a:noFill/>
          <a:ln/>
        </p:spPr>
        <p:txBody>
          <a:bodyPr wrap="square" lIns="0" tIns="0" rIns="0" bIns="0" rtlCol="0" anchor="ctr"/>
          <a:lstStyle/>
          <a:p>
            <a:pPr indent="0" marL="0">
              <a:buNone/>
            </a:pPr>
            <a:r>
              <a:rPr lang="en-US" sz="1100" b="1" dirty="0">
                <a:solidFill>
                  <a:srgbClr val="0D1B2A"/>
                </a:solidFill>
                <a:latin typeface="Arial" pitchFamily="34" charset="0"/>
                <a:ea typeface="Arial" pitchFamily="34" charset="-122"/>
                <a:cs typeface="Arial" pitchFamily="34" charset="-120"/>
              </a:rPr>
              <a:t>BDD — L2 NTIC</a:t>
            </a:r>
            <a:endParaRPr lang="en-US" sz="1100" dirty="0"/>
          </a:p>
        </p:txBody>
      </p:sp>
      <p:sp>
        <p:nvSpPr>
          <p:cNvPr id="12" name="Text 10"/>
          <p:cNvSpPr/>
          <p:nvPr/>
        </p:nvSpPr>
        <p:spPr>
          <a:xfrm>
            <a:off x="1005840" y="1865376"/>
            <a:ext cx="201168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08:30 | Salle A</a:t>
            </a:r>
            <a:endParaRPr lang="en-US" sz="1000" dirty="0"/>
          </a:p>
        </p:txBody>
      </p:sp>
      <p:sp>
        <p:nvSpPr>
          <p:cNvPr id="13" name="Shape 11"/>
          <p:cNvSpPr/>
          <p:nvPr/>
        </p:nvSpPr>
        <p:spPr>
          <a:xfrm>
            <a:off x="3310128" y="1664208"/>
            <a:ext cx="841248" cy="402336"/>
          </a:xfrm>
          <a:prstGeom prst="roundRect">
            <a:avLst>
              <a:gd name="adj" fmla="val 13636"/>
            </a:avLst>
          </a:prstGeom>
          <a:solidFill>
            <a:srgbClr val="FEF3C7"/>
          </a:solidFill>
          <a:ln w="12700">
            <a:solidFill>
              <a:srgbClr val="F59E0B"/>
            </a:solidFill>
            <a:prstDash val="solid"/>
          </a:ln>
        </p:spPr>
      </p:sp>
      <p:sp>
        <p:nvSpPr>
          <p:cNvPr id="14" name="Text 12"/>
          <p:cNvSpPr/>
          <p:nvPr/>
        </p:nvSpPr>
        <p:spPr>
          <a:xfrm>
            <a:off x="3310128" y="1664208"/>
            <a:ext cx="841248" cy="402336"/>
          </a:xfrm>
          <a:prstGeom prst="rect">
            <a:avLst/>
          </a:prstGeom>
          <a:noFill/>
          <a:ln/>
        </p:spPr>
        <p:txBody>
          <a:bodyPr wrap="square" lIns="0" tIns="0" rIns="0" bIns="0"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 Modifier</a:t>
            </a:r>
            <a:endParaRPr lang="en-US" sz="900" dirty="0"/>
          </a:p>
        </p:txBody>
      </p:sp>
      <p:sp>
        <p:nvSpPr>
          <p:cNvPr id="15" name="Shape 13"/>
          <p:cNvSpPr/>
          <p:nvPr/>
        </p:nvSpPr>
        <p:spPr>
          <a:xfrm>
            <a:off x="384048" y="2350008"/>
            <a:ext cx="3913632" cy="658368"/>
          </a:xfrm>
          <a:prstGeom prst="roundRect">
            <a:avLst>
              <a:gd name="adj" fmla="val 11111"/>
            </a:avLst>
          </a:prstGeom>
          <a:solidFill>
            <a:srgbClr val="FFFFFF"/>
          </a:solidFill>
          <a:ln w="12700">
            <a:solidFill>
              <a:srgbClr val="CBD5E1"/>
            </a:solidFill>
            <a:prstDash val="solid"/>
          </a:ln>
          <a:effectLst>
            <a:outerShdw sx="100000" sy="100000" kx="0" ky="0" algn="bl" rotWithShape="0" blurRad="88900" dist="25400" dir="2700000">
              <a:srgbClr val="000000">
                <a:alpha val="13000"/>
              </a:srgbClr>
            </a:outerShdw>
          </a:effectLst>
        </p:spPr>
      </p:sp>
      <p:sp>
        <p:nvSpPr>
          <p:cNvPr id="16" name="Shape 14"/>
          <p:cNvSpPr/>
          <p:nvPr/>
        </p:nvSpPr>
        <p:spPr>
          <a:xfrm>
            <a:off x="384048" y="2350008"/>
            <a:ext cx="548640" cy="658368"/>
          </a:xfrm>
          <a:prstGeom prst="roundRect">
            <a:avLst>
              <a:gd name="adj" fmla="val 13333"/>
            </a:avLst>
          </a:prstGeom>
          <a:solidFill>
            <a:srgbClr val="10B981"/>
          </a:solidFill>
          <a:ln w="12700">
            <a:solidFill>
              <a:srgbClr val="10B981"/>
            </a:solidFill>
            <a:prstDash val="solid"/>
          </a:ln>
        </p:spPr>
      </p:sp>
      <p:sp>
        <p:nvSpPr>
          <p:cNvPr id="17" name="Text 15"/>
          <p:cNvSpPr/>
          <p:nvPr/>
        </p:nvSpPr>
        <p:spPr>
          <a:xfrm>
            <a:off x="384048" y="2350008"/>
            <a:ext cx="54864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Mar</a:t>
            </a:r>
            <a:endParaRPr lang="en-US" sz="1000" dirty="0"/>
          </a:p>
        </p:txBody>
      </p:sp>
      <p:sp>
        <p:nvSpPr>
          <p:cNvPr id="18" name="Text 16"/>
          <p:cNvSpPr/>
          <p:nvPr/>
        </p:nvSpPr>
        <p:spPr>
          <a:xfrm>
            <a:off x="1005840" y="2386584"/>
            <a:ext cx="2286000" cy="274320"/>
          </a:xfrm>
          <a:prstGeom prst="rect">
            <a:avLst/>
          </a:prstGeom>
          <a:noFill/>
          <a:ln/>
        </p:spPr>
        <p:txBody>
          <a:bodyPr wrap="square" lIns="0" tIns="0" rIns="0" bIns="0" rtlCol="0" anchor="ctr"/>
          <a:lstStyle/>
          <a:p>
            <a:pPr indent="0" marL="0">
              <a:buNone/>
            </a:pPr>
            <a:r>
              <a:rPr lang="en-US" sz="1100" b="1" dirty="0">
                <a:solidFill>
                  <a:srgbClr val="0D1B2A"/>
                </a:solidFill>
                <a:latin typeface="Arial" pitchFamily="34" charset="0"/>
                <a:ea typeface="Arial" pitchFamily="34" charset="-122"/>
                <a:cs typeface="Arial" pitchFamily="34" charset="-120"/>
              </a:rPr>
              <a:t>Réseaux — L3 NTIC</a:t>
            </a:r>
            <a:endParaRPr lang="en-US" sz="1100" dirty="0"/>
          </a:p>
        </p:txBody>
      </p:sp>
      <p:sp>
        <p:nvSpPr>
          <p:cNvPr id="19" name="Text 17"/>
          <p:cNvSpPr/>
          <p:nvPr/>
        </p:nvSpPr>
        <p:spPr>
          <a:xfrm>
            <a:off x="1005840" y="2642616"/>
            <a:ext cx="201168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10:00 | Labo 1</a:t>
            </a:r>
            <a:endParaRPr lang="en-US" sz="1000" dirty="0"/>
          </a:p>
        </p:txBody>
      </p:sp>
      <p:sp>
        <p:nvSpPr>
          <p:cNvPr id="20" name="Shape 18"/>
          <p:cNvSpPr/>
          <p:nvPr/>
        </p:nvSpPr>
        <p:spPr>
          <a:xfrm>
            <a:off x="3310128" y="2441448"/>
            <a:ext cx="841248" cy="402336"/>
          </a:xfrm>
          <a:prstGeom prst="roundRect">
            <a:avLst>
              <a:gd name="adj" fmla="val 13636"/>
            </a:avLst>
          </a:prstGeom>
          <a:solidFill>
            <a:srgbClr val="FEF3C7"/>
          </a:solidFill>
          <a:ln w="12700">
            <a:solidFill>
              <a:srgbClr val="F59E0B"/>
            </a:solidFill>
            <a:prstDash val="solid"/>
          </a:ln>
        </p:spPr>
      </p:sp>
      <p:sp>
        <p:nvSpPr>
          <p:cNvPr id="21" name="Text 19"/>
          <p:cNvSpPr/>
          <p:nvPr/>
        </p:nvSpPr>
        <p:spPr>
          <a:xfrm>
            <a:off x="3310128" y="2441448"/>
            <a:ext cx="841248" cy="402336"/>
          </a:xfrm>
          <a:prstGeom prst="rect">
            <a:avLst/>
          </a:prstGeom>
          <a:noFill/>
          <a:ln/>
        </p:spPr>
        <p:txBody>
          <a:bodyPr wrap="square" lIns="0" tIns="0" rIns="0" bIns="0"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 Modifier</a:t>
            </a:r>
            <a:endParaRPr lang="en-US" sz="900" dirty="0"/>
          </a:p>
        </p:txBody>
      </p:sp>
      <p:sp>
        <p:nvSpPr>
          <p:cNvPr id="22" name="Shape 20"/>
          <p:cNvSpPr/>
          <p:nvPr/>
        </p:nvSpPr>
        <p:spPr>
          <a:xfrm>
            <a:off x="384048" y="3127248"/>
            <a:ext cx="3913632" cy="658368"/>
          </a:xfrm>
          <a:prstGeom prst="roundRect">
            <a:avLst>
              <a:gd name="adj" fmla="val 11111"/>
            </a:avLst>
          </a:prstGeom>
          <a:solidFill>
            <a:srgbClr val="FFFFFF"/>
          </a:solidFill>
          <a:ln w="12700">
            <a:solidFill>
              <a:srgbClr val="CBD5E1"/>
            </a:solidFill>
            <a:prstDash val="solid"/>
          </a:ln>
          <a:effectLst>
            <a:outerShdw sx="100000" sy="100000" kx="0" ky="0" algn="bl" rotWithShape="0" blurRad="88900" dist="25400" dir="2700000">
              <a:srgbClr val="000000">
                <a:alpha val="13000"/>
              </a:srgbClr>
            </a:outerShdw>
          </a:effectLst>
        </p:spPr>
      </p:sp>
      <p:sp>
        <p:nvSpPr>
          <p:cNvPr id="23" name="Shape 21"/>
          <p:cNvSpPr/>
          <p:nvPr/>
        </p:nvSpPr>
        <p:spPr>
          <a:xfrm>
            <a:off x="384048" y="3127248"/>
            <a:ext cx="548640" cy="658368"/>
          </a:xfrm>
          <a:prstGeom prst="roundRect">
            <a:avLst>
              <a:gd name="adj" fmla="val 13333"/>
            </a:avLst>
          </a:prstGeom>
          <a:solidFill>
            <a:srgbClr val="10B981"/>
          </a:solidFill>
          <a:ln w="12700">
            <a:solidFill>
              <a:srgbClr val="10B981"/>
            </a:solidFill>
            <a:prstDash val="solid"/>
          </a:ln>
        </p:spPr>
      </p:sp>
      <p:sp>
        <p:nvSpPr>
          <p:cNvPr id="24" name="Text 22"/>
          <p:cNvSpPr/>
          <p:nvPr/>
        </p:nvSpPr>
        <p:spPr>
          <a:xfrm>
            <a:off x="384048" y="3127248"/>
            <a:ext cx="548640" cy="65836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Jeu</a:t>
            </a:r>
            <a:endParaRPr lang="en-US" sz="1000" dirty="0"/>
          </a:p>
        </p:txBody>
      </p:sp>
      <p:sp>
        <p:nvSpPr>
          <p:cNvPr id="25" name="Text 23"/>
          <p:cNvSpPr/>
          <p:nvPr/>
        </p:nvSpPr>
        <p:spPr>
          <a:xfrm>
            <a:off x="1005840" y="3163824"/>
            <a:ext cx="2286000" cy="274320"/>
          </a:xfrm>
          <a:prstGeom prst="rect">
            <a:avLst/>
          </a:prstGeom>
          <a:noFill/>
          <a:ln/>
        </p:spPr>
        <p:txBody>
          <a:bodyPr wrap="square" lIns="0" tIns="0" rIns="0" bIns="0" rtlCol="0" anchor="ctr"/>
          <a:lstStyle/>
          <a:p>
            <a:pPr indent="0" marL="0">
              <a:buNone/>
            </a:pPr>
            <a:r>
              <a:rPr lang="en-US" sz="1100" b="1" dirty="0">
                <a:solidFill>
                  <a:srgbClr val="0D1B2A"/>
                </a:solidFill>
                <a:latin typeface="Arial" pitchFamily="34" charset="0"/>
                <a:ea typeface="Arial" pitchFamily="34" charset="-122"/>
                <a:cs typeface="Arial" pitchFamily="34" charset="-120"/>
              </a:rPr>
              <a:t>Algo — L1 NTIC</a:t>
            </a:r>
            <a:endParaRPr lang="en-US" sz="1100" dirty="0"/>
          </a:p>
        </p:txBody>
      </p:sp>
      <p:sp>
        <p:nvSpPr>
          <p:cNvPr id="26" name="Text 24"/>
          <p:cNvSpPr/>
          <p:nvPr/>
        </p:nvSpPr>
        <p:spPr>
          <a:xfrm>
            <a:off x="1005840" y="3419856"/>
            <a:ext cx="201168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08:00 | Salle B</a:t>
            </a:r>
            <a:endParaRPr lang="en-US" sz="1000" dirty="0"/>
          </a:p>
        </p:txBody>
      </p:sp>
      <p:sp>
        <p:nvSpPr>
          <p:cNvPr id="27" name="Shape 25"/>
          <p:cNvSpPr/>
          <p:nvPr/>
        </p:nvSpPr>
        <p:spPr>
          <a:xfrm>
            <a:off x="3310128" y="3218688"/>
            <a:ext cx="841248" cy="402336"/>
          </a:xfrm>
          <a:prstGeom prst="roundRect">
            <a:avLst>
              <a:gd name="adj" fmla="val 13636"/>
            </a:avLst>
          </a:prstGeom>
          <a:solidFill>
            <a:srgbClr val="FEF3C7"/>
          </a:solidFill>
          <a:ln w="12700">
            <a:solidFill>
              <a:srgbClr val="F59E0B"/>
            </a:solidFill>
            <a:prstDash val="solid"/>
          </a:ln>
        </p:spPr>
      </p:sp>
      <p:sp>
        <p:nvSpPr>
          <p:cNvPr id="28" name="Text 26"/>
          <p:cNvSpPr/>
          <p:nvPr/>
        </p:nvSpPr>
        <p:spPr>
          <a:xfrm>
            <a:off x="3310128" y="3218688"/>
            <a:ext cx="841248" cy="402336"/>
          </a:xfrm>
          <a:prstGeom prst="rect">
            <a:avLst/>
          </a:prstGeom>
          <a:noFill/>
          <a:ln/>
        </p:spPr>
        <p:txBody>
          <a:bodyPr wrap="square" lIns="0" tIns="0" rIns="0" bIns="0"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 Modifier</a:t>
            </a:r>
            <a:endParaRPr lang="en-US" sz="900" dirty="0"/>
          </a:p>
        </p:txBody>
      </p:sp>
      <p:sp>
        <p:nvSpPr>
          <p:cNvPr id="29" name="Shape 27"/>
          <p:cNvSpPr/>
          <p:nvPr/>
        </p:nvSpPr>
        <p:spPr>
          <a:xfrm>
            <a:off x="384048" y="3931920"/>
            <a:ext cx="3913632" cy="621792"/>
          </a:xfrm>
          <a:prstGeom prst="roundRect">
            <a:avLst>
              <a:gd name="adj" fmla="val 11765"/>
            </a:avLst>
          </a:prstGeom>
          <a:solidFill>
            <a:srgbClr val="EDE9FE"/>
          </a:solidFill>
          <a:ln w="12700">
            <a:solidFill>
              <a:srgbClr val="4C1D95"/>
            </a:solidFill>
            <a:prstDash val="solid"/>
          </a:ln>
        </p:spPr>
      </p:sp>
      <p:sp>
        <p:nvSpPr>
          <p:cNvPr id="30" name="Text 28"/>
          <p:cNvSpPr/>
          <p:nvPr/>
        </p:nvSpPr>
        <p:spPr>
          <a:xfrm>
            <a:off x="502920" y="3968496"/>
            <a:ext cx="3657600" cy="512064"/>
          </a:xfrm>
          <a:prstGeom prst="rect">
            <a:avLst/>
          </a:prstGeom>
          <a:noFill/>
          <a:ln/>
        </p:spPr>
        <p:txBody>
          <a:bodyPr wrap="square" lIns="0" tIns="0" rIns="0" bIns="0" rtlCol="0" anchor="ctr"/>
          <a:lstStyle/>
          <a:p>
            <a:pPr indent="0" marL="0">
              <a:buNone/>
            </a:pPr>
            <a:r>
              <a:rPr lang="en-US" sz="1000" dirty="0">
                <a:solidFill>
                  <a:srgbClr val="4C1D95"/>
                </a:solidFill>
                <a:latin typeface="Arial" pitchFamily="34" charset="0"/>
                <a:ea typeface="Arial" pitchFamily="34" charset="-122"/>
                <a:cs typeface="Arial" pitchFamily="34" charset="-120"/>
              </a:rPr>
              <a:t>🔔  Notification : Vous avez été assigné au cours de</a:t>
            </a:r>
            <a:endParaRPr lang="en-US" sz="1000" dirty="0"/>
          </a:p>
          <a:p>
            <a:pPr indent="0" marL="0">
              <a:buNone/>
            </a:pPr>
            <a:r>
              <a:rPr lang="en-US" sz="1000" dirty="0">
                <a:solidFill>
                  <a:srgbClr val="4C1D95"/>
                </a:solidFill>
                <a:latin typeface="Arial" pitchFamily="34" charset="0"/>
                <a:ea typeface="Arial" pitchFamily="34" charset="-122"/>
                <a:cs typeface="Arial" pitchFamily="34" charset="-120"/>
              </a:rPr>
              <a:t>Base de données — Lundi à 08:30 par le Chef</a:t>
            </a:r>
            <a:endParaRPr lang="en-US" sz="1000" dirty="0"/>
          </a:p>
        </p:txBody>
      </p:sp>
      <p:sp>
        <p:nvSpPr>
          <p:cNvPr id="31" name="Shape 29"/>
          <p:cNvSpPr/>
          <p:nvPr/>
        </p:nvSpPr>
        <p:spPr>
          <a:xfrm>
            <a:off x="4709160" y="1051560"/>
            <a:ext cx="4160520" cy="3703320"/>
          </a:xfrm>
          <a:prstGeom prst="roundRect">
            <a:avLst>
              <a:gd name="adj" fmla="val 3457"/>
            </a:avLst>
          </a:prstGeom>
          <a:solidFill>
            <a:srgbClr val="FEF3C7"/>
          </a:solidFill>
          <a:ln w="19050">
            <a:solidFill>
              <a:srgbClr val="F59E0B"/>
            </a:solidFill>
            <a:prstDash val="solid"/>
          </a:ln>
          <a:effectLst>
            <a:outerShdw sx="100000" sy="100000" kx="0" ky="0" algn="bl" rotWithShape="0" blurRad="88900" dist="25400" dir="2700000">
              <a:srgbClr val="000000">
                <a:alpha val="13000"/>
              </a:srgbClr>
            </a:outerShdw>
          </a:effectLst>
        </p:spPr>
      </p:sp>
      <p:sp>
        <p:nvSpPr>
          <p:cNvPr id="32" name="Text 30"/>
          <p:cNvSpPr/>
          <p:nvPr/>
        </p:nvSpPr>
        <p:spPr>
          <a:xfrm>
            <a:off x="4846320" y="1115568"/>
            <a:ext cx="3840480" cy="365760"/>
          </a:xfrm>
          <a:prstGeom prst="rect">
            <a:avLst/>
          </a:prstGeom>
          <a:noFill/>
          <a:ln/>
        </p:spPr>
        <p:txBody>
          <a:bodyPr wrap="square" lIns="0" tIns="0" rIns="0" bIns="0" rtlCol="0" anchor="ctr"/>
          <a:lstStyle/>
          <a:p>
            <a:pPr indent="0" marL="0">
              <a:buNone/>
            </a:pPr>
            <a:r>
              <a:rPr lang="en-US" sz="1300" b="1" dirty="0">
                <a:solidFill>
                  <a:srgbClr val="F59E0B"/>
                </a:solidFill>
                <a:latin typeface="Arial" pitchFamily="34" charset="0"/>
                <a:ea typeface="Arial" pitchFamily="34" charset="-122"/>
                <a:cs typeface="Arial" pitchFamily="34" charset="-120"/>
              </a:rPr>
              <a:t>✏️  Formulaire de Modification</a:t>
            </a:r>
            <a:endParaRPr lang="en-US" sz="1300" dirty="0"/>
          </a:p>
        </p:txBody>
      </p:sp>
      <p:sp>
        <p:nvSpPr>
          <p:cNvPr id="33" name="Shape 31"/>
          <p:cNvSpPr/>
          <p:nvPr/>
        </p:nvSpPr>
        <p:spPr>
          <a:xfrm>
            <a:off x="4846320" y="1481328"/>
            <a:ext cx="3840480" cy="18288"/>
          </a:xfrm>
          <a:prstGeom prst="rect">
            <a:avLst/>
          </a:prstGeom>
          <a:solidFill>
            <a:srgbClr val="F59E0B">
              <a:alpha val="40000"/>
            </a:srgbClr>
          </a:solidFill>
          <a:ln w="12700">
            <a:solidFill>
              <a:srgbClr val="F59E0B"/>
            </a:solidFill>
            <a:prstDash val="solid"/>
          </a:ln>
        </p:spPr>
      </p:sp>
      <p:sp>
        <p:nvSpPr>
          <p:cNvPr id="34" name="Text 32"/>
          <p:cNvSpPr/>
          <p:nvPr/>
        </p:nvSpPr>
        <p:spPr>
          <a:xfrm>
            <a:off x="4846320" y="1572768"/>
            <a:ext cx="3840480" cy="21945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Nouvelle Salle</a:t>
            </a:r>
            <a:endParaRPr lang="en-US" sz="1050" dirty="0"/>
          </a:p>
        </p:txBody>
      </p:sp>
      <p:sp>
        <p:nvSpPr>
          <p:cNvPr id="35" name="Shape 33"/>
          <p:cNvSpPr/>
          <p:nvPr/>
        </p:nvSpPr>
        <p:spPr>
          <a:xfrm>
            <a:off x="4846320" y="1783080"/>
            <a:ext cx="3840480" cy="256032"/>
          </a:xfrm>
          <a:prstGeom prst="roundRect">
            <a:avLst>
              <a:gd name="adj" fmla="val 17857"/>
            </a:avLst>
          </a:prstGeom>
          <a:solidFill>
            <a:srgbClr val="FFFFFF"/>
          </a:solidFill>
          <a:ln w="12700">
            <a:solidFill>
              <a:srgbClr val="CBD5E1"/>
            </a:solidFill>
            <a:prstDash val="solid"/>
          </a:ln>
        </p:spPr>
      </p:sp>
      <p:sp>
        <p:nvSpPr>
          <p:cNvPr id="36" name="Text 34"/>
          <p:cNvSpPr/>
          <p:nvPr/>
        </p:nvSpPr>
        <p:spPr>
          <a:xfrm>
            <a:off x="4919472" y="1801368"/>
            <a:ext cx="3694176" cy="219456"/>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Ex: Labo 2, Amphi A</a:t>
            </a:r>
            <a:endParaRPr lang="en-US" sz="1000" dirty="0"/>
          </a:p>
        </p:txBody>
      </p:sp>
      <p:sp>
        <p:nvSpPr>
          <p:cNvPr id="37" name="Text 35"/>
          <p:cNvSpPr/>
          <p:nvPr/>
        </p:nvSpPr>
        <p:spPr>
          <a:xfrm>
            <a:off x="4846320" y="2075688"/>
            <a:ext cx="3840480" cy="219456"/>
          </a:xfrm>
          <a:prstGeom prst="rect">
            <a:avLst/>
          </a:prstGeom>
          <a:noFill/>
          <a:ln/>
        </p:spPr>
        <p:txBody>
          <a:bodyPr wrap="square" lIns="0" tIns="0" rIns="0" bIns="0" rtlCol="0" anchor="ctr"/>
          <a:lstStyle/>
          <a:p>
            <a:pPr indent="0" marL="0">
              <a:buNone/>
            </a:pPr>
            <a:r>
              <a:rPr lang="en-US" sz="1050" b="1" dirty="0">
                <a:solidFill>
                  <a:srgbClr val="EF4444"/>
                </a:solidFill>
                <a:latin typeface="Arial" pitchFamily="34" charset="0"/>
                <a:ea typeface="Arial" pitchFamily="34" charset="-122"/>
                <a:cs typeface="Arial" pitchFamily="34" charset="-120"/>
              </a:rPr>
              <a:t>Nouveau Jour *</a:t>
            </a:r>
            <a:endParaRPr lang="en-US" sz="1050" dirty="0"/>
          </a:p>
        </p:txBody>
      </p:sp>
      <p:sp>
        <p:nvSpPr>
          <p:cNvPr id="38" name="Shape 36"/>
          <p:cNvSpPr/>
          <p:nvPr/>
        </p:nvSpPr>
        <p:spPr>
          <a:xfrm>
            <a:off x="4846320" y="2286000"/>
            <a:ext cx="3840480" cy="256032"/>
          </a:xfrm>
          <a:prstGeom prst="roundRect">
            <a:avLst>
              <a:gd name="adj" fmla="val 17857"/>
            </a:avLst>
          </a:prstGeom>
          <a:solidFill>
            <a:srgbClr val="FFFFFF"/>
          </a:solidFill>
          <a:ln w="12700">
            <a:solidFill>
              <a:srgbClr val="CBD5E1"/>
            </a:solidFill>
            <a:prstDash val="solid"/>
          </a:ln>
        </p:spPr>
      </p:sp>
      <p:sp>
        <p:nvSpPr>
          <p:cNvPr id="39" name="Text 37"/>
          <p:cNvSpPr/>
          <p:nvPr/>
        </p:nvSpPr>
        <p:spPr>
          <a:xfrm>
            <a:off x="4919472" y="2304288"/>
            <a:ext cx="3694176" cy="219456"/>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Sélection : Lundi→Vendredi</a:t>
            </a:r>
            <a:endParaRPr lang="en-US" sz="1000" dirty="0"/>
          </a:p>
        </p:txBody>
      </p:sp>
      <p:sp>
        <p:nvSpPr>
          <p:cNvPr id="40" name="Text 38"/>
          <p:cNvSpPr/>
          <p:nvPr/>
        </p:nvSpPr>
        <p:spPr>
          <a:xfrm>
            <a:off x="4846320" y="2578608"/>
            <a:ext cx="3840480" cy="219456"/>
          </a:xfrm>
          <a:prstGeom prst="rect">
            <a:avLst/>
          </a:prstGeom>
          <a:noFill/>
          <a:ln/>
        </p:spPr>
        <p:txBody>
          <a:bodyPr wrap="square" lIns="0" tIns="0" rIns="0" bIns="0" rtlCol="0" anchor="ctr"/>
          <a:lstStyle/>
          <a:p>
            <a:pPr indent="0" marL="0">
              <a:buNone/>
            </a:pPr>
            <a:r>
              <a:rPr lang="en-US" sz="1050" b="1" dirty="0">
                <a:solidFill>
                  <a:srgbClr val="EF4444"/>
                </a:solidFill>
                <a:latin typeface="Arial" pitchFamily="34" charset="0"/>
                <a:ea typeface="Arial" pitchFamily="34" charset="-122"/>
                <a:cs typeface="Arial" pitchFamily="34" charset="-120"/>
              </a:rPr>
              <a:t>Nouvelle Heure début *</a:t>
            </a:r>
            <a:endParaRPr lang="en-US" sz="1050" dirty="0"/>
          </a:p>
        </p:txBody>
      </p:sp>
      <p:sp>
        <p:nvSpPr>
          <p:cNvPr id="41" name="Shape 39"/>
          <p:cNvSpPr/>
          <p:nvPr/>
        </p:nvSpPr>
        <p:spPr>
          <a:xfrm>
            <a:off x="4846320" y="2788920"/>
            <a:ext cx="3840480" cy="256032"/>
          </a:xfrm>
          <a:prstGeom prst="roundRect">
            <a:avLst>
              <a:gd name="adj" fmla="val 17857"/>
            </a:avLst>
          </a:prstGeom>
          <a:solidFill>
            <a:srgbClr val="FFFFFF"/>
          </a:solidFill>
          <a:ln w="12700">
            <a:solidFill>
              <a:srgbClr val="CBD5E1"/>
            </a:solidFill>
            <a:prstDash val="solid"/>
          </a:ln>
        </p:spPr>
      </p:sp>
      <p:sp>
        <p:nvSpPr>
          <p:cNvPr id="42" name="Text 40"/>
          <p:cNvSpPr/>
          <p:nvPr/>
        </p:nvSpPr>
        <p:spPr>
          <a:xfrm>
            <a:off x="4919472" y="2807208"/>
            <a:ext cx="3694176" cy="219456"/>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Ex: 10:00</a:t>
            </a:r>
            <a:endParaRPr lang="en-US" sz="1000" dirty="0"/>
          </a:p>
        </p:txBody>
      </p:sp>
      <p:sp>
        <p:nvSpPr>
          <p:cNvPr id="43" name="Text 41"/>
          <p:cNvSpPr/>
          <p:nvPr/>
        </p:nvSpPr>
        <p:spPr>
          <a:xfrm>
            <a:off x="4846320" y="3081528"/>
            <a:ext cx="3840480" cy="219456"/>
          </a:xfrm>
          <a:prstGeom prst="rect">
            <a:avLst/>
          </a:prstGeom>
          <a:noFill/>
          <a:ln/>
        </p:spPr>
        <p:txBody>
          <a:bodyPr wrap="square" lIns="0" tIns="0" rIns="0" bIns="0" rtlCol="0" anchor="ctr"/>
          <a:lstStyle/>
          <a:p>
            <a:pPr indent="0" marL="0">
              <a:buNone/>
            </a:pPr>
            <a:r>
              <a:rPr lang="en-US" sz="1050" b="1" dirty="0">
                <a:solidFill>
                  <a:srgbClr val="EF4444"/>
                </a:solidFill>
                <a:latin typeface="Arial" pitchFamily="34" charset="0"/>
                <a:ea typeface="Arial" pitchFamily="34" charset="-122"/>
                <a:cs typeface="Arial" pitchFamily="34" charset="-120"/>
              </a:rPr>
              <a:t>Nouvelle Heure fin *</a:t>
            </a:r>
            <a:endParaRPr lang="en-US" sz="1050" dirty="0"/>
          </a:p>
        </p:txBody>
      </p:sp>
      <p:sp>
        <p:nvSpPr>
          <p:cNvPr id="44" name="Shape 42"/>
          <p:cNvSpPr/>
          <p:nvPr/>
        </p:nvSpPr>
        <p:spPr>
          <a:xfrm>
            <a:off x="4846320" y="3291840"/>
            <a:ext cx="3840480" cy="256032"/>
          </a:xfrm>
          <a:prstGeom prst="roundRect">
            <a:avLst>
              <a:gd name="adj" fmla="val 17857"/>
            </a:avLst>
          </a:prstGeom>
          <a:solidFill>
            <a:srgbClr val="FFFFFF"/>
          </a:solidFill>
          <a:ln w="12700">
            <a:solidFill>
              <a:srgbClr val="CBD5E1"/>
            </a:solidFill>
            <a:prstDash val="solid"/>
          </a:ln>
        </p:spPr>
      </p:sp>
      <p:sp>
        <p:nvSpPr>
          <p:cNvPr id="45" name="Text 43"/>
          <p:cNvSpPr/>
          <p:nvPr/>
        </p:nvSpPr>
        <p:spPr>
          <a:xfrm>
            <a:off x="4919472" y="3310128"/>
            <a:ext cx="3694176" cy="219456"/>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Ex: 12:00</a:t>
            </a:r>
            <a:endParaRPr lang="en-US" sz="1000" dirty="0"/>
          </a:p>
        </p:txBody>
      </p:sp>
      <p:sp>
        <p:nvSpPr>
          <p:cNvPr id="46" name="Text 44"/>
          <p:cNvSpPr/>
          <p:nvPr/>
        </p:nvSpPr>
        <p:spPr>
          <a:xfrm>
            <a:off x="4846320" y="3584448"/>
            <a:ext cx="3840480" cy="219456"/>
          </a:xfrm>
          <a:prstGeom prst="rect">
            <a:avLst/>
          </a:prstGeom>
          <a:noFill/>
          <a:ln/>
        </p:spPr>
        <p:txBody>
          <a:bodyPr wrap="square" lIns="0" tIns="0" rIns="0" bIns="0" rtlCol="0" anchor="ctr"/>
          <a:lstStyle/>
          <a:p>
            <a:pPr indent="0" marL="0">
              <a:buNone/>
            </a:pPr>
            <a:r>
              <a:rPr lang="en-US" sz="1050" b="1" dirty="0">
                <a:solidFill>
                  <a:srgbClr val="EF4444"/>
                </a:solidFill>
                <a:latin typeface="Arial" pitchFamily="34" charset="0"/>
                <a:ea typeface="Arial" pitchFamily="34" charset="-122"/>
                <a:cs typeface="Arial" pitchFamily="34" charset="-120"/>
              </a:rPr>
              <a:t>Motif (obligatoire) *</a:t>
            </a:r>
            <a:endParaRPr lang="en-US" sz="1050" dirty="0"/>
          </a:p>
        </p:txBody>
      </p:sp>
      <p:sp>
        <p:nvSpPr>
          <p:cNvPr id="47" name="Shape 45"/>
          <p:cNvSpPr/>
          <p:nvPr/>
        </p:nvSpPr>
        <p:spPr>
          <a:xfrm>
            <a:off x="4846320" y="3794760"/>
            <a:ext cx="3840480" cy="256032"/>
          </a:xfrm>
          <a:prstGeom prst="roundRect">
            <a:avLst>
              <a:gd name="adj" fmla="val 17857"/>
            </a:avLst>
          </a:prstGeom>
          <a:solidFill>
            <a:srgbClr val="FFFFFF"/>
          </a:solidFill>
          <a:ln w="12700">
            <a:solidFill>
              <a:srgbClr val="CBD5E1"/>
            </a:solidFill>
            <a:prstDash val="solid"/>
          </a:ln>
        </p:spPr>
      </p:sp>
      <p:sp>
        <p:nvSpPr>
          <p:cNvPr id="48" name="Text 46"/>
          <p:cNvSpPr/>
          <p:nvPr/>
        </p:nvSpPr>
        <p:spPr>
          <a:xfrm>
            <a:off x="4919472" y="3813048"/>
            <a:ext cx="3694176" cy="219456"/>
          </a:xfrm>
          <a:prstGeom prst="rect">
            <a:avLst/>
          </a:prstGeom>
          <a:noFill/>
          <a:ln/>
        </p:spPr>
        <p:txBody>
          <a:bodyPr wrap="square" lIns="0" tIns="0" rIns="0" bIns="0" rtlCol="0" anchor="ctr"/>
          <a:lstStyle/>
          <a:p>
            <a:pPr indent="0" marL="0">
              <a:buNone/>
            </a:pPr>
            <a:r>
              <a:rPr lang="en-US" sz="1000" dirty="0">
                <a:solidFill>
                  <a:srgbClr val="94A3B8"/>
                </a:solidFill>
                <a:latin typeface="Arial" pitchFamily="34" charset="0"/>
                <a:ea typeface="Arial" pitchFamily="34" charset="-122"/>
                <a:cs typeface="Arial" pitchFamily="34" charset="-120"/>
              </a:rPr>
              <a:t>'Déplacement professionnel' / 'Salle indispo'</a:t>
            </a:r>
            <a:endParaRPr lang="en-US" sz="1000" dirty="0"/>
          </a:p>
        </p:txBody>
      </p:sp>
      <p:sp>
        <p:nvSpPr>
          <p:cNvPr id="49" name="Shape 47"/>
          <p:cNvSpPr/>
          <p:nvPr/>
        </p:nvSpPr>
        <p:spPr>
          <a:xfrm>
            <a:off x="4846320" y="4133088"/>
            <a:ext cx="3840480" cy="402336"/>
          </a:xfrm>
          <a:prstGeom prst="roundRect">
            <a:avLst>
              <a:gd name="adj" fmla="val 22727"/>
            </a:avLst>
          </a:prstGeom>
          <a:solidFill>
            <a:srgbClr val="10B981"/>
          </a:solidFill>
          <a:ln w="12700">
            <a:solidFill>
              <a:srgbClr val="10B981"/>
            </a:solidFill>
            <a:prstDash val="solid"/>
          </a:ln>
        </p:spPr>
      </p:sp>
      <p:sp>
        <p:nvSpPr>
          <p:cNvPr id="50" name="Text 48"/>
          <p:cNvSpPr/>
          <p:nvPr/>
        </p:nvSpPr>
        <p:spPr>
          <a:xfrm>
            <a:off x="4846320" y="4133088"/>
            <a:ext cx="384048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Enregistrer et notifier les étudiants</a:t>
            </a:r>
            <a:endParaRPr lang="en-US" sz="1200" dirty="0"/>
          </a:p>
        </p:txBody>
      </p:sp>
      <p:sp>
        <p:nvSpPr>
          <p:cNvPr id="51" name="Shape 49"/>
          <p:cNvSpPr/>
          <p:nvPr/>
        </p:nvSpPr>
        <p:spPr>
          <a:xfrm>
            <a:off x="4709160" y="4626864"/>
            <a:ext cx="4160520" cy="457200"/>
          </a:xfrm>
          <a:prstGeom prst="roundRect">
            <a:avLst>
              <a:gd name="adj" fmla="val 16000"/>
            </a:avLst>
          </a:prstGeom>
          <a:solidFill>
            <a:srgbClr val="D1FAE5"/>
          </a:solidFill>
          <a:ln w="12700">
            <a:solidFill>
              <a:srgbClr val="10B981"/>
            </a:solidFill>
            <a:prstDash val="solid"/>
          </a:ln>
        </p:spPr>
      </p:sp>
      <p:sp>
        <p:nvSpPr>
          <p:cNvPr id="52" name="Text 50"/>
          <p:cNvSpPr/>
          <p:nvPr/>
        </p:nvSpPr>
        <p:spPr>
          <a:xfrm>
            <a:off x="4828032" y="4626864"/>
            <a:ext cx="3922776" cy="457200"/>
          </a:xfrm>
          <a:prstGeom prst="rect">
            <a:avLst/>
          </a:prstGeom>
          <a:noFill/>
          <a:ln/>
        </p:spPr>
        <p:txBody>
          <a:bodyPr wrap="square" lIns="0" tIns="0" rIns="0" bIns="0" rtlCol="0" anchor="ctr"/>
          <a:lstStyle/>
          <a:p>
            <a:pPr indent="0" marL="0">
              <a:buNone/>
            </a:pPr>
            <a:r>
              <a:rPr lang="en-US" sz="1000" b="1" dirty="0">
                <a:solidFill>
                  <a:srgbClr val="10B981"/>
                </a:solidFill>
                <a:latin typeface="Arial" pitchFamily="34" charset="0"/>
                <a:ea typeface="Arial" pitchFamily="34" charset="-122"/>
                <a:cs typeface="Arial" pitchFamily="34" charset="-120"/>
              </a:rPr>
              <a:t>⚡  Résultat : Cours mis à jour + Alerte envoyée instantanément aux étudiants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SECTION 4 — GUIDE CHEF (1/2)</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Annonces &amp; Gestion des Référentiels</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 Rôle : chef — /admin/dashboard</a:t>
            </a:r>
            <a:endParaRPr lang="en-US" sz="1100" dirty="0"/>
          </a:p>
        </p:txBody>
      </p:sp>
      <p:sp>
        <p:nvSpPr>
          <p:cNvPr id="6" name="Shape 4"/>
          <p:cNvSpPr/>
          <p:nvPr/>
        </p:nvSpPr>
        <p:spPr>
          <a:xfrm>
            <a:off x="274320" y="1051560"/>
            <a:ext cx="4160520" cy="4069080"/>
          </a:xfrm>
          <a:prstGeom prst="roundRect">
            <a:avLst>
              <a:gd name="adj" fmla="val 3146"/>
            </a:avLst>
          </a:prstGeom>
          <a:solidFill>
            <a:srgbClr val="FEE2E2"/>
          </a:solidFill>
          <a:ln w="19050">
            <a:solidFill>
              <a:srgbClr val="EF4444"/>
            </a:solidFill>
            <a:prstDash val="solid"/>
          </a:ln>
          <a:effectLst>
            <a:outerShdw sx="100000" sy="100000" kx="0" ky="0" algn="bl" rotWithShape="0" blurRad="88900" dist="25400" dir="2700000">
              <a:srgbClr val="000000">
                <a:alpha val="13000"/>
              </a:srgbClr>
            </a:outerShdw>
          </a:effectLst>
        </p:spPr>
      </p:sp>
      <p:sp>
        <p:nvSpPr>
          <p:cNvPr id="7" name="Text 5"/>
          <p:cNvSpPr/>
          <p:nvPr/>
        </p:nvSpPr>
        <p:spPr>
          <a:xfrm>
            <a:off x="411480" y="1115568"/>
            <a:ext cx="3840480" cy="365760"/>
          </a:xfrm>
          <a:prstGeom prst="rect">
            <a:avLst/>
          </a:prstGeom>
          <a:noFill/>
          <a:ln/>
        </p:spPr>
        <p:txBody>
          <a:bodyPr wrap="square" lIns="0" tIns="0" rIns="0" bIns="0" rtlCol="0" anchor="ctr"/>
          <a:lstStyle/>
          <a:p>
            <a:pPr indent="0" marL="0">
              <a:buNone/>
            </a:pPr>
            <a:r>
              <a:rPr lang="en-US" sz="1300" b="1" dirty="0">
                <a:solidFill>
                  <a:srgbClr val="EF4444"/>
                </a:solidFill>
                <a:latin typeface="Arial" pitchFamily="34" charset="0"/>
                <a:ea typeface="Arial" pitchFamily="34" charset="-122"/>
                <a:cs typeface="Arial" pitchFamily="34" charset="-120"/>
              </a:rPr>
              <a:t>📢  4.1 — Publier une Annonce</a:t>
            </a:r>
            <a:endParaRPr lang="en-US" sz="1300" dirty="0"/>
          </a:p>
        </p:txBody>
      </p:sp>
      <p:sp>
        <p:nvSpPr>
          <p:cNvPr id="8" name="Shape 6"/>
          <p:cNvSpPr/>
          <p:nvPr/>
        </p:nvSpPr>
        <p:spPr>
          <a:xfrm>
            <a:off x="411480" y="1463040"/>
            <a:ext cx="3840480" cy="18288"/>
          </a:xfrm>
          <a:prstGeom prst="rect">
            <a:avLst/>
          </a:prstGeom>
          <a:solidFill>
            <a:srgbClr val="EF4444">
              <a:alpha val="40000"/>
            </a:srgbClr>
          </a:solidFill>
          <a:ln w="12700">
            <a:solidFill>
              <a:srgbClr val="EF4444"/>
            </a:solidFill>
            <a:prstDash val="solid"/>
          </a:ln>
        </p:spPr>
      </p:sp>
      <p:sp>
        <p:nvSpPr>
          <p:cNvPr id="9" name="Text 7"/>
          <p:cNvSpPr/>
          <p:nvPr/>
        </p:nvSpPr>
        <p:spPr>
          <a:xfrm>
            <a:off x="411480" y="1536192"/>
            <a:ext cx="1371600" cy="219456"/>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Titre :</a:t>
            </a:r>
            <a:endParaRPr lang="en-US" sz="1000" dirty="0"/>
          </a:p>
        </p:txBody>
      </p:sp>
      <p:sp>
        <p:nvSpPr>
          <p:cNvPr id="10" name="Shape 8"/>
          <p:cNvSpPr/>
          <p:nvPr/>
        </p:nvSpPr>
        <p:spPr>
          <a:xfrm>
            <a:off x="411480" y="1737360"/>
            <a:ext cx="3840480" cy="256032"/>
          </a:xfrm>
          <a:prstGeom prst="roundRect">
            <a:avLst>
              <a:gd name="adj" fmla="val 17857"/>
            </a:avLst>
          </a:prstGeom>
          <a:solidFill>
            <a:srgbClr val="FFFFFF"/>
          </a:solidFill>
          <a:ln w="12700">
            <a:solidFill>
              <a:srgbClr val="CBD5E1"/>
            </a:solidFill>
            <a:prstDash val="solid"/>
          </a:ln>
        </p:spPr>
      </p:sp>
      <p:sp>
        <p:nvSpPr>
          <p:cNvPr id="11" name="Text 9"/>
          <p:cNvSpPr/>
          <p:nvPr/>
        </p:nvSpPr>
        <p:spPr>
          <a:xfrm>
            <a:off x="502920" y="1755648"/>
            <a:ext cx="3657600" cy="219456"/>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Ex: Examen de Réseaux reporté</a:t>
            </a:r>
            <a:endParaRPr lang="en-US" sz="950" dirty="0"/>
          </a:p>
        </p:txBody>
      </p:sp>
      <p:sp>
        <p:nvSpPr>
          <p:cNvPr id="12" name="Text 10"/>
          <p:cNvSpPr/>
          <p:nvPr/>
        </p:nvSpPr>
        <p:spPr>
          <a:xfrm>
            <a:off x="411480" y="1975104"/>
            <a:ext cx="1371600" cy="219456"/>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Message :</a:t>
            </a:r>
            <a:endParaRPr lang="en-US" sz="1000" dirty="0"/>
          </a:p>
        </p:txBody>
      </p:sp>
      <p:sp>
        <p:nvSpPr>
          <p:cNvPr id="13" name="Shape 11"/>
          <p:cNvSpPr/>
          <p:nvPr/>
        </p:nvSpPr>
        <p:spPr>
          <a:xfrm>
            <a:off x="411480" y="2176272"/>
            <a:ext cx="3840480" cy="256032"/>
          </a:xfrm>
          <a:prstGeom prst="roundRect">
            <a:avLst>
              <a:gd name="adj" fmla="val 17857"/>
            </a:avLst>
          </a:prstGeom>
          <a:solidFill>
            <a:srgbClr val="FFFFFF"/>
          </a:solidFill>
          <a:ln w="12700">
            <a:solidFill>
              <a:srgbClr val="CBD5E1"/>
            </a:solidFill>
            <a:prstDash val="solid"/>
          </a:ln>
        </p:spPr>
      </p:sp>
      <p:sp>
        <p:nvSpPr>
          <p:cNvPr id="14" name="Text 12"/>
          <p:cNvSpPr/>
          <p:nvPr/>
        </p:nvSpPr>
        <p:spPr>
          <a:xfrm>
            <a:off x="502920" y="2194560"/>
            <a:ext cx="3657600" cy="219456"/>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Détails de l'annonce...</a:t>
            </a:r>
            <a:endParaRPr lang="en-US" sz="950" dirty="0"/>
          </a:p>
        </p:txBody>
      </p:sp>
      <p:sp>
        <p:nvSpPr>
          <p:cNvPr id="15" name="Text 13"/>
          <p:cNvSpPr/>
          <p:nvPr/>
        </p:nvSpPr>
        <p:spPr>
          <a:xfrm>
            <a:off x="411480" y="2414016"/>
            <a:ext cx="1371600" cy="219456"/>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Type :</a:t>
            </a:r>
            <a:endParaRPr lang="en-US" sz="1000" dirty="0"/>
          </a:p>
        </p:txBody>
      </p:sp>
      <p:sp>
        <p:nvSpPr>
          <p:cNvPr id="16" name="Shape 14"/>
          <p:cNvSpPr/>
          <p:nvPr/>
        </p:nvSpPr>
        <p:spPr>
          <a:xfrm>
            <a:off x="411480" y="2615184"/>
            <a:ext cx="3840480" cy="256032"/>
          </a:xfrm>
          <a:prstGeom prst="roundRect">
            <a:avLst>
              <a:gd name="adj" fmla="val 17857"/>
            </a:avLst>
          </a:prstGeom>
          <a:solidFill>
            <a:srgbClr val="FFFFFF"/>
          </a:solidFill>
          <a:ln w="12700">
            <a:solidFill>
              <a:srgbClr val="CBD5E1"/>
            </a:solidFill>
            <a:prstDash val="solid"/>
          </a:ln>
        </p:spPr>
      </p:sp>
      <p:sp>
        <p:nvSpPr>
          <p:cNvPr id="17" name="Text 15"/>
          <p:cNvSpPr/>
          <p:nvPr/>
        </p:nvSpPr>
        <p:spPr>
          <a:xfrm>
            <a:off x="502920" y="2633472"/>
            <a:ext cx="3657600" cy="219456"/>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Information / Avertissement / Cours annulé / Bonne nouvelle</a:t>
            </a:r>
            <a:endParaRPr lang="en-US" sz="950" dirty="0"/>
          </a:p>
        </p:txBody>
      </p:sp>
      <p:sp>
        <p:nvSpPr>
          <p:cNvPr id="18" name="Text 16"/>
          <p:cNvSpPr/>
          <p:nvPr/>
        </p:nvSpPr>
        <p:spPr>
          <a:xfrm>
            <a:off x="411480" y="2852928"/>
            <a:ext cx="1371600" cy="219456"/>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Auteur :</a:t>
            </a:r>
            <a:endParaRPr lang="en-US" sz="1000" dirty="0"/>
          </a:p>
        </p:txBody>
      </p:sp>
      <p:sp>
        <p:nvSpPr>
          <p:cNvPr id="19" name="Shape 17"/>
          <p:cNvSpPr/>
          <p:nvPr/>
        </p:nvSpPr>
        <p:spPr>
          <a:xfrm>
            <a:off x="411480" y="3054096"/>
            <a:ext cx="3840480" cy="256032"/>
          </a:xfrm>
          <a:prstGeom prst="roundRect">
            <a:avLst>
              <a:gd name="adj" fmla="val 17857"/>
            </a:avLst>
          </a:prstGeom>
          <a:solidFill>
            <a:srgbClr val="FFFFFF"/>
          </a:solidFill>
          <a:ln w="12700">
            <a:solidFill>
              <a:srgbClr val="CBD5E1"/>
            </a:solidFill>
            <a:prstDash val="solid"/>
          </a:ln>
        </p:spPr>
      </p:sp>
      <p:sp>
        <p:nvSpPr>
          <p:cNvPr id="20" name="Text 18"/>
          <p:cNvSpPr/>
          <p:nvPr/>
        </p:nvSpPr>
        <p:spPr>
          <a:xfrm>
            <a:off x="502920" y="3072384"/>
            <a:ext cx="3657600" cy="219456"/>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Chef ou enseignant concerné</a:t>
            </a:r>
            <a:endParaRPr lang="en-US" sz="950" dirty="0"/>
          </a:p>
        </p:txBody>
      </p:sp>
      <p:sp>
        <p:nvSpPr>
          <p:cNvPr id="21" name="Text 19"/>
          <p:cNvSpPr/>
          <p:nvPr/>
        </p:nvSpPr>
        <p:spPr>
          <a:xfrm>
            <a:off x="411480" y="3291840"/>
            <a:ext cx="1371600" cy="219456"/>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Cibler un niveau :</a:t>
            </a:r>
            <a:endParaRPr lang="en-US" sz="1000" dirty="0"/>
          </a:p>
        </p:txBody>
      </p:sp>
      <p:sp>
        <p:nvSpPr>
          <p:cNvPr id="22" name="Shape 20"/>
          <p:cNvSpPr/>
          <p:nvPr/>
        </p:nvSpPr>
        <p:spPr>
          <a:xfrm>
            <a:off x="411480" y="3493008"/>
            <a:ext cx="3840480" cy="256032"/>
          </a:xfrm>
          <a:prstGeom prst="roundRect">
            <a:avLst>
              <a:gd name="adj" fmla="val 17857"/>
            </a:avLst>
          </a:prstGeom>
          <a:solidFill>
            <a:srgbClr val="FFFFFF"/>
          </a:solidFill>
          <a:ln w="12700">
            <a:solidFill>
              <a:srgbClr val="CBD5E1"/>
            </a:solidFill>
            <a:prstDash val="solid"/>
          </a:ln>
        </p:spPr>
      </p:sp>
      <p:sp>
        <p:nvSpPr>
          <p:cNvPr id="23" name="Text 21"/>
          <p:cNvSpPr/>
          <p:nvPr/>
        </p:nvSpPr>
        <p:spPr>
          <a:xfrm>
            <a:off x="502920" y="3511296"/>
            <a:ext cx="3657600" cy="219456"/>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L1 / L2 / L3 ou tout le département</a:t>
            </a:r>
            <a:endParaRPr lang="en-US" sz="950" dirty="0"/>
          </a:p>
        </p:txBody>
      </p:sp>
      <p:sp>
        <p:nvSpPr>
          <p:cNvPr id="24" name="Text 22"/>
          <p:cNvSpPr/>
          <p:nvPr/>
        </p:nvSpPr>
        <p:spPr>
          <a:xfrm>
            <a:off x="411480" y="3730752"/>
            <a:ext cx="1371600" cy="219456"/>
          </a:xfrm>
          <a:prstGeom prst="rect">
            <a:avLst/>
          </a:prstGeom>
          <a:noFill/>
          <a:ln/>
        </p:spPr>
        <p:txBody>
          <a:bodyPr wrap="square" lIns="0" tIns="0" rIns="0" bIns="0" rtlCol="0" anchor="ctr"/>
          <a:lstStyle/>
          <a:p>
            <a:pPr indent="0" marL="0">
              <a:buNone/>
            </a:pPr>
            <a:r>
              <a:rPr lang="en-US" sz="1000" b="1" dirty="0">
                <a:solidFill>
                  <a:srgbClr val="EF4444"/>
                </a:solidFill>
                <a:latin typeface="Arial" pitchFamily="34" charset="0"/>
                <a:ea typeface="Arial" pitchFamily="34" charset="-122"/>
                <a:cs typeface="Arial" pitchFamily="34" charset="-120"/>
              </a:rPr>
              <a:t>Date d'expiration :</a:t>
            </a:r>
            <a:endParaRPr lang="en-US" sz="1000" dirty="0"/>
          </a:p>
        </p:txBody>
      </p:sp>
      <p:sp>
        <p:nvSpPr>
          <p:cNvPr id="25" name="Shape 23"/>
          <p:cNvSpPr/>
          <p:nvPr/>
        </p:nvSpPr>
        <p:spPr>
          <a:xfrm>
            <a:off x="411480" y="3931920"/>
            <a:ext cx="3840480" cy="256032"/>
          </a:xfrm>
          <a:prstGeom prst="roundRect">
            <a:avLst>
              <a:gd name="adj" fmla="val 17857"/>
            </a:avLst>
          </a:prstGeom>
          <a:solidFill>
            <a:srgbClr val="FFFFFF"/>
          </a:solidFill>
          <a:ln w="12700">
            <a:solidFill>
              <a:srgbClr val="CBD5E1"/>
            </a:solidFill>
            <a:prstDash val="solid"/>
          </a:ln>
        </p:spPr>
      </p:sp>
      <p:sp>
        <p:nvSpPr>
          <p:cNvPr id="26" name="Text 24"/>
          <p:cNvSpPr/>
          <p:nvPr/>
        </p:nvSpPr>
        <p:spPr>
          <a:xfrm>
            <a:off x="502920" y="3950208"/>
            <a:ext cx="3657600" cy="219456"/>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Disparition automatique après la date</a:t>
            </a:r>
            <a:endParaRPr lang="en-US" sz="950" dirty="0"/>
          </a:p>
        </p:txBody>
      </p:sp>
      <p:sp>
        <p:nvSpPr>
          <p:cNvPr id="27" name="Shape 25"/>
          <p:cNvSpPr/>
          <p:nvPr/>
        </p:nvSpPr>
        <p:spPr>
          <a:xfrm>
            <a:off x="411480" y="4206240"/>
            <a:ext cx="3840480" cy="347472"/>
          </a:xfrm>
          <a:prstGeom prst="roundRect">
            <a:avLst>
              <a:gd name="adj" fmla="val 21053"/>
            </a:avLst>
          </a:prstGeom>
          <a:solidFill>
            <a:srgbClr val="EF4444"/>
          </a:solidFill>
          <a:ln w="12700">
            <a:solidFill>
              <a:srgbClr val="EF4444"/>
            </a:solidFill>
            <a:prstDash val="solid"/>
          </a:ln>
        </p:spPr>
      </p:sp>
      <p:sp>
        <p:nvSpPr>
          <p:cNvPr id="28" name="Text 26"/>
          <p:cNvSpPr/>
          <p:nvPr/>
        </p:nvSpPr>
        <p:spPr>
          <a:xfrm>
            <a:off x="502920" y="4206240"/>
            <a:ext cx="3657600" cy="34747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  URGENT  →  Défilement rouge en haut du dashboard étudiant</a:t>
            </a:r>
            <a:endParaRPr lang="en-US" sz="1000" dirty="0"/>
          </a:p>
        </p:txBody>
      </p:sp>
      <p:sp>
        <p:nvSpPr>
          <p:cNvPr id="29" name="Shape 27"/>
          <p:cNvSpPr/>
          <p:nvPr/>
        </p:nvSpPr>
        <p:spPr>
          <a:xfrm>
            <a:off x="4709160" y="1051560"/>
            <a:ext cx="4160520" cy="1938528"/>
          </a:xfrm>
          <a:prstGeom prst="roundRect">
            <a:avLst>
              <a:gd name="adj" fmla="val 6604"/>
            </a:avLst>
          </a:prstGeom>
          <a:solidFill>
            <a:srgbClr val="E0F7FA"/>
          </a:solidFill>
          <a:ln w="19050">
            <a:solidFill>
              <a:srgbClr val="0EA5E9"/>
            </a:solidFill>
            <a:prstDash val="solid"/>
          </a:ln>
          <a:effectLst>
            <a:outerShdw sx="100000" sy="100000" kx="0" ky="0" algn="bl" rotWithShape="0" blurRad="88900" dist="25400" dir="2700000">
              <a:srgbClr val="000000">
                <a:alpha val="13000"/>
              </a:srgbClr>
            </a:outerShdw>
          </a:effectLst>
        </p:spPr>
      </p:sp>
      <p:sp>
        <p:nvSpPr>
          <p:cNvPr id="30" name="Text 28"/>
          <p:cNvSpPr/>
          <p:nvPr/>
        </p:nvSpPr>
        <p:spPr>
          <a:xfrm>
            <a:off x="4846320" y="1115568"/>
            <a:ext cx="3840480" cy="347472"/>
          </a:xfrm>
          <a:prstGeom prst="rect">
            <a:avLst/>
          </a:prstGeom>
          <a:noFill/>
          <a:ln/>
        </p:spPr>
        <p:txBody>
          <a:bodyPr wrap="square" lIns="0" tIns="0" rIns="0" bIns="0" rtlCol="0" anchor="ctr"/>
          <a:lstStyle/>
          <a:p>
            <a:pPr indent="0" marL="0">
              <a:buNone/>
            </a:pPr>
            <a:r>
              <a:rPr lang="en-US" sz="1300" b="1" dirty="0">
                <a:solidFill>
                  <a:srgbClr val="0EA5E9"/>
                </a:solidFill>
                <a:latin typeface="Arial" pitchFamily="34" charset="0"/>
                <a:ea typeface="Arial" pitchFamily="34" charset="-122"/>
                <a:cs typeface="Arial" pitchFamily="34" charset="-120"/>
              </a:rPr>
              <a:t>📖  4.2 — Ajouter une Matière</a:t>
            </a:r>
            <a:endParaRPr lang="en-US" sz="1300" dirty="0"/>
          </a:p>
        </p:txBody>
      </p:sp>
      <p:sp>
        <p:nvSpPr>
          <p:cNvPr id="31" name="Text 29"/>
          <p:cNvSpPr/>
          <p:nvPr/>
        </p:nvSpPr>
        <p:spPr>
          <a:xfrm>
            <a:off x="4846320" y="1508760"/>
            <a:ext cx="3840480" cy="2560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  Nom (ex: Réseaux Informatiques)</a:t>
            </a:r>
            <a:endParaRPr lang="en-US" sz="1050" dirty="0"/>
          </a:p>
        </p:txBody>
      </p:sp>
      <p:sp>
        <p:nvSpPr>
          <p:cNvPr id="32" name="Text 30"/>
          <p:cNvSpPr/>
          <p:nvPr/>
        </p:nvSpPr>
        <p:spPr>
          <a:xfrm>
            <a:off x="4846320" y="1783080"/>
            <a:ext cx="3840480" cy="2560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  Code unique par filière (ex: RT-301)</a:t>
            </a:r>
            <a:endParaRPr lang="en-US" sz="1050" dirty="0"/>
          </a:p>
        </p:txBody>
      </p:sp>
      <p:sp>
        <p:nvSpPr>
          <p:cNvPr id="33" name="Text 31"/>
          <p:cNvSpPr/>
          <p:nvPr/>
        </p:nvSpPr>
        <p:spPr>
          <a:xfrm>
            <a:off x="4846320" y="2057400"/>
            <a:ext cx="3840480" cy="2560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  Crédits ECTS (ex: 4)</a:t>
            </a:r>
            <a:endParaRPr lang="en-US" sz="1050" dirty="0"/>
          </a:p>
        </p:txBody>
      </p:sp>
      <p:sp>
        <p:nvSpPr>
          <p:cNvPr id="34" name="Text 32"/>
          <p:cNvSpPr/>
          <p:nvPr/>
        </p:nvSpPr>
        <p:spPr>
          <a:xfrm>
            <a:off x="4846320" y="2331720"/>
            <a:ext cx="3840480" cy="2560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  Niveau (L1/L2/L3) + Semestre (S1→S6)</a:t>
            </a:r>
            <a:endParaRPr lang="en-US" sz="1050" dirty="0"/>
          </a:p>
        </p:txBody>
      </p:sp>
      <p:sp>
        <p:nvSpPr>
          <p:cNvPr id="35" name="Text 33"/>
          <p:cNvSpPr/>
          <p:nvPr/>
        </p:nvSpPr>
        <p:spPr>
          <a:xfrm>
            <a:off x="4846320" y="2606040"/>
            <a:ext cx="3840480" cy="256032"/>
          </a:xfrm>
          <a:prstGeom prst="rect">
            <a:avLst/>
          </a:prstGeom>
          <a:noFill/>
          <a:ln/>
        </p:spPr>
        <p:txBody>
          <a:bodyPr wrap="square" lIns="0" tIns="0" rIns="0" bIns="0" rtlCol="0" anchor="ctr"/>
          <a:lstStyle/>
          <a:p>
            <a:pPr indent="0" marL="0">
              <a:buNone/>
            </a:pPr>
            <a:r>
              <a:rPr lang="en-US" sz="1050" b="1" dirty="0">
                <a:solidFill>
                  <a:srgbClr val="0EA5E9"/>
                </a:solidFill>
                <a:latin typeface="Arial" pitchFamily="34" charset="0"/>
                <a:ea typeface="Arial" pitchFamily="34" charset="-122"/>
                <a:cs typeface="Arial" pitchFamily="34" charset="-120"/>
              </a:rPr>
              <a:t>→ Cliquer Créer la matière</a:t>
            </a:r>
            <a:endParaRPr lang="en-US" sz="1050" dirty="0"/>
          </a:p>
        </p:txBody>
      </p:sp>
      <p:sp>
        <p:nvSpPr>
          <p:cNvPr id="36" name="Shape 34"/>
          <p:cNvSpPr/>
          <p:nvPr/>
        </p:nvSpPr>
        <p:spPr>
          <a:xfrm>
            <a:off x="4709160" y="3090672"/>
            <a:ext cx="4160520" cy="2029968"/>
          </a:xfrm>
          <a:prstGeom prst="roundRect">
            <a:avLst>
              <a:gd name="adj" fmla="val 6306"/>
            </a:avLst>
          </a:prstGeom>
          <a:solidFill>
            <a:srgbClr val="D1FAE5"/>
          </a:solidFill>
          <a:ln w="19050">
            <a:solidFill>
              <a:srgbClr val="10B981"/>
            </a:solidFill>
            <a:prstDash val="solid"/>
          </a:ln>
          <a:effectLst>
            <a:outerShdw sx="100000" sy="100000" kx="0" ky="0" algn="bl" rotWithShape="0" blurRad="88900" dist="25400" dir="2700000">
              <a:srgbClr val="000000">
                <a:alpha val="13000"/>
              </a:srgbClr>
            </a:outerShdw>
          </a:effectLst>
        </p:spPr>
      </p:sp>
      <p:sp>
        <p:nvSpPr>
          <p:cNvPr id="37" name="Text 35"/>
          <p:cNvSpPr/>
          <p:nvPr/>
        </p:nvSpPr>
        <p:spPr>
          <a:xfrm>
            <a:off x="4846320" y="3154680"/>
            <a:ext cx="3840480" cy="347472"/>
          </a:xfrm>
          <a:prstGeom prst="rect">
            <a:avLst/>
          </a:prstGeom>
          <a:noFill/>
          <a:ln/>
        </p:spPr>
        <p:txBody>
          <a:bodyPr wrap="square" lIns="0" tIns="0" rIns="0" bIns="0" rtlCol="0" anchor="ctr"/>
          <a:lstStyle/>
          <a:p>
            <a:pPr indent="0" marL="0">
              <a:buNone/>
            </a:pPr>
            <a:r>
              <a:rPr lang="en-US" sz="1300" b="1" dirty="0">
                <a:solidFill>
                  <a:srgbClr val="10B981"/>
                </a:solidFill>
                <a:latin typeface="Arial" pitchFamily="34" charset="0"/>
                <a:ea typeface="Arial" pitchFamily="34" charset="-122"/>
                <a:cs typeface="Arial" pitchFamily="34" charset="-120"/>
              </a:rPr>
              <a:t>👤  4.3 — Ajouter un Enseignant</a:t>
            </a:r>
            <a:endParaRPr lang="en-US" sz="1300" dirty="0"/>
          </a:p>
        </p:txBody>
      </p:sp>
      <p:sp>
        <p:nvSpPr>
          <p:cNvPr id="38" name="Text 36"/>
          <p:cNvSpPr/>
          <p:nvPr/>
        </p:nvSpPr>
        <p:spPr>
          <a:xfrm>
            <a:off x="4846320" y="3547872"/>
            <a:ext cx="3840480" cy="27432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  Prénom, Nom, Adresse e-mail</a:t>
            </a:r>
            <a:endParaRPr lang="en-US" sz="1050" dirty="0"/>
          </a:p>
        </p:txBody>
      </p:sp>
      <p:sp>
        <p:nvSpPr>
          <p:cNvPr id="39" name="Text 37"/>
          <p:cNvSpPr/>
          <p:nvPr/>
        </p:nvSpPr>
        <p:spPr>
          <a:xfrm>
            <a:off x="4846320" y="3840480"/>
            <a:ext cx="3840480" cy="27432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  Mot de passe temporaire (1ère connexion)</a:t>
            </a:r>
            <a:endParaRPr lang="en-US" sz="1050" dirty="0"/>
          </a:p>
        </p:txBody>
      </p:sp>
      <p:sp>
        <p:nvSpPr>
          <p:cNvPr id="40" name="Text 38"/>
          <p:cNvSpPr/>
          <p:nvPr/>
        </p:nvSpPr>
        <p:spPr>
          <a:xfrm>
            <a:off x="4846320" y="4133088"/>
            <a:ext cx="3840480" cy="27432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  Cocher les départements autorisés</a:t>
            </a:r>
            <a:endParaRPr lang="en-US" sz="1050" dirty="0"/>
          </a:p>
        </p:txBody>
      </p:sp>
      <p:sp>
        <p:nvSpPr>
          <p:cNvPr id="41" name="Text 39"/>
          <p:cNvSpPr/>
          <p:nvPr/>
        </p:nvSpPr>
        <p:spPr>
          <a:xfrm>
            <a:off x="4846320" y="4425696"/>
            <a:ext cx="3840480" cy="27432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  → Enregistrer → Compte immédiatement actif</a:t>
            </a:r>
            <a:endParaRPr lang="en-US" sz="1050" dirty="0"/>
          </a:p>
        </p:txBody>
      </p:sp>
      <p:sp>
        <p:nvSpPr>
          <p:cNvPr id="42" name="Text 40"/>
          <p:cNvSpPr/>
          <p:nvPr/>
        </p:nvSpPr>
        <p:spPr>
          <a:xfrm>
            <a:off x="4846320" y="4718304"/>
            <a:ext cx="3840480" cy="274320"/>
          </a:xfrm>
          <a:prstGeom prst="rect">
            <a:avLst/>
          </a:prstGeom>
          <a:noFill/>
          <a:ln/>
        </p:spPr>
        <p:txBody>
          <a:bodyPr wrap="square" lIns="0" tIns="0" rIns="0" bIns="0" rtlCol="0" anchor="ctr"/>
          <a:lstStyle/>
          <a:p>
            <a:pPr indent="0" marL="0">
              <a:buNone/>
            </a:pPr>
            <a:r>
              <a:rPr lang="en-US" sz="1050" b="1" dirty="0">
                <a:solidFill>
                  <a:srgbClr val="10B981"/>
                </a:solidFill>
                <a:latin typeface="Arial" pitchFamily="34" charset="0"/>
                <a:ea typeface="Arial" pitchFamily="34" charset="-122"/>
                <a:cs typeface="Arial" pitchFamily="34" charset="-120"/>
              </a:rPr>
              <a:t>✉️  Notif automatique envoyée au prof</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SECTION 4 — GUIDE CHEF (2/2)</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Planifier un Cours &amp; Supprimer des données</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 Rôle : chef — Saisie EDT</a:t>
            </a:r>
            <a:endParaRPr lang="en-US" sz="1100" dirty="0"/>
          </a:p>
        </p:txBody>
      </p:sp>
      <p:sp>
        <p:nvSpPr>
          <p:cNvPr id="6" name="Shape 4"/>
          <p:cNvSpPr/>
          <p:nvPr/>
        </p:nvSpPr>
        <p:spPr>
          <a:xfrm>
            <a:off x="274320" y="1051560"/>
            <a:ext cx="5029200" cy="3840480"/>
          </a:xfrm>
          <a:prstGeom prst="roundRect">
            <a:avLst>
              <a:gd name="adj" fmla="val 3333"/>
            </a:avLst>
          </a:prstGeom>
          <a:solidFill>
            <a:srgbClr val="EDE9FE"/>
          </a:solidFill>
          <a:ln w="19050">
            <a:solidFill>
              <a:srgbClr val="4C1D95"/>
            </a:solidFill>
            <a:prstDash val="solid"/>
          </a:ln>
          <a:effectLst>
            <a:outerShdw sx="100000" sy="100000" kx="0" ky="0" algn="bl" rotWithShape="0" blurRad="88900" dist="25400" dir="2700000">
              <a:srgbClr val="000000">
                <a:alpha val="13000"/>
              </a:srgbClr>
            </a:outerShdw>
          </a:effectLst>
        </p:spPr>
      </p:sp>
      <p:sp>
        <p:nvSpPr>
          <p:cNvPr id="7" name="Text 5"/>
          <p:cNvSpPr/>
          <p:nvPr/>
        </p:nvSpPr>
        <p:spPr>
          <a:xfrm>
            <a:off x="411480" y="1115568"/>
            <a:ext cx="4754880" cy="365760"/>
          </a:xfrm>
          <a:prstGeom prst="rect">
            <a:avLst/>
          </a:prstGeom>
          <a:noFill/>
          <a:ln/>
        </p:spPr>
        <p:txBody>
          <a:bodyPr wrap="square" lIns="0" tIns="0" rIns="0" bIns="0" rtlCol="0" anchor="ctr"/>
          <a:lstStyle/>
          <a:p>
            <a:pPr indent="0" marL="0">
              <a:buNone/>
            </a:pPr>
            <a:r>
              <a:rPr lang="en-US" sz="1300" b="1" dirty="0">
                <a:solidFill>
                  <a:srgbClr val="4C1D95"/>
                </a:solidFill>
                <a:latin typeface="Arial" pitchFamily="34" charset="0"/>
                <a:ea typeface="Arial" pitchFamily="34" charset="-122"/>
                <a:cs typeface="Arial" pitchFamily="34" charset="-120"/>
              </a:rPr>
              <a:t>📋  4.4 — Planifier un Cours (Saisie EDT)</a:t>
            </a:r>
            <a:endParaRPr lang="en-US" sz="1300" dirty="0"/>
          </a:p>
        </p:txBody>
      </p:sp>
      <p:sp>
        <p:nvSpPr>
          <p:cNvPr id="8" name="Shape 6"/>
          <p:cNvSpPr/>
          <p:nvPr/>
        </p:nvSpPr>
        <p:spPr>
          <a:xfrm>
            <a:off x="411480" y="1481328"/>
            <a:ext cx="4754880" cy="18288"/>
          </a:xfrm>
          <a:prstGeom prst="rect">
            <a:avLst/>
          </a:prstGeom>
          <a:solidFill>
            <a:srgbClr val="4C1D95">
              <a:alpha val="40000"/>
            </a:srgbClr>
          </a:solidFill>
          <a:ln w="12700">
            <a:solidFill>
              <a:srgbClr val="4C1D95"/>
            </a:solidFill>
            <a:prstDash val="solid"/>
          </a:ln>
        </p:spPr>
      </p:sp>
      <p:sp>
        <p:nvSpPr>
          <p:cNvPr id="9" name="Text 7"/>
          <p:cNvSpPr/>
          <p:nvPr/>
        </p:nvSpPr>
        <p:spPr>
          <a:xfrm>
            <a:off x="411480" y="1554480"/>
            <a:ext cx="1371600" cy="182880"/>
          </a:xfrm>
          <a:prstGeom prst="rect">
            <a:avLst/>
          </a:prstGeom>
          <a:noFill/>
          <a:ln/>
        </p:spPr>
        <p:txBody>
          <a:bodyPr wrap="square" lIns="0" tIns="0" rIns="0" bIns="0" rtlCol="0" anchor="ctr"/>
          <a:lstStyle/>
          <a:p>
            <a:pPr indent="0" marL="0">
              <a:buNone/>
            </a:pPr>
            <a:r>
              <a:rPr lang="en-US" sz="1000" b="1" dirty="0">
                <a:solidFill>
                  <a:srgbClr val="4C1D95"/>
                </a:solidFill>
                <a:latin typeface="Arial" pitchFamily="34" charset="0"/>
                <a:ea typeface="Arial" pitchFamily="34" charset="-122"/>
                <a:cs typeface="Arial" pitchFamily="34" charset="-120"/>
              </a:rPr>
              <a:t>1. Licence</a:t>
            </a:r>
            <a:endParaRPr lang="en-US" sz="1000" dirty="0"/>
          </a:p>
        </p:txBody>
      </p:sp>
      <p:sp>
        <p:nvSpPr>
          <p:cNvPr id="10" name="Shape 8"/>
          <p:cNvSpPr/>
          <p:nvPr/>
        </p:nvSpPr>
        <p:spPr>
          <a:xfrm>
            <a:off x="411480" y="1719072"/>
            <a:ext cx="4773168" cy="237744"/>
          </a:xfrm>
          <a:prstGeom prst="roundRect">
            <a:avLst>
              <a:gd name="adj" fmla="val 19231"/>
            </a:avLst>
          </a:prstGeom>
          <a:solidFill>
            <a:srgbClr val="FFFFFF"/>
          </a:solidFill>
          <a:ln w="12700">
            <a:solidFill>
              <a:srgbClr val="CBD5E1"/>
            </a:solidFill>
            <a:prstDash val="solid"/>
          </a:ln>
        </p:spPr>
      </p:sp>
      <p:sp>
        <p:nvSpPr>
          <p:cNvPr id="11" name="Text 9"/>
          <p:cNvSpPr/>
          <p:nvPr/>
        </p:nvSpPr>
        <p:spPr>
          <a:xfrm>
            <a:off x="502920" y="1737360"/>
            <a:ext cx="4608576" cy="201168"/>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L1 / L2 / L3 — Sélectionner la promotion cible</a:t>
            </a:r>
            <a:endParaRPr lang="en-US" sz="950" dirty="0"/>
          </a:p>
        </p:txBody>
      </p:sp>
      <p:sp>
        <p:nvSpPr>
          <p:cNvPr id="12" name="Text 10"/>
          <p:cNvSpPr/>
          <p:nvPr/>
        </p:nvSpPr>
        <p:spPr>
          <a:xfrm>
            <a:off x="411480" y="1947672"/>
            <a:ext cx="1371600" cy="182880"/>
          </a:xfrm>
          <a:prstGeom prst="rect">
            <a:avLst/>
          </a:prstGeom>
          <a:noFill/>
          <a:ln/>
        </p:spPr>
        <p:txBody>
          <a:bodyPr wrap="square" lIns="0" tIns="0" rIns="0" bIns="0" rtlCol="0" anchor="ctr"/>
          <a:lstStyle/>
          <a:p>
            <a:pPr indent="0" marL="0">
              <a:buNone/>
            </a:pPr>
            <a:r>
              <a:rPr lang="en-US" sz="1000" b="1" dirty="0">
                <a:solidFill>
                  <a:srgbClr val="4C1D95"/>
                </a:solidFill>
                <a:latin typeface="Arial" pitchFamily="34" charset="0"/>
                <a:ea typeface="Arial" pitchFamily="34" charset="-122"/>
                <a:cs typeface="Arial" pitchFamily="34" charset="-120"/>
              </a:rPr>
              <a:t>2. Semestre</a:t>
            </a:r>
            <a:endParaRPr lang="en-US" sz="1000" dirty="0"/>
          </a:p>
        </p:txBody>
      </p:sp>
      <p:sp>
        <p:nvSpPr>
          <p:cNvPr id="13" name="Shape 11"/>
          <p:cNvSpPr/>
          <p:nvPr/>
        </p:nvSpPr>
        <p:spPr>
          <a:xfrm>
            <a:off x="411480" y="2112264"/>
            <a:ext cx="4773168" cy="237744"/>
          </a:xfrm>
          <a:prstGeom prst="roundRect">
            <a:avLst>
              <a:gd name="adj" fmla="val 19231"/>
            </a:avLst>
          </a:prstGeom>
          <a:solidFill>
            <a:srgbClr val="FFFFFF"/>
          </a:solidFill>
          <a:ln w="12700">
            <a:solidFill>
              <a:srgbClr val="CBD5E1"/>
            </a:solidFill>
            <a:prstDash val="solid"/>
          </a:ln>
        </p:spPr>
      </p:sp>
      <p:sp>
        <p:nvSpPr>
          <p:cNvPr id="14" name="Text 12"/>
          <p:cNvSpPr/>
          <p:nvPr/>
        </p:nvSpPr>
        <p:spPr>
          <a:xfrm>
            <a:off x="502920" y="2130552"/>
            <a:ext cx="4608576" cy="201168"/>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S1, S2, S3, S4, S5 ou S6</a:t>
            </a:r>
            <a:endParaRPr lang="en-US" sz="950" dirty="0"/>
          </a:p>
        </p:txBody>
      </p:sp>
      <p:sp>
        <p:nvSpPr>
          <p:cNvPr id="15" name="Text 13"/>
          <p:cNvSpPr/>
          <p:nvPr/>
        </p:nvSpPr>
        <p:spPr>
          <a:xfrm>
            <a:off x="411480" y="2340864"/>
            <a:ext cx="1371600" cy="182880"/>
          </a:xfrm>
          <a:prstGeom prst="rect">
            <a:avLst/>
          </a:prstGeom>
          <a:noFill/>
          <a:ln/>
        </p:spPr>
        <p:txBody>
          <a:bodyPr wrap="square" lIns="0" tIns="0" rIns="0" bIns="0" rtlCol="0" anchor="ctr"/>
          <a:lstStyle/>
          <a:p>
            <a:pPr indent="0" marL="0">
              <a:buNone/>
            </a:pPr>
            <a:r>
              <a:rPr lang="en-US" sz="1000" b="1" dirty="0">
                <a:solidFill>
                  <a:srgbClr val="4C1D95"/>
                </a:solidFill>
                <a:latin typeface="Arial" pitchFamily="34" charset="0"/>
                <a:ea typeface="Arial" pitchFamily="34" charset="-122"/>
                <a:cs typeface="Arial" pitchFamily="34" charset="-120"/>
              </a:rPr>
              <a:t>3. Module (Matière)</a:t>
            </a:r>
            <a:endParaRPr lang="en-US" sz="1000" dirty="0"/>
          </a:p>
        </p:txBody>
      </p:sp>
      <p:sp>
        <p:nvSpPr>
          <p:cNvPr id="16" name="Shape 14"/>
          <p:cNvSpPr/>
          <p:nvPr/>
        </p:nvSpPr>
        <p:spPr>
          <a:xfrm>
            <a:off x="411480" y="2505456"/>
            <a:ext cx="4773168" cy="237744"/>
          </a:xfrm>
          <a:prstGeom prst="roundRect">
            <a:avLst>
              <a:gd name="adj" fmla="val 19231"/>
            </a:avLst>
          </a:prstGeom>
          <a:solidFill>
            <a:srgbClr val="FFFFFF"/>
          </a:solidFill>
          <a:ln w="12700">
            <a:solidFill>
              <a:srgbClr val="CBD5E1"/>
            </a:solidFill>
            <a:prstDash val="solid"/>
          </a:ln>
        </p:spPr>
      </p:sp>
      <p:sp>
        <p:nvSpPr>
          <p:cNvPr id="17" name="Text 15"/>
          <p:cNvSpPr/>
          <p:nvPr/>
        </p:nvSpPr>
        <p:spPr>
          <a:xfrm>
            <a:off x="502920" y="2523744"/>
            <a:ext cx="4608576" cy="201168"/>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Généré automatiquement selon la Licence</a:t>
            </a:r>
            <a:endParaRPr lang="en-US" sz="950" dirty="0"/>
          </a:p>
        </p:txBody>
      </p:sp>
      <p:sp>
        <p:nvSpPr>
          <p:cNvPr id="18" name="Text 16"/>
          <p:cNvSpPr/>
          <p:nvPr/>
        </p:nvSpPr>
        <p:spPr>
          <a:xfrm>
            <a:off x="411480" y="2734056"/>
            <a:ext cx="1371600" cy="182880"/>
          </a:xfrm>
          <a:prstGeom prst="rect">
            <a:avLst/>
          </a:prstGeom>
          <a:noFill/>
          <a:ln/>
        </p:spPr>
        <p:txBody>
          <a:bodyPr wrap="square" lIns="0" tIns="0" rIns="0" bIns="0" rtlCol="0" anchor="ctr"/>
          <a:lstStyle/>
          <a:p>
            <a:pPr indent="0" marL="0">
              <a:buNone/>
            </a:pPr>
            <a:r>
              <a:rPr lang="en-US" sz="1000" b="1" dirty="0">
                <a:solidFill>
                  <a:srgbClr val="4C1D95"/>
                </a:solidFill>
                <a:latin typeface="Arial" pitchFamily="34" charset="0"/>
                <a:ea typeface="Arial" pitchFamily="34" charset="-122"/>
                <a:cs typeface="Arial" pitchFamily="34" charset="-120"/>
              </a:rPr>
              <a:t>4. Enseignant</a:t>
            </a:r>
            <a:endParaRPr lang="en-US" sz="1000" dirty="0"/>
          </a:p>
        </p:txBody>
      </p:sp>
      <p:sp>
        <p:nvSpPr>
          <p:cNvPr id="19" name="Shape 17"/>
          <p:cNvSpPr/>
          <p:nvPr/>
        </p:nvSpPr>
        <p:spPr>
          <a:xfrm>
            <a:off x="411480" y="2898648"/>
            <a:ext cx="4773168" cy="237744"/>
          </a:xfrm>
          <a:prstGeom prst="roundRect">
            <a:avLst>
              <a:gd name="adj" fmla="val 19231"/>
            </a:avLst>
          </a:prstGeom>
          <a:solidFill>
            <a:srgbClr val="FFFFFF"/>
          </a:solidFill>
          <a:ln w="12700">
            <a:solidFill>
              <a:srgbClr val="CBD5E1"/>
            </a:solidFill>
            <a:prstDash val="solid"/>
          </a:ln>
        </p:spPr>
      </p:sp>
      <p:sp>
        <p:nvSpPr>
          <p:cNvPr id="20" name="Text 18"/>
          <p:cNvSpPr/>
          <p:nvPr/>
        </p:nvSpPr>
        <p:spPr>
          <a:xfrm>
            <a:off x="502920" y="2916936"/>
            <a:ext cx="4608576" cy="201168"/>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Liste des profs disponibles du département</a:t>
            </a:r>
            <a:endParaRPr lang="en-US" sz="950" dirty="0"/>
          </a:p>
        </p:txBody>
      </p:sp>
      <p:sp>
        <p:nvSpPr>
          <p:cNvPr id="21" name="Text 19"/>
          <p:cNvSpPr/>
          <p:nvPr/>
        </p:nvSpPr>
        <p:spPr>
          <a:xfrm>
            <a:off x="411480" y="3127248"/>
            <a:ext cx="1371600" cy="182880"/>
          </a:xfrm>
          <a:prstGeom prst="rect">
            <a:avLst/>
          </a:prstGeom>
          <a:noFill/>
          <a:ln/>
        </p:spPr>
        <p:txBody>
          <a:bodyPr wrap="square" lIns="0" tIns="0" rIns="0" bIns="0" rtlCol="0" anchor="ctr"/>
          <a:lstStyle/>
          <a:p>
            <a:pPr indent="0" marL="0">
              <a:buNone/>
            </a:pPr>
            <a:r>
              <a:rPr lang="en-US" sz="1000" b="1" dirty="0">
                <a:solidFill>
                  <a:srgbClr val="4C1D95"/>
                </a:solidFill>
                <a:latin typeface="Arial" pitchFamily="34" charset="0"/>
                <a:ea typeface="Arial" pitchFamily="34" charset="-122"/>
                <a:cs typeface="Arial" pitchFamily="34" charset="-120"/>
              </a:rPr>
              <a:t>5. Salle</a:t>
            </a:r>
            <a:endParaRPr lang="en-US" sz="1000" dirty="0"/>
          </a:p>
        </p:txBody>
      </p:sp>
      <p:sp>
        <p:nvSpPr>
          <p:cNvPr id="22" name="Shape 20"/>
          <p:cNvSpPr/>
          <p:nvPr/>
        </p:nvSpPr>
        <p:spPr>
          <a:xfrm>
            <a:off x="411480" y="3291840"/>
            <a:ext cx="4773168" cy="237744"/>
          </a:xfrm>
          <a:prstGeom prst="roundRect">
            <a:avLst>
              <a:gd name="adj" fmla="val 19231"/>
            </a:avLst>
          </a:prstGeom>
          <a:solidFill>
            <a:srgbClr val="FFFFFF"/>
          </a:solidFill>
          <a:ln w="12700">
            <a:solidFill>
              <a:srgbClr val="CBD5E1"/>
            </a:solidFill>
            <a:prstDash val="solid"/>
          </a:ln>
        </p:spPr>
      </p:sp>
      <p:sp>
        <p:nvSpPr>
          <p:cNvPr id="23" name="Text 21"/>
          <p:cNvSpPr/>
          <p:nvPr/>
        </p:nvSpPr>
        <p:spPr>
          <a:xfrm>
            <a:off x="502920" y="3310128"/>
            <a:ext cx="4608576" cy="201168"/>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Toutes les salles de la plateforme</a:t>
            </a:r>
            <a:endParaRPr lang="en-US" sz="950" dirty="0"/>
          </a:p>
        </p:txBody>
      </p:sp>
      <p:sp>
        <p:nvSpPr>
          <p:cNvPr id="24" name="Text 22"/>
          <p:cNvSpPr/>
          <p:nvPr/>
        </p:nvSpPr>
        <p:spPr>
          <a:xfrm>
            <a:off x="411480" y="3520440"/>
            <a:ext cx="1371600" cy="182880"/>
          </a:xfrm>
          <a:prstGeom prst="rect">
            <a:avLst/>
          </a:prstGeom>
          <a:noFill/>
          <a:ln/>
        </p:spPr>
        <p:txBody>
          <a:bodyPr wrap="square" lIns="0" tIns="0" rIns="0" bIns="0" rtlCol="0" anchor="ctr"/>
          <a:lstStyle/>
          <a:p>
            <a:pPr indent="0" marL="0">
              <a:buNone/>
            </a:pPr>
            <a:r>
              <a:rPr lang="en-US" sz="1000" b="1" dirty="0">
                <a:solidFill>
                  <a:srgbClr val="4C1D95"/>
                </a:solidFill>
                <a:latin typeface="Arial" pitchFamily="34" charset="0"/>
                <a:ea typeface="Arial" pitchFamily="34" charset="-122"/>
                <a:cs typeface="Arial" pitchFamily="34" charset="-120"/>
              </a:rPr>
              <a:t>6. Jour</a:t>
            </a:r>
            <a:endParaRPr lang="en-US" sz="1000" dirty="0"/>
          </a:p>
        </p:txBody>
      </p:sp>
      <p:sp>
        <p:nvSpPr>
          <p:cNvPr id="25" name="Shape 23"/>
          <p:cNvSpPr/>
          <p:nvPr/>
        </p:nvSpPr>
        <p:spPr>
          <a:xfrm>
            <a:off x="411480" y="3685032"/>
            <a:ext cx="4773168" cy="237744"/>
          </a:xfrm>
          <a:prstGeom prst="roundRect">
            <a:avLst>
              <a:gd name="adj" fmla="val 19231"/>
            </a:avLst>
          </a:prstGeom>
          <a:solidFill>
            <a:srgbClr val="FFFFFF"/>
          </a:solidFill>
          <a:ln w="12700">
            <a:solidFill>
              <a:srgbClr val="CBD5E1"/>
            </a:solidFill>
            <a:prstDash val="solid"/>
          </a:ln>
        </p:spPr>
      </p:sp>
      <p:sp>
        <p:nvSpPr>
          <p:cNvPr id="26" name="Text 24"/>
          <p:cNvSpPr/>
          <p:nvPr/>
        </p:nvSpPr>
        <p:spPr>
          <a:xfrm>
            <a:off x="502920" y="3703320"/>
            <a:ext cx="4608576" cy="201168"/>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Lundi / Mardi / Mercredi / Jeudi / Vendredi</a:t>
            </a:r>
            <a:endParaRPr lang="en-US" sz="950" dirty="0"/>
          </a:p>
        </p:txBody>
      </p:sp>
      <p:sp>
        <p:nvSpPr>
          <p:cNvPr id="27" name="Text 25"/>
          <p:cNvSpPr/>
          <p:nvPr/>
        </p:nvSpPr>
        <p:spPr>
          <a:xfrm>
            <a:off x="411480" y="3913632"/>
            <a:ext cx="1371600" cy="182880"/>
          </a:xfrm>
          <a:prstGeom prst="rect">
            <a:avLst/>
          </a:prstGeom>
          <a:noFill/>
          <a:ln/>
        </p:spPr>
        <p:txBody>
          <a:bodyPr wrap="square" lIns="0" tIns="0" rIns="0" bIns="0" rtlCol="0" anchor="ctr"/>
          <a:lstStyle/>
          <a:p>
            <a:pPr indent="0" marL="0">
              <a:buNone/>
            </a:pPr>
            <a:r>
              <a:rPr lang="en-US" sz="1000" b="1" dirty="0">
                <a:solidFill>
                  <a:srgbClr val="4C1D95"/>
                </a:solidFill>
                <a:latin typeface="Arial" pitchFamily="34" charset="0"/>
                <a:ea typeface="Arial" pitchFamily="34" charset="-122"/>
                <a:cs typeface="Arial" pitchFamily="34" charset="-120"/>
              </a:rPr>
              <a:t>7. Heure début</a:t>
            </a:r>
            <a:endParaRPr lang="en-US" sz="1000" dirty="0"/>
          </a:p>
        </p:txBody>
      </p:sp>
      <p:sp>
        <p:nvSpPr>
          <p:cNvPr id="28" name="Shape 26"/>
          <p:cNvSpPr/>
          <p:nvPr/>
        </p:nvSpPr>
        <p:spPr>
          <a:xfrm>
            <a:off x="411480" y="4078224"/>
            <a:ext cx="4773168" cy="237744"/>
          </a:xfrm>
          <a:prstGeom prst="roundRect">
            <a:avLst>
              <a:gd name="adj" fmla="val 19231"/>
            </a:avLst>
          </a:prstGeom>
          <a:solidFill>
            <a:srgbClr val="FFFFFF"/>
          </a:solidFill>
          <a:ln w="12700">
            <a:solidFill>
              <a:srgbClr val="CBD5E1"/>
            </a:solidFill>
            <a:prstDash val="solid"/>
          </a:ln>
        </p:spPr>
      </p:sp>
      <p:sp>
        <p:nvSpPr>
          <p:cNvPr id="29" name="Text 27"/>
          <p:cNvSpPr/>
          <p:nvPr/>
        </p:nvSpPr>
        <p:spPr>
          <a:xfrm>
            <a:off x="502920" y="4096512"/>
            <a:ext cx="4608576" cy="201168"/>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Format HH:MM (ex: 08:00)</a:t>
            </a:r>
            <a:endParaRPr lang="en-US" sz="950" dirty="0"/>
          </a:p>
        </p:txBody>
      </p:sp>
      <p:sp>
        <p:nvSpPr>
          <p:cNvPr id="30" name="Text 28"/>
          <p:cNvSpPr/>
          <p:nvPr/>
        </p:nvSpPr>
        <p:spPr>
          <a:xfrm>
            <a:off x="411480" y="4306824"/>
            <a:ext cx="1371600" cy="182880"/>
          </a:xfrm>
          <a:prstGeom prst="rect">
            <a:avLst/>
          </a:prstGeom>
          <a:noFill/>
          <a:ln/>
        </p:spPr>
        <p:txBody>
          <a:bodyPr wrap="square" lIns="0" tIns="0" rIns="0" bIns="0" rtlCol="0" anchor="ctr"/>
          <a:lstStyle/>
          <a:p>
            <a:pPr indent="0" marL="0">
              <a:buNone/>
            </a:pPr>
            <a:r>
              <a:rPr lang="en-US" sz="1000" b="1" dirty="0">
                <a:solidFill>
                  <a:srgbClr val="4C1D95"/>
                </a:solidFill>
                <a:latin typeface="Arial" pitchFamily="34" charset="0"/>
                <a:ea typeface="Arial" pitchFamily="34" charset="-122"/>
                <a:cs typeface="Arial" pitchFamily="34" charset="-120"/>
              </a:rPr>
              <a:t>8. Heure fin</a:t>
            </a:r>
            <a:endParaRPr lang="en-US" sz="1000" dirty="0"/>
          </a:p>
        </p:txBody>
      </p:sp>
      <p:sp>
        <p:nvSpPr>
          <p:cNvPr id="31" name="Shape 29"/>
          <p:cNvSpPr/>
          <p:nvPr/>
        </p:nvSpPr>
        <p:spPr>
          <a:xfrm>
            <a:off x="411480" y="4471416"/>
            <a:ext cx="4773168" cy="237744"/>
          </a:xfrm>
          <a:prstGeom prst="roundRect">
            <a:avLst>
              <a:gd name="adj" fmla="val 19231"/>
            </a:avLst>
          </a:prstGeom>
          <a:solidFill>
            <a:srgbClr val="FFFFFF"/>
          </a:solidFill>
          <a:ln w="12700">
            <a:solidFill>
              <a:srgbClr val="CBD5E1"/>
            </a:solidFill>
            <a:prstDash val="solid"/>
          </a:ln>
        </p:spPr>
      </p:sp>
      <p:sp>
        <p:nvSpPr>
          <p:cNvPr id="32" name="Text 30"/>
          <p:cNvSpPr/>
          <p:nvPr/>
        </p:nvSpPr>
        <p:spPr>
          <a:xfrm>
            <a:off x="502920" y="4489704"/>
            <a:ext cx="4608576" cy="201168"/>
          </a:xfrm>
          <a:prstGeom prst="rect">
            <a:avLst/>
          </a:prstGeom>
          <a:noFill/>
          <a:ln/>
        </p:spPr>
        <p:txBody>
          <a:bodyPr wrap="square" lIns="0" tIns="0" rIns="0" bIns="0" rtlCol="0" anchor="ctr"/>
          <a:lstStyle/>
          <a:p>
            <a:pPr indent="0" marL="0">
              <a:buNone/>
            </a:pPr>
            <a:r>
              <a:rPr lang="en-US" sz="950" dirty="0">
                <a:solidFill>
                  <a:srgbClr val="94A3B8"/>
                </a:solidFill>
                <a:latin typeface="Arial" pitchFamily="34" charset="0"/>
                <a:ea typeface="Arial" pitchFamily="34" charset="-122"/>
                <a:cs typeface="Arial" pitchFamily="34" charset="-120"/>
              </a:rPr>
              <a:t>Format HH:MM (ex: 10:00)</a:t>
            </a:r>
            <a:endParaRPr lang="en-US" sz="950" dirty="0"/>
          </a:p>
        </p:txBody>
      </p:sp>
      <p:sp>
        <p:nvSpPr>
          <p:cNvPr id="33" name="Shape 31"/>
          <p:cNvSpPr/>
          <p:nvPr/>
        </p:nvSpPr>
        <p:spPr>
          <a:xfrm>
            <a:off x="411480" y="4224528"/>
            <a:ext cx="4773168" cy="402336"/>
          </a:xfrm>
          <a:prstGeom prst="roundRect">
            <a:avLst>
              <a:gd name="adj" fmla="val 22727"/>
            </a:avLst>
          </a:prstGeom>
          <a:solidFill>
            <a:srgbClr val="4C1D95"/>
          </a:solidFill>
          <a:ln w="12700">
            <a:solidFill>
              <a:srgbClr val="4C1D95"/>
            </a:solidFill>
            <a:prstDash val="solid"/>
          </a:ln>
        </p:spPr>
      </p:sp>
      <p:sp>
        <p:nvSpPr>
          <p:cNvPr id="34" name="Text 32"/>
          <p:cNvSpPr/>
          <p:nvPr/>
        </p:nvSpPr>
        <p:spPr>
          <a:xfrm>
            <a:off x="411480" y="4224528"/>
            <a:ext cx="4773168"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Enregistrer le cours → Notif envoyée à l'enseignant</a:t>
            </a:r>
            <a:endParaRPr lang="en-US" sz="1200" dirty="0"/>
          </a:p>
        </p:txBody>
      </p:sp>
      <p:sp>
        <p:nvSpPr>
          <p:cNvPr id="35" name="Shape 33"/>
          <p:cNvSpPr/>
          <p:nvPr/>
        </p:nvSpPr>
        <p:spPr>
          <a:xfrm>
            <a:off x="5486400" y="1051560"/>
            <a:ext cx="3383280" cy="1847088"/>
          </a:xfrm>
          <a:prstGeom prst="roundRect">
            <a:avLst>
              <a:gd name="adj" fmla="val 5941"/>
            </a:avLst>
          </a:prstGeom>
          <a:solidFill>
            <a:srgbClr val="D1FAE5"/>
          </a:solidFill>
          <a:ln w="19050">
            <a:solidFill>
              <a:srgbClr val="10B981"/>
            </a:solidFill>
            <a:prstDash val="solid"/>
          </a:ln>
          <a:effectLst>
            <a:outerShdw sx="100000" sy="100000" kx="0" ky="0" algn="bl" rotWithShape="0" blurRad="88900" dist="25400" dir="2700000">
              <a:srgbClr val="000000">
                <a:alpha val="13000"/>
              </a:srgbClr>
            </a:outerShdw>
          </a:effectLst>
        </p:spPr>
      </p:sp>
      <p:sp>
        <p:nvSpPr>
          <p:cNvPr id="36" name="Text 34"/>
          <p:cNvSpPr/>
          <p:nvPr/>
        </p:nvSpPr>
        <p:spPr>
          <a:xfrm>
            <a:off x="5623560" y="1115568"/>
            <a:ext cx="3108960" cy="347472"/>
          </a:xfrm>
          <a:prstGeom prst="rect">
            <a:avLst/>
          </a:prstGeom>
          <a:noFill/>
          <a:ln/>
        </p:spPr>
        <p:txBody>
          <a:bodyPr wrap="square" lIns="0" tIns="0" rIns="0" bIns="0" rtlCol="0" anchor="ctr"/>
          <a:lstStyle/>
          <a:p>
            <a:pPr indent="0" marL="0">
              <a:buNone/>
            </a:pPr>
            <a:r>
              <a:rPr lang="en-US" sz="1200" b="1" dirty="0">
                <a:solidFill>
                  <a:srgbClr val="10B981"/>
                </a:solidFill>
                <a:latin typeface="Arial" pitchFamily="34" charset="0"/>
                <a:ea typeface="Arial" pitchFamily="34" charset="-122"/>
                <a:cs typeface="Arial" pitchFamily="34" charset="-120"/>
              </a:rPr>
              <a:t>⚡  Ce qui se passe après</a:t>
            </a:r>
            <a:endParaRPr lang="en-US" sz="1200" dirty="0"/>
          </a:p>
        </p:txBody>
      </p:sp>
      <p:sp>
        <p:nvSpPr>
          <p:cNvPr id="37" name="Shape 35"/>
          <p:cNvSpPr/>
          <p:nvPr/>
        </p:nvSpPr>
        <p:spPr>
          <a:xfrm>
            <a:off x="5623560" y="1536192"/>
            <a:ext cx="256032" cy="256032"/>
          </a:xfrm>
          <a:prstGeom prst="ellipse">
            <a:avLst/>
          </a:prstGeom>
          <a:solidFill>
            <a:srgbClr val="10B981"/>
          </a:solidFill>
          <a:ln w="12700">
            <a:solidFill>
              <a:srgbClr val="10B981"/>
            </a:solidFill>
            <a:prstDash val="solid"/>
          </a:ln>
        </p:spPr>
      </p:sp>
      <p:sp>
        <p:nvSpPr>
          <p:cNvPr id="38" name="Text 36"/>
          <p:cNvSpPr/>
          <p:nvPr/>
        </p:nvSpPr>
        <p:spPr>
          <a:xfrm>
            <a:off x="5943600" y="1536192"/>
            <a:ext cx="2834640" cy="2560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Cours ajouté à la BDD</a:t>
            </a:r>
            <a:endParaRPr lang="en-US" sz="1050" dirty="0"/>
          </a:p>
        </p:txBody>
      </p:sp>
      <p:sp>
        <p:nvSpPr>
          <p:cNvPr id="39" name="Shape 37"/>
          <p:cNvSpPr/>
          <p:nvPr/>
        </p:nvSpPr>
        <p:spPr>
          <a:xfrm>
            <a:off x="5623560" y="1883664"/>
            <a:ext cx="256032" cy="256032"/>
          </a:xfrm>
          <a:prstGeom prst="ellipse">
            <a:avLst/>
          </a:prstGeom>
          <a:solidFill>
            <a:srgbClr val="10B981"/>
          </a:solidFill>
          <a:ln w="12700">
            <a:solidFill>
              <a:srgbClr val="10B981"/>
            </a:solidFill>
            <a:prstDash val="solid"/>
          </a:ln>
        </p:spPr>
      </p:sp>
      <p:sp>
        <p:nvSpPr>
          <p:cNvPr id="40" name="Text 38"/>
          <p:cNvSpPr/>
          <p:nvPr/>
        </p:nvSpPr>
        <p:spPr>
          <a:xfrm>
            <a:off x="5943600" y="1883664"/>
            <a:ext cx="2834640" cy="2560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Notification interne → enseignant</a:t>
            </a:r>
            <a:endParaRPr lang="en-US" sz="1050" dirty="0"/>
          </a:p>
        </p:txBody>
      </p:sp>
      <p:sp>
        <p:nvSpPr>
          <p:cNvPr id="41" name="Shape 39"/>
          <p:cNvSpPr/>
          <p:nvPr/>
        </p:nvSpPr>
        <p:spPr>
          <a:xfrm>
            <a:off x="5623560" y="2231136"/>
            <a:ext cx="256032" cy="256032"/>
          </a:xfrm>
          <a:prstGeom prst="ellipse">
            <a:avLst/>
          </a:prstGeom>
          <a:solidFill>
            <a:srgbClr val="10B981"/>
          </a:solidFill>
          <a:ln w="12700">
            <a:solidFill>
              <a:srgbClr val="10B981"/>
            </a:solidFill>
            <a:prstDash val="solid"/>
          </a:ln>
        </p:spPr>
      </p:sp>
      <p:sp>
        <p:nvSpPr>
          <p:cNvPr id="42" name="Text 40"/>
          <p:cNvSpPr/>
          <p:nvPr/>
        </p:nvSpPr>
        <p:spPr>
          <a:xfrm>
            <a:off x="5943600" y="2231136"/>
            <a:ext cx="2834640" cy="2560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EDT étudiant mis à jour</a:t>
            </a:r>
            <a:endParaRPr lang="en-US" sz="1050" dirty="0"/>
          </a:p>
        </p:txBody>
      </p:sp>
      <p:sp>
        <p:nvSpPr>
          <p:cNvPr id="43" name="Shape 41"/>
          <p:cNvSpPr/>
          <p:nvPr/>
        </p:nvSpPr>
        <p:spPr>
          <a:xfrm>
            <a:off x="5623560" y="2578608"/>
            <a:ext cx="256032" cy="256032"/>
          </a:xfrm>
          <a:prstGeom prst="ellipse">
            <a:avLst/>
          </a:prstGeom>
          <a:solidFill>
            <a:srgbClr val="10B981"/>
          </a:solidFill>
          <a:ln w="12700">
            <a:solidFill>
              <a:srgbClr val="10B981"/>
            </a:solidFill>
            <a:prstDash val="solid"/>
          </a:ln>
        </p:spPr>
      </p:sp>
      <p:sp>
        <p:nvSpPr>
          <p:cNvPr id="44" name="Text 42"/>
          <p:cNvSpPr/>
          <p:nvPr/>
        </p:nvSpPr>
        <p:spPr>
          <a:xfrm>
            <a:off x="5943600" y="2578608"/>
            <a:ext cx="2834640" cy="256032"/>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Disponible dans le chatbot</a:t>
            </a:r>
            <a:endParaRPr lang="en-US" sz="1050" dirty="0"/>
          </a:p>
        </p:txBody>
      </p:sp>
      <p:sp>
        <p:nvSpPr>
          <p:cNvPr id="45" name="Shape 43"/>
          <p:cNvSpPr/>
          <p:nvPr/>
        </p:nvSpPr>
        <p:spPr>
          <a:xfrm>
            <a:off x="5486400" y="2999232"/>
            <a:ext cx="3383280" cy="1645920"/>
          </a:xfrm>
          <a:prstGeom prst="roundRect">
            <a:avLst>
              <a:gd name="adj" fmla="val 6667"/>
            </a:avLst>
          </a:prstGeom>
          <a:solidFill>
            <a:srgbClr val="FEE2E2"/>
          </a:solidFill>
          <a:ln w="19050">
            <a:solidFill>
              <a:srgbClr val="EF4444"/>
            </a:solidFill>
            <a:prstDash val="solid"/>
          </a:ln>
          <a:effectLst>
            <a:outerShdw sx="100000" sy="100000" kx="0" ky="0" algn="bl" rotWithShape="0" blurRad="88900" dist="25400" dir="2700000">
              <a:srgbClr val="000000">
                <a:alpha val="13000"/>
              </a:srgbClr>
            </a:outerShdw>
          </a:effectLst>
        </p:spPr>
      </p:sp>
      <p:sp>
        <p:nvSpPr>
          <p:cNvPr id="46" name="Text 44"/>
          <p:cNvSpPr/>
          <p:nvPr/>
        </p:nvSpPr>
        <p:spPr>
          <a:xfrm>
            <a:off x="5623560" y="3063240"/>
            <a:ext cx="3108960" cy="347472"/>
          </a:xfrm>
          <a:prstGeom prst="rect">
            <a:avLst/>
          </a:prstGeom>
          <a:noFill/>
          <a:ln/>
        </p:spPr>
        <p:txBody>
          <a:bodyPr wrap="square" lIns="0" tIns="0" rIns="0" bIns="0" rtlCol="0" anchor="ctr"/>
          <a:lstStyle/>
          <a:p>
            <a:pPr indent="0" marL="0">
              <a:buNone/>
            </a:pPr>
            <a:r>
              <a:rPr lang="en-US" sz="1300" b="1" dirty="0">
                <a:solidFill>
                  <a:srgbClr val="EF4444"/>
                </a:solidFill>
                <a:latin typeface="Arial" pitchFamily="34" charset="0"/>
                <a:ea typeface="Arial" pitchFamily="34" charset="-122"/>
                <a:cs typeface="Arial" pitchFamily="34" charset="-120"/>
              </a:rPr>
              <a:t>🗑️  4.5 — Suppression</a:t>
            </a:r>
            <a:endParaRPr lang="en-US" sz="1300" dirty="0"/>
          </a:p>
        </p:txBody>
      </p:sp>
      <p:sp>
        <p:nvSpPr>
          <p:cNvPr id="47" name="Text 45"/>
          <p:cNvSpPr/>
          <p:nvPr/>
        </p:nvSpPr>
        <p:spPr>
          <a:xfrm>
            <a:off x="5623560" y="3429000"/>
            <a:ext cx="3108960" cy="292608"/>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Pour chaque liste (annonces, cours, modifications) :</a:t>
            </a:r>
            <a:endParaRPr lang="en-US" sz="1000" dirty="0"/>
          </a:p>
        </p:txBody>
      </p:sp>
      <p:sp>
        <p:nvSpPr>
          <p:cNvPr id="48" name="Text 46"/>
          <p:cNvSpPr/>
          <p:nvPr/>
        </p:nvSpPr>
        <p:spPr>
          <a:xfrm>
            <a:off x="5623560" y="3749040"/>
            <a:ext cx="3108960" cy="27432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1. Cliquer l'icône 🗑️ rouge</a:t>
            </a:r>
            <a:endParaRPr lang="en-US" sz="1050" dirty="0"/>
          </a:p>
        </p:txBody>
      </p:sp>
      <p:sp>
        <p:nvSpPr>
          <p:cNvPr id="49" name="Text 47"/>
          <p:cNvSpPr/>
          <p:nvPr/>
        </p:nvSpPr>
        <p:spPr>
          <a:xfrm>
            <a:off x="5623560" y="4041648"/>
            <a:ext cx="3108960" cy="274320"/>
          </a:xfrm>
          <a:prstGeom prst="rect">
            <a:avLst/>
          </a:prstGeom>
          <a:noFill/>
          <a:ln/>
        </p:spPr>
        <p:txBody>
          <a:bodyPr wrap="square" lIns="0" tIns="0" rIns="0" bIns="0" rtlCol="0" anchor="ctr"/>
          <a:lstStyle/>
          <a:p>
            <a:pPr indent="0" marL="0">
              <a:buNone/>
            </a:pPr>
            <a:r>
              <a:rPr lang="en-US" sz="1050" dirty="0">
                <a:solidFill>
                  <a:srgbClr val="1E293B"/>
                </a:solidFill>
                <a:latin typeface="Arial" pitchFamily="34" charset="0"/>
                <a:ea typeface="Arial" pitchFamily="34" charset="-122"/>
                <a:cs typeface="Arial" pitchFamily="34" charset="-120"/>
              </a:rPr>
              <a:t>2. Confirmer la suppression</a:t>
            </a:r>
            <a:endParaRPr lang="en-US" sz="1050" dirty="0"/>
          </a:p>
        </p:txBody>
      </p:sp>
      <p:sp>
        <p:nvSpPr>
          <p:cNvPr id="50" name="Text 48"/>
          <p:cNvSpPr/>
          <p:nvPr/>
        </p:nvSpPr>
        <p:spPr>
          <a:xfrm>
            <a:off x="5623560" y="4334256"/>
            <a:ext cx="3108960" cy="274320"/>
          </a:xfrm>
          <a:prstGeom prst="rect">
            <a:avLst/>
          </a:prstGeom>
          <a:noFill/>
          <a:ln/>
        </p:spPr>
        <p:txBody>
          <a:bodyPr wrap="square" lIns="0" tIns="0" rIns="0" bIns="0" rtlCol="0" anchor="ctr"/>
          <a:lstStyle/>
          <a:p>
            <a:pPr indent="0" marL="0">
              <a:buNone/>
            </a:pPr>
            <a:r>
              <a:rPr lang="en-US" sz="1050" b="1" dirty="0">
                <a:solidFill>
                  <a:srgbClr val="EF4444"/>
                </a:solidFill>
                <a:latin typeface="Arial" pitchFamily="34" charset="0"/>
                <a:ea typeface="Arial" pitchFamily="34" charset="-122"/>
                <a:cs typeface="Arial" pitchFamily="34" charset="-120"/>
              </a:rPr>
              <a:t>3. L'enregistrement est définitivement supprimé</a:t>
            </a:r>
            <a:endParaRPr lang="en-US" sz="1050" dirty="0"/>
          </a:p>
        </p:txBody>
      </p:sp>
      <p:sp>
        <p:nvSpPr>
          <p:cNvPr id="51" name="Shape 49"/>
          <p:cNvSpPr/>
          <p:nvPr/>
        </p:nvSpPr>
        <p:spPr>
          <a:xfrm>
            <a:off x="5486400" y="4727448"/>
            <a:ext cx="3383280" cy="411480"/>
          </a:xfrm>
          <a:prstGeom prst="roundRect">
            <a:avLst>
              <a:gd name="adj" fmla="val 17778"/>
            </a:avLst>
          </a:prstGeom>
          <a:solidFill>
            <a:srgbClr val="FEF3C7"/>
          </a:solidFill>
          <a:ln w="12700">
            <a:solidFill>
              <a:srgbClr val="F59E0B"/>
            </a:solidFill>
            <a:prstDash val="solid"/>
          </a:ln>
        </p:spPr>
      </p:sp>
      <p:sp>
        <p:nvSpPr>
          <p:cNvPr id="52" name="Text 50"/>
          <p:cNvSpPr/>
          <p:nvPr/>
        </p:nvSpPr>
        <p:spPr>
          <a:xfrm>
            <a:off x="5577840" y="4727448"/>
            <a:ext cx="3200400" cy="411480"/>
          </a:xfrm>
          <a:prstGeom prst="rect">
            <a:avLst/>
          </a:prstGeom>
          <a:noFill/>
          <a:ln/>
        </p:spPr>
        <p:txBody>
          <a:bodyPr wrap="square" lIns="0" tIns="0" rIns="0" bIns="0" rtlCol="0" anchor="ctr"/>
          <a:lstStyle/>
          <a:p>
            <a:pPr indent="0" marL="0">
              <a:buNone/>
            </a:pPr>
            <a:r>
              <a:rPr lang="en-US" sz="950" dirty="0">
                <a:solidFill>
                  <a:srgbClr val="F59E0B"/>
                </a:solidFill>
                <a:latin typeface="Arial" pitchFamily="34" charset="0"/>
                <a:ea typeface="Arial" pitchFamily="34" charset="-122"/>
                <a:cs typeface="Arial" pitchFamily="34" charset="-120"/>
              </a:rPr>
              <a:t>⚙️  v2 : Validation anti-conflit de salle/enseignant prévue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SECTION 5 — CHATBOT EN DÉTAIL</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Navigation complète — Arbre de décision</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Mode guidé &amp; texte</a:t>
            </a:r>
            <a:endParaRPr lang="en-US" sz="1100" dirty="0"/>
          </a:p>
        </p:txBody>
      </p:sp>
      <p:sp>
        <p:nvSpPr>
          <p:cNvPr id="6" name="Shape 4"/>
          <p:cNvSpPr/>
          <p:nvPr/>
        </p:nvSpPr>
        <p:spPr>
          <a:xfrm>
            <a:off x="3474720" y="1024128"/>
            <a:ext cx="2194560" cy="530352"/>
          </a:xfrm>
          <a:prstGeom prst="roundRect">
            <a:avLst>
              <a:gd name="adj" fmla="val 17241"/>
            </a:avLst>
          </a:prstGeom>
          <a:solidFill>
            <a:srgbClr val="0D1B2A"/>
          </a:solidFill>
          <a:ln w="25400">
            <a:solidFill>
              <a:srgbClr val="0EA5E9"/>
            </a:solidFill>
            <a:prstDash val="solid"/>
          </a:ln>
        </p:spPr>
      </p:sp>
      <p:sp>
        <p:nvSpPr>
          <p:cNvPr id="7" name="Text 5"/>
          <p:cNvSpPr/>
          <p:nvPr/>
        </p:nvSpPr>
        <p:spPr>
          <a:xfrm>
            <a:off x="3474720" y="1024128"/>
            <a:ext cx="2194560" cy="53035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  ACCUEIL CHATBOT</a:t>
            </a:r>
            <a:endParaRPr lang="en-US" sz="1100" dirty="0"/>
          </a:p>
        </p:txBody>
      </p:sp>
      <p:sp>
        <p:nvSpPr>
          <p:cNvPr id="8" name="Shape 6"/>
          <p:cNvSpPr/>
          <p:nvPr/>
        </p:nvSpPr>
        <p:spPr>
          <a:xfrm>
            <a:off x="4572000" y="1554480"/>
            <a:ext cx="0" cy="228600"/>
          </a:xfrm>
          <a:prstGeom prst="line">
            <a:avLst/>
          </a:prstGeom>
          <a:noFill/>
          <a:ln w="15240">
            <a:solidFill>
              <a:srgbClr val="94A3B8"/>
            </a:solidFill>
            <a:prstDash val="solid"/>
          </a:ln>
        </p:spPr>
      </p:sp>
      <p:sp>
        <p:nvSpPr>
          <p:cNvPr id="9" name="Shape 7"/>
          <p:cNvSpPr/>
          <p:nvPr/>
        </p:nvSpPr>
        <p:spPr>
          <a:xfrm>
            <a:off x="1463040" y="1783080"/>
            <a:ext cx="6217920" cy="0"/>
          </a:xfrm>
          <a:prstGeom prst="line">
            <a:avLst/>
          </a:prstGeom>
          <a:noFill/>
          <a:ln w="15240">
            <a:solidFill>
              <a:srgbClr val="94A3B8"/>
            </a:solidFill>
            <a:prstDash val="solid"/>
          </a:ln>
        </p:spPr>
      </p:sp>
      <p:sp>
        <p:nvSpPr>
          <p:cNvPr id="10" name="Shape 8"/>
          <p:cNvSpPr/>
          <p:nvPr/>
        </p:nvSpPr>
        <p:spPr>
          <a:xfrm>
            <a:off x="1463040" y="1783080"/>
            <a:ext cx="0" cy="182880"/>
          </a:xfrm>
          <a:prstGeom prst="line">
            <a:avLst/>
          </a:prstGeom>
          <a:noFill/>
          <a:ln w="15240">
            <a:solidFill>
              <a:srgbClr val="94A3B8"/>
            </a:solidFill>
            <a:prstDash val="solid"/>
          </a:ln>
        </p:spPr>
      </p:sp>
      <p:sp>
        <p:nvSpPr>
          <p:cNvPr id="11" name="Shape 9"/>
          <p:cNvSpPr/>
          <p:nvPr/>
        </p:nvSpPr>
        <p:spPr>
          <a:xfrm>
            <a:off x="4572000" y="1783080"/>
            <a:ext cx="0" cy="182880"/>
          </a:xfrm>
          <a:prstGeom prst="line">
            <a:avLst/>
          </a:prstGeom>
          <a:noFill/>
          <a:ln w="15240">
            <a:solidFill>
              <a:srgbClr val="94A3B8"/>
            </a:solidFill>
            <a:prstDash val="solid"/>
          </a:ln>
        </p:spPr>
      </p:sp>
      <p:sp>
        <p:nvSpPr>
          <p:cNvPr id="12" name="Shape 10"/>
          <p:cNvSpPr/>
          <p:nvPr/>
        </p:nvSpPr>
        <p:spPr>
          <a:xfrm>
            <a:off x="7680960" y="1783080"/>
            <a:ext cx="0" cy="182880"/>
          </a:xfrm>
          <a:prstGeom prst="line">
            <a:avLst/>
          </a:prstGeom>
          <a:noFill/>
          <a:ln w="15240">
            <a:solidFill>
              <a:srgbClr val="94A3B8"/>
            </a:solidFill>
            <a:prstDash val="solid"/>
          </a:ln>
        </p:spPr>
      </p:sp>
      <p:sp>
        <p:nvSpPr>
          <p:cNvPr id="13" name="Shape 11"/>
          <p:cNvSpPr/>
          <p:nvPr/>
        </p:nvSpPr>
        <p:spPr>
          <a:xfrm>
            <a:off x="274320" y="1965960"/>
            <a:ext cx="2286000" cy="475488"/>
          </a:xfrm>
          <a:prstGeom prst="roundRect">
            <a:avLst>
              <a:gd name="adj" fmla="val 19231"/>
            </a:avLst>
          </a:prstGeom>
          <a:solidFill>
            <a:srgbClr val="DBEAFE"/>
          </a:solidFill>
          <a:ln w="19050">
            <a:solidFill>
              <a:srgbClr val="1B4FD8"/>
            </a:solidFill>
            <a:prstDash val="solid"/>
          </a:ln>
        </p:spPr>
      </p:sp>
      <p:sp>
        <p:nvSpPr>
          <p:cNvPr id="14" name="Text 12"/>
          <p:cNvSpPr/>
          <p:nvPr/>
        </p:nvSpPr>
        <p:spPr>
          <a:xfrm>
            <a:off x="274320" y="1965960"/>
            <a:ext cx="2286000" cy="475488"/>
          </a:xfrm>
          <a:prstGeom prst="rect">
            <a:avLst/>
          </a:prstGeom>
          <a:noFill/>
          <a:ln/>
        </p:spPr>
        <p:txBody>
          <a:bodyPr wrap="square" lIns="0" tIns="0" rIns="0" bIns="0" rtlCol="0" anchor="ctr"/>
          <a:lstStyle/>
          <a:p>
            <a:pPr algn="ctr" indent="0" marL="0">
              <a:buNone/>
            </a:pPr>
            <a:r>
              <a:rPr lang="en-US" sz="1100" b="1" dirty="0">
                <a:solidFill>
                  <a:srgbClr val="1B4FD8"/>
                </a:solidFill>
                <a:latin typeface="Arial" pitchFamily="34" charset="0"/>
                <a:ea typeface="Arial" pitchFamily="34" charset="-122"/>
                <a:cs typeface="Arial" pitchFamily="34" charset="-120"/>
              </a:rPr>
              <a:t>📅  Voir mon EDT</a:t>
            </a:r>
            <a:endParaRPr lang="en-US" sz="1100" dirty="0"/>
          </a:p>
        </p:txBody>
      </p:sp>
      <p:sp>
        <p:nvSpPr>
          <p:cNvPr id="15" name="Shape 13"/>
          <p:cNvSpPr/>
          <p:nvPr/>
        </p:nvSpPr>
        <p:spPr>
          <a:xfrm>
            <a:off x="1417320" y="2441448"/>
            <a:ext cx="0" cy="201168"/>
          </a:xfrm>
          <a:prstGeom prst="line">
            <a:avLst/>
          </a:prstGeom>
          <a:noFill/>
          <a:ln w="12700">
            <a:solidFill>
              <a:srgbClr val="1B4FD8"/>
            </a:solidFill>
            <a:prstDash val="dash"/>
          </a:ln>
        </p:spPr>
      </p:sp>
      <p:sp>
        <p:nvSpPr>
          <p:cNvPr id="16" name="Shape 14"/>
          <p:cNvSpPr/>
          <p:nvPr/>
        </p:nvSpPr>
        <p:spPr>
          <a:xfrm>
            <a:off x="384048" y="2642616"/>
            <a:ext cx="2066544" cy="0"/>
          </a:xfrm>
          <a:prstGeom prst="line">
            <a:avLst/>
          </a:prstGeom>
          <a:noFill/>
          <a:ln w="12700">
            <a:solidFill>
              <a:srgbClr val="1B4FD8"/>
            </a:solidFill>
            <a:prstDash val="dash"/>
          </a:ln>
        </p:spPr>
      </p:sp>
      <p:sp>
        <p:nvSpPr>
          <p:cNvPr id="17" name="Shape 15"/>
          <p:cNvSpPr/>
          <p:nvPr/>
        </p:nvSpPr>
        <p:spPr>
          <a:xfrm>
            <a:off x="384048" y="2642616"/>
            <a:ext cx="0" cy="164592"/>
          </a:xfrm>
          <a:prstGeom prst="line">
            <a:avLst/>
          </a:prstGeom>
          <a:noFill/>
          <a:ln w="12700">
            <a:solidFill>
              <a:srgbClr val="1B4FD8"/>
            </a:solidFill>
            <a:prstDash val="dash"/>
          </a:ln>
        </p:spPr>
      </p:sp>
      <p:sp>
        <p:nvSpPr>
          <p:cNvPr id="18" name="Shape 16"/>
          <p:cNvSpPr/>
          <p:nvPr/>
        </p:nvSpPr>
        <p:spPr>
          <a:xfrm>
            <a:off x="1417320" y="2642616"/>
            <a:ext cx="0" cy="164592"/>
          </a:xfrm>
          <a:prstGeom prst="line">
            <a:avLst/>
          </a:prstGeom>
          <a:noFill/>
          <a:ln w="12700">
            <a:solidFill>
              <a:srgbClr val="1B4FD8"/>
            </a:solidFill>
            <a:prstDash val="dash"/>
          </a:ln>
        </p:spPr>
      </p:sp>
      <p:sp>
        <p:nvSpPr>
          <p:cNvPr id="19" name="Shape 17"/>
          <p:cNvSpPr/>
          <p:nvPr/>
        </p:nvSpPr>
        <p:spPr>
          <a:xfrm>
            <a:off x="2450592" y="2642616"/>
            <a:ext cx="0" cy="164592"/>
          </a:xfrm>
          <a:prstGeom prst="line">
            <a:avLst/>
          </a:prstGeom>
          <a:noFill/>
          <a:ln w="12700">
            <a:solidFill>
              <a:srgbClr val="1B4FD8"/>
            </a:solidFill>
            <a:prstDash val="dash"/>
          </a:ln>
        </p:spPr>
      </p:sp>
      <p:sp>
        <p:nvSpPr>
          <p:cNvPr id="20" name="Shape 18"/>
          <p:cNvSpPr/>
          <p:nvPr/>
        </p:nvSpPr>
        <p:spPr>
          <a:xfrm>
            <a:off x="-91440" y="2807208"/>
            <a:ext cx="960120" cy="594360"/>
          </a:xfrm>
          <a:prstGeom prst="roundRect">
            <a:avLst>
              <a:gd name="adj" fmla="val 12308"/>
            </a:avLst>
          </a:prstGeom>
          <a:solidFill>
            <a:srgbClr val="EFF6FF"/>
          </a:solidFill>
          <a:ln w="12700">
            <a:solidFill>
              <a:srgbClr val="1B4FD8"/>
            </a:solidFill>
            <a:prstDash val="solid"/>
          </a:ln>
        </p:spPr>
      </p:sp>
      <p:sp>
        <p:nvSpPr>
          <p:cNvPr id="21" name="Text 19"/>
          <p:cNvSpPr/>
          <p:nvPr/>
        </p:nvSpPr>
        <p:spPr>
          <a:xfrm>
            <a:off x="-91440" y="2834640"/>
            <a:ext cx="960120" cy="256032"/>
          </a:xfrm>
          <a:prstGeom prst="rect">
            <a:avLst/>
          </a:prstGeom>
          <a:noFill/>
          <a:ln/>
        </p:spPr>
        <p:txBody>
          <a:bodyPr wrap="square" lIns="0" tIns="0" rIns="0" bIns="0" rtlCol="0" anchor="ctr"/>
          <a:lstStyle/>
          <a:p>
            <a:pPr algn="ctr" indent="0" marL="0">
              <a:buNone/>
            </a:pPr>
            <a:r>
              <a:rPr lang="en-US" sz="900" b="1" dirty="0">
                <a:solidFill>
                  <a:srgbClr val="1B4FD8"/>
                </a:solidFill>
                <a:latin typeface="Arial" pitchFamily="34" charset="0"/>
                <a:ea typeface="Arial" pitchFamily="34" charset="-122"/>
                <a:cs typeface="Arial" pitchFamily="34" charset="-120"/>
              </a:rPr>
              <a:t>Filière</a:t>
            </a:r>
            <a:endParaRPr lang="en-US" sz="900" dirty="0"/>
          </a:p>
        </p:txBody>
      </p:sp>
      <p:sp>
        <p:nvSpPr>
          <p:cNvPr id="22" name="Text 20"/>
          <p:cNvSpPr/>
          <p:nvPr/>
        </p:nvSpPr>
        <p:spPr>
          <a:xfrm>
            <a:off x="-91440" y="3072384"/>
            <a:ext cx="960120" cy="256032"/>
          </a:xfrm>
          <a:prstGeom prst="rect">
            <a:avLst/>
          </a:prstGeom>
          <a:noFill/>
          <a:ln/>
        </p:spPr>
        <p:txBody>
          <a:bodyPr wrap="square" lIns="0" tIns="0" rIns="0" bIns="0" rtlCol="0" anchor="ctr"/>
          <a:lstStyle/>
          <a:p>
            <a:pPr algn="ctr" indent="0" marL="0">
              <a:buNone/>
            </a:pPr>
            <a:r>
              <a:rPr lang="en-US" sz="850" dirty="0">
                <a:solidFill>
                  <a:srgbClr val="1E293B"/>
                </a:solidFill>
                <a:latin typeface="Arial" pitchFamily="34" charset="0"/>
                <a:ea typeface="Arial" pitchFamily="34" charset="-122"/>
                <a:cs typeface="Arial" pitchFamily="34" charset="-120"/>
              </a:rPr>
              <a:t>L-INFO / L-MATH</a:t>
            </a:r>
            <a:endParaRPr lang="en-US" sz="850" dirty="0"/>
          </a:p>
        </p:txBody>
      </p:sp>
      <p:sp>
        <p:nvSpPr>
          <p:cNvPr id="23" name="Shape 21"/>
          <p:cNvSpPr/>
          <p:nvPr/>
        </p:nvSpPr>
        <p:spPr>
          <a:xfrm>
            <a:off x="914400" y="2807208"/>
            <a:ext cx="960120" cy="594360"/>
          </a:xfrm>
          <a:prstGeom prst="roundRect">
            <a:avLst>
              <a:gd name="adj" fmla="val 12308"/>
            </a:avLst>
          </a:prstGeom>
          <a:solidFill>
            <a:srgbClr val="EFF6FF"/>
          </a:solidFill>
          <a:ln w="12700">
            <a:solidFill>
              <a:srgbClr val="1B4FD8"/>
            </a:solidFill>
            <a:prstDash val="solid"/>
          </a:ln>
        </p:spPr>
      </p:sp>
      <p:sp>
        <p:nvSpPr>
          <p:cNvPr id="24" name="Text 22"/>
          <p:cNvSpPr/>
          <p:nvPr/>
        </p:nvSpPr>
        <p:spPr>
          <a:xfrm>
            <a:off x="914400" y="2834640"/>
            <a:ext cx="960120" cy="256032"/>
          </a:xfrm>
          <a:prstGeom prst="rect">
            <a:avLst/>
          </a:prstGeom>
          <a:noFill/>
          <a:ln/>
        </p:spPr>
        <p:txBody>
          <a:bodyPr wrap="square" lIns="0" tIns="0" rIns="0" bIns="0" rtlCol="0" anchor="ctr"/>
          <a:lstStyle/>
          <a:p>
            <a:pPr algn="ctr" indent="0" marL="0">
              <a:buNone/>
            </a:pPr>
            <a:r>
              <a:rPr lang="en-US" sz="900" b="1" dirty="0">
                <a:solidFill>
                  <a:srgbClr val="1B4FD8"/>
                </a:solidFill>
                <a:latin typeface="Arial" pitchFamily="34" charset="0"/>
                <a:ea typeface="Arial" pitchFamily="34" charset="-122"/>
                <a:cs typeface="Arial" pitchFamily="34" charset="-120"/>
              </a:rPr>
              <a:t>Niveau</a:t>
            </a:r>
            <a:endParaRPr lang="en-US" sz="900" dirty="0"/>
          </a:p>
        </p:txBody>
      </p:sp>
      <p:sp>
        <p:nvSpPr>
          <p:cNvPr id="25" name="Text 23"/>
          <p:cNvSpPr/>
          <p:nvPr/>
        </p:nvSpPr>
        <p:spPr>
          <a:xfrm>
            <a:off x="914400" y="3072384"/>
            <a:ext cx="960120" cy="256032"/>
          </a:xfrm>
          <a:prstGeom prst="rect">
            <a:avLst/>
          </a:prstGeom>
          <a:noFill/>
          <a:ln/>
        </p:spPr>
        <p:txBody>
          <a:bodyPr wrap="square" lIns="0" tIns="0" rIns="0" bIns="0" rtlCol="0" anchor="ctr"/>
          <a:lstStyle/>
          <a:p>
            <a:pPr algn="ctr" indent="0" marL="0">
              <a:buNone/>
            </a:pPr>
            <a:r>
              <a:rPr lang="en-US" sz="850" dirty="0">
                <a:solidFill>
                  <a:srgbClr val="1E293B"/>
                </a:solidFill>
                <a:latin typeface="Arial" pitchFamily="34" charset="0"/>
                <a:ea typeface="Arial" pitchFamily="34" charset="-122"/>
                <a:cs typeface="Arial" pitchFamily="34" charset="-120"/>
              </a:rPr>
              <a:t>L1/L2/L3</a:t>
            </a:r>
            <a:endParaRPr lang="en-US" sz="850" dirty="0"/>
          </a:p>
        </p:txBody>
      </p:sp>
      <p:sp>
        <p:nvSpPr>
          <p:cNvPr id="26" name="Shape 24"/>
          <p:cNvSpPr/>
          <p:nvPr/>
        </p:nvSpPr>
        <p:spPr>
          <a:xfrm>
            <a:off x="1920240" y="2807208"/>
            <a:ext cx="960120" cy="594360"/>
          </a:xfrm>
          <a:prstGeom prst="roundRect">
            <a:avLst>
              <a:gd name="adj" fmla="val 12308"/>
            </a:avLst>
          </a:prstGeom>
          <a:solidFill>
            <a:srgbClr val="EFF6FF"/>
          </a:solidFill>
          <a:ln w="12700">
            <a:solidFill>
              <a:srgbClr val="1B4FD8"/>
            </a:solidFill>
            <a:prstDash val="solid"/>
          </a:ln>
        </p:spPr>
      </p:sp>
      <p:sp>
        <p:nvSpPr>
          <p:cNvPr id="27" name="Text 25"/>
          <p:cNvSpPr/>
          <p:nvPr/>
        </p:nvSpPr>
        <p:spPr>
          <a:xfrm>
            <a:off x="1920240" y="2834640"/>
            <a:ext cx="960120" cy="256032"/>
          </a:xfrm>
          <a:prstGeom prst="rect">
            <a:avLst/>
          </a:prstGeom>
          <a:noFill/>
          <a:ln/>
        </p:spPr>
        <p:txBody>
          <a:bodyPr wrap="square" lIns="0" tIns="0" rIns="0" bIns="0" rtlCol="0" anchor="ctr"/>
          <a:lstStyle/>
          <a:p>
            <a:pPr algn="ctr" indent="0" marL="0">
              <a:buNone/>
            </a:pPr>
            <a:r>
              <a:rPr lang="en-US" sz="900" b="1" dirty="0">
                <a:solidFill>
                  <a:srgbClr val="1B4FD8"/>
                </a:solidFill>
                <a:latin typeface="Arial" pitchFamily="34" charset="0"/>
                <a:ea typeface="Arial" pitchFamily="34" charset="-122"/>
                <a:cs typeface="Arial" pitchFamily="34" charset="-120"/>
              </a:rPr>
              <a:t>Période</a:t>
            </a:r>
            <a:endParaRPr lang="en-US" sz="900" dirty="0"/>
          </a:p>
        </p:txBody>
      </p:sp>
      <p:sp>
        <p:nvSpPr>
          <p:cNvPr id="28" name="Text 26"/>
          <p:cNvSpPr/>
          <p:nvPr/>
        </p:nvSpPr>
        <p:spPr>
          <a:xfrm>
            <a:off x="1920240" y="3072384"/>
            <a:ext cx="960120" cy="256032"/>
          </a:xfrm>
          <a:prstGeom prst="rect">
            <a:avLst/>
          </a:prstGeom>
          <a:noFill/>
          <a:ln/>
        </p:spPr>
        <p:txBody>
          <a:bodyPr wrap="square" lIns="0" tIns="0" rIns="0" bIns="0" rtlCol="0" anchor="ctr"/>
          <a:lstStyle/>
          <a:p>
            <a:pPr algn="ctr" indent="0" marL="0">
              <a:buNone/>
            </a:pPr>
            <a:r>
              <a:rPr lang="en-US" sz="850" dirty="0">
                <a:solidFill>
                  <a:srgbClr val="1E293B"/>
                </a:solidFill>
                <a:latin typeface="Arial" pitchFamily="34" charset="0"/>
                <a:ea typeface="Arial" pitchFamily="34" charset="-122"/>
                <a:cs typeface="Arial" pitchFamily="34" charset="-120"/>
              </a:rPr>
              <a:t>Jour ou Semaine</a:t>
            </a:r>
            <a:endParaRPr lang="en-US" sz="850" dirty="0"/>
          </a:p>
        </p:txBody>
      </p:sp>
      <p:sp>
        <p:nvSpPr>
          <p:cNvPr id="29" name="Shape 27"/>
          <p:cNvSpPr/>
          <p:nvPr/>
        </p:nvSpPr>
        <p:spPr>
          <a:xfrm>
            <a:off x="45720" y="3520440"/>
            <a:ext cx="2743200" cy="475488"/>
          </a:xfrm>
          <a:prstGeom prst="roundRect">
            <a:avLst>
              <a:gd name="adj" fmla="val 15385"/>
            </a:avLst>
          </a:prstGeom>
          <a:solidFill>
            <a:srgbClr val="0D1B2A"/>
          </a:solidFill>
          <a:ln w="12700">
            <a:solidFill>
              <a:srgbClr val="1B4FD8"/>
            </a:solidFill>
            <a:prstDash val="solid"/>
          </a:ln>
        </p:spPr>
      </p:sp>
      <p:sp>
        <p:nvSpPr>
          <p:cNvPr id="30" name="Text 28"/>
          <p:cNvSpPr/>
          <p:nvPr/>
        </p:nvSpPr>
        <p:spPr>
          <a:xfrm>
            <a:off x="45720" y="3520440"/>
            <a:ext cx="2743200" cy="475488"/>
          </a:xfrm>
          <a:prstGeom prst="rect">
            <a:avLst/>
          </a:prstGeom>
          <a:noFill/>
          <a:ln/>
        </p:spPr>
        <p:txBody>
          <a:bodyPr wrap="square" lIns="0" tIns="0" rIns="0" bIns="0" rtlCol="0" anchor="ctr"/>
          <a:lstStyle/>
          <a:p>
            <a:pPr algn="ctr" indent="0" marL="0">
              <a:buNone/>
            </a:pPr>
            <a:r>
              <a:rPr lang="en-US" sz="1000" b="1" dirty="0">
                <a:solidFill>
                  <a:srgbClr val="0EA5E9"/>
                </a:solidFill>
                <a:latin typeface="Arial" pitchFamily="34" charset="0"/>
                <a:ea typeface="Arial" pitchFamily="34" charset="-122"/>
                <a:cs typeface="Arial" pitchFamily="34" charset="-120"/>
              </a:rPr>
              <a:t>📊 Tableau EDT + 📥 Bouton PDF</a:t>
            </a:r>
            <a:endParaRPr lang="en-US" sz="1000" dirty="0"/>
          </a:p>
        </p:txBody>
      </p:sp>
      <p:sp>
        <p:nvSpPr>
          <p:cNvPr id="31" name="Shape 29"/>
          <p:cNvSpPr/>
          <p:nvPr/>
        </p:nvSpPr>
        <p:spPr>
          <a:xfrm>
            <a:off x="3429000" y="1965960"/>
            <a:ext cx="2286000" cy="475488"/>
          </a:xfrm>
          <a:prstGeom prst="roundRect">
            <a:avLst>
              <a:gd name="adj" fmla="val 19231"/>
            </a:avLst>
          </a:prstGeom>
          <a:solidFill>
            <a:srgbClr val="FEF3C7"/>
          </a:solidFill>
          <a:ln w="19050">
            <a:solidFill>
              <a:srgbClr val="F59E0B"/>
            </a:solidFill>
            <a:prstDash val="solid"/>
          </a:ln>
        </p:spPr>
      </p:sp>
      <p:sp>
        <p:nvSpPr>
          <p:cNvPr id="32" name="Text 30"/>
          <p:cNvSpPr/>
          <p:nvPr/>
        </p:nvSpPr>
        <p:spPr>
          <a:xfrm>
            <a:off x="3429000" y="1965960"/>
            <a:ext cx="2286000" cy="475488"/>
          </a:xfrm>
          <a:prstGeom prst="rect">
            <a:avLst/>
          </a:prstGeom>
          <a:noFill/>
          <a:ln/>
        </p:spPr>
        <p:txBody>
          <a:bodyPr wrap="square" lIns="0" tIns="0" rIns="0" bIns="0" rtlCol="0" anchor="ctr"/>
          <a:lstStyle/>
          <a:p>
            <a:pPr algn="ctr" indent="0" marL="0">
              <a:buNone/>
            </a:pPr>
            <a:r>
              <a:rPr lang="en-US" sz="1100" b="1" dirty="0">
                <a:solidFill>
                  <a:srgbClr val="F59E0B"/>
                </a:solidFill>
                <a:latin typeface="Arial" pitchFamily="34" charset="0"/>
                <a:ea typeface="Arial" pitchFamily="34" charset="-122"/>
                <a:cs typeface="Arial" pitchFamily="34" charset="-120"/>
              </a:rPr>
              <a:t>🔔  Alertes 48h</a:t>
            </a:r>
            <a:endParaRPr lang="en-US" sz="1100" dirty="0"/>
          </a:p>
        </p:txBody>
      </p:sp>
      <p:sp>
        <p:nvSpPr>
          <p:cNvPr id="33" name="Shape 31"/>
          <p:cNvSpPr/>
          <p:nvPr/>
        </p:nvSpPr>
        <p:spPr>
          <a:xfrm>
            <a:off x="4572000" y="2441448"/>
            <a:ext cx="0" cy="457200"/>
          </a:xfrm>
          <a:prstGeom prst="line">
            <a:avLst/>
          </a:prstGeom>
          <a:noFill/>
          <a:ln w="12700">
            <a:solidFill>
              <a:srgbClr val="F59E0B"/>
            </a:solidFill>
            <a:prstDash val="dash"/>
          </a:ln>
        </p:spPr>
      </p:sp>
      <p:sp>
        <p:nvSpPr>
          <p:cNvPr id="34" name="Shape 32"/>
          <p:cNvSpPr/>
          <p:nvPr/>
        </p:nvSpPr>
        <p:spPr>
          <a:xfrm>
            <a:off x="3429000" y="2898648"/>
            <a:ext cx="2286000" cy="1097280"/>
          </a:xfrm>
          <a:prstGeom prst="roundRect">
            <a:avLst>
              <a:gd name="adj" fmla="val 6667"/>
            </a:avLst>
          </a:prstGeom>
          <a:solidFill>
            <a:srgbClr val="FFFBEB"/>
          </a:solidFill>
          <a:ln w="12700">
            <a:solidFill>
              <a:srgbClr val="F59E0B"/>
            </a:solidFill>
            <a:prstDash val="solid"/>
          </a:ln>
        </p:spPr>
      </p:sp>
      <p:sp>
        <p:nvSpPr>
          <p:cNvPr id="35" name="Text 33"/>
          <p:cNvSpPr/>
          <p:nvPr/>
        </p:nvSpPr>
        <p:spPr>
          <a:xfrm>
            <a:off x="3520440" y="2944368"/>
            <a:ext cx="2103120" cy="1005840"/>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Liste des modifications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Matière: Réseaux</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Lundi 08h → Mardi 10h</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Motif: Salle indisponible</a:t>
            </a:r>
            <a:endParaRPr lang="en-US" sz="950" dirty="0"/>
          </a:p>
        </p:txBody>
      </p:sp>
      <p:sp>
        <p:nvSpPr>
          <p:cNvPr id="36" name="Shape 34"/>
          <p:cNvSpPr/>
          <p:nvPr/>
        </p:nvSpPr>
        <p:spPr>
          <a:xfrm>
            <a:off x="3429000" y="4023360"/>
            <a:ext cx="2286000" cy="384048"/>
          </a:xfrm>
          <a:prstGeom prst="roundRect">
            <a:avLst>
              <a:gd name="adj" fmla="val 19048"/>
            </a:avLst>
          </a:prstGeom>
          <a:solidFill>
            <a:srgbClr val="FEF3C7"/>
          </a:solidFill>
          <a:ln w="12700">
            <a:solidFill>
              <a:srgbClr val="F59E0B"/>
            </a:solidFill>
            <a:prstDash val="solid"/>
          </a:ln>
        </p:spPr>
      </p:sp>
      <p:sp>
        <p:nvSpPr>
          <p:cNvPr id="37" name="Text 35"/>
          <p:cNvSpPr/>
          <p:nvPr/>
        </p:nvSpPr>
        <p:spPr>
          <a:xfrm>
            <a:off x="3429000" y="4023360"/>
            <a:ext cx="2286000" cy="384048"/>
          </a:xfrm>
          <a:prstGeom prst="rect">
            <a:avLst/>
          </a:prstGeom>
          <a:noFill/>
          <a:ln/>
        </p:spPr>
        <p:txBody>
          <a:bodyPr wrap="square" lIns="0" tIns="0" rIns="0" bIns="0" rtlCol="0" anchor="ctr"/>
          <a:lstStyle/>
          <a:p>
            <a:pPr algn="ctr" indent="0" marL="0">
              <a:buNone/>
            </a:pPr>
            <a:r>
              <a:rPr lang="en-US" sz="1000" dirty="0">
                <a:solidFill>
                  <a:srgbClr val="F59E0B"/>
                </a:solidFill>
                <a:latin typeface="Arial" pitchFamily="34" charset="0"/>
                <a:ea typeface="Arial" pitchFamily="34" charset="-122"/>
                <a:cs typeface="Arial" pitchFamily="34" charset="-120"/>
              </a:rPr>
              <a:t>🏠 Retour accueil</a:t>
            </a:r>
            <a:endParaRPr lang="en-US" sz="1000" dirty="0"/>
          </a:p>
        </p:txBody>
      </p:sp>
      <p:sp>
        <p:nvSpPr>
          <p:cNvPr id="38" name="Shape 36"/>
          <p:cNvSpPr/>
          <p:nvPr/>
        </p:nvSpPr>
        <p:spPr>
          <a:xfrm>
            <a:off x="6583680" y="1965960"/>
            <a:ext cx="2286000" cy="475488"/>
          </a:xfrm>
          <a:prstGeom prst="roundRect">
            <a:avLst>
              <a:gd name="adj" fmla="val 19231"/>
            </a:avLst>
          </a:prstGeom>
          <a:solidFill>
            <a:srgbClr val="D1FAE5"/>
          </a:solidFill>
          <a:ln w="19050">
            <a:solidFill>
              <a:srgbClr val="10B981"/>
            </a:solidFill>
            <a:prstDash val="solid"/>
          </a:ln>
        </p:spPr>
      </p:sp>
      <p:sp>
        <p:nvSpPr>
          <p:cNvPr id="39" name="Text 37"/>
          <p:cNvSpPr/>
          <p:nvPr/>
        </p:nvSpPr>
        <p:spPr>
          <a:xfrm>
            <a:off x="6583680" y="1965960"/>
            <a:ext cx="2286000" cy="475488"/>
          </a:xfrm>
          <a:prstGeom prst="rect">
            <a:avLst/>
          </a:prstGeom>
          <a:noFill/>
          <a:ln/>
        </p:spPr>
        <p:txBody>
          <a:bodyPr wrap="square" lIns="0" tIns="0" rIns="0" bIns="0" rtlCol="0" anchor="ctr"/>
          <a:lstStyle/>
          <a:p>
            <a:pPr algn="ctr" indent="0" marL="0">
              <a:buNone/>
            </a:pPr>
            <a:r>
              <a:rPr lang="en-US" sz="1100" b="1" dirty="0">
                <a:solidFill>
                  <a:srgbClr val="10B981"/>
                </a:solidFill>
                <a:latin typeface="Arial" pitchFamily="34" charset="0"/>
                <a:ea typeface="Arial" pitchFamily="34" charset="-122"/>
                <a:cs typeface="Arial" pitchFamily="34" charset="-120"/>
              </a:rPr>
              <a:t>👨‍🏫  Je suis Enseignant</a:t>
            </a:r>
            <a:endParaRPr lang="en-US" sz="1100" dirty="0"/>
          </a:p>
        </p:txBody>
      </p:sp>
      <p:sp>
        <p:nvSpPr>
          <p:cNvPr id="40" name="Shape 38"/>
          <p:cNvSpPr/>
          <p:nvPr/>
        </p:nvSpPr>
        <p:spPr>
          <a:xfrm>
            <a:off x="7726680" y="2441448"/>
            <a:ext cx="0" cy="365760"/>
          </a:xfrm>
          <a:prstGeom prst="line">
            <a:avLst/>
          </a:prstGeom>
          <a:noFill/>
          <a:ln w="12700">
            <a:solidFill>
              <a:srgbClr val="10B981"/>
            </a:solidFill>
            <a:prstDash val="dash"/>
          </a:ln>
        </p:spPr>
      </p:sp>
      <p:sp>
        <p:nvSpPr>
          <p:cNvPr id="41" name="Shape 39"/>
          <p:cNvSpPr/>
          <p:nvPr/>
        </p:nvSpPr>
        <p:spPr>
          <a:xfrm>
            <a:off x="6583680" y="2807208"/>
            <a:ext cx="2286000" cy="457200"/>
          </a:xfrm>
          <a:prstGeom prst="roundRect">
            <a:avLst>
              <a:gd name="adj" fmla="val 16000"/>
            </a:avLst>
          </a:prstGeom>
          <a:solidFill>
            <a:srgbClr val="F0FDF4"/>
          </a:solidFill>
          <a:ln w="12700">
            <a:solidFill>
              <a:srgbClr val="10B981"/>
            </a:solidFill>
            <a:prstDash val="solid"/>
          </a:ln>
        </p:spPr>
      </p:sp>
      <p:sp>
        <p:nvSpPr>
          <p:cNvPr id="42" name="Text 40"/>
          <p:cNvSpPr/>
          <p:nvPr/>
        </p:nvSpPr>
        <p:spPr>
          <a:xfrm>
            <a:off x="6675120" y="2834640"/>
            <a:ext cx="2103120" cy="384048"/>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Liste des enseignants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Cliquer son nom</a:t>
            </a:r>
            <a:endParaRPr lang="en-US" sz="950" dirty="0"/>
          </a:p>
        </p:txBody>
      </p:sp>
      <p:sp>
        <p:nvSpPr>
          <p:cNvPr id="43" name="Shape 41"/>
          <p:cNvSpPr/>
          <p:nvPr/>
        </p:nvSpPr>
        <p:spPr>
          <a:xfrm>
            <a:off x="7726680" y="3264408"/>
            <a:ext cx="0" cy="274320"/>
          </a:xfrm>
          <a:prstGeom prst="line">
            <a:avLst/>
          </a:prstGeom>
          <a:noFill/>
          <a:ln w="12700">
            <a:solidFill>
              <a:srgbClr val="10B981"/>
            </a:solidFill>
            <a:prstDash val="dash"/>
          </a:ln>
        </p:spPr>
      </p:sp>
      <p:sp>
        <p:nvSpPr>
          <p:cNvPr id="44" name="Shape 42"/>
          <p:cNvSpPr/>
          <p:nvPr/>
        </p:nvSpPr>
        <p:spPr>
          <a:xfrm>
            <a:off x="6583680" y="3538728"/>
            <a:ext cx="2286000" cy="475488"/>
          </a:xfrm>
          <a:prstGeom prst="roundRect">
            <a:avLst>
              <a:gd name="adj" fmla="val 15385"/>
            </a:avLst>
          </a:prstGeom>
          <a:solidFill>
            <a:srgbClr val="0D1B2A"/>
          </a:solidFill>
          <a:ln w="12700">
            <a:solidFill>
              <a:srgbClr val="10B981"/>
            </a:solidFill>
            <a:prstDash val="solid"/>
          </a:ln>
        </p:spPr>
      </p:sp>
      <p:sp>
        <p:nvSpPr>
          <p:cNvPr id="45" name="Text 43"/>
          <p:cNvSpPr/>
          <p:nvPr/>
        </p:nvSpPr>
        <p:spPr>
          <a:xfrm>
            <a:off x="6583680" y="3538728"/>
            <a:ext cx="2286000" cy="475488"/>
          </a:xfrm>
          <a:prstGeom prst="rect">
            <a:avLst/>
          </a:prstGeom>
          <a:noFill/>
          <a:ln/>
        </p:spPr>
        <p:txBody>
          <a:bodyPr wrap="square" lIns="0" tIns="0" rIns="0" bIns="0"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 Planning semaine perso</a:t>
            </a:r>
            <a:endParaRPr lang="en-US" sz="1000" dirty="0"/>
          </a:p>
        </p:txBody>
      </p:sp>
      <p:sp>
        <p:nvSpPr>
          <p:cNvPr id="46" name="Shape 44"/>
          <p:cNvSpPr/>
          <p:nvPr/>
        </p:nvSpPr>
        <p:spPr>
          <a:xfrm>
            <a:off x="274320" y="4462272"/>
            <a:ext cx="8595360" cy="475488"/>
          </a:xfrm>
          <a:prstGeom prst="roundRect">
            <a:avLst>
              <a:gd name="adj" fmla="val 19231"/>
            </a:avLst>
          </a:prstGeom>
          <a:solidFill>
            <a:srgbClr val="F1F5F9"/>
          </a:solidFill>
          <a:ln w="12700">
            <a:solidFill>
              <a:srgbClr val="CBD5E1"/>
            </a:solidFill>
            <a:prstDash val="solid"/>
          </a:ln>
        </p:spPr>
      </p:sp>
      <p:sp>
        <p:nvSpPr>
          <p:cNvPr id="47" name="Shape 45"/>
          <p:cNvSpPr/>
          <p:nvPr/>
        </p:nvSpPr>
        <p:spPr>
          <a:xfrm>
            <a:off x="365760" y="4498848"/>
            <a:ext cx="7315200" cy="365760"/>
          </a:xfrm>
          <a:prstGeom prst="roundRect">
            <a:avLst>
              <a:gd name="adj" fmla="val 20000"/>
            </a:avLst>
          </a:prstGeom>
          <a:solidFill>
            <a:srgbClr val="FFFFFF"/>
          </a:solidFill>
          <a:ln w="19050">
            <a:solidFill>
              <a:srgbClr val="1B4FD8"/>
            </a:solidFill>
            <a:prstDash val="solid"/>
          </a:ln>
        </p:spPr>
      </p:sp>
      <p:sp>
        <p:nvSpPr>
          <p:cNvPr id="48" name="Text 46"/>
          <p:cNvSpPr/>
          <p:nvPr/>
        </p:nvSpPr>
        <p:spPr>
          <a:xfrm>
            <a:off x="457200" y="4517136"/>
            <a:ext cx="7132320" cy="329184"/>
          </a:xfrm>
          <a:prstGeom prst="rect">
            <a:avLst/>
          </a:prstGeom>
          <a:noFill/>
          <a:ln/>
        </p:spPr>
        <p:txBody>
          <a:bodyPr wrap="square" lIns="0" tIns="0" rIns="0" bIns="0" rtlCol="0" anchor="ctr"/>
          <a:lstStyle/>
          <a:p>
            <a:pPr indent="0" marL="0">
              <a:buNone/>
            </a:pPr>
            <a:r>
              <a:rPr lang="en-US" sz="1100" dirty="0">
                <a:solidFill>
                  <a:srgbClr val="94A3B8"/>
                </a:solidFill>
                <a:latin typeface="Arial" pitchFamily="34" charset="0"/>
                <a:ea typeface="Arial" pitchFamily="34" charset="-122"/>
                <a:cs typeface="Arial" pitchFamily="34" charset="-120"/>
              </a:rPr>
              <a:t>✍️  Écrivez : edt / lundi / alertes / prof / semaine / pdf / aide...</a:t>
            </a:r>
            <a:endParaRPr lang="en-US" sz="1100" dirty="0"/>
          </a:p>
        </p:txBody>
      </p:sp>
      <p:sp>
        <p:nvSpPr>
          <p:cNvPr id="49" name="Shape 47"/>
          <p:cNvSpPr/>
          <p:nvPr/>
        </p:nvSpPr>
        <p:spPr>
          <a:xfrm>
            <a:off x="7772400" y="4507992"/>
            <a:ext cx="804672" cy="347472"/>
          </a:xfrm>
          <a:prstGeom prst="ellipse">
            <a:avLst/>
          </a:prstGeom>
          <a:solidFill>
            <a:srgbClr val="1B4FD8"/>
          </a:solidFill>
          <a:ln w="12700">
            <a:solidFill>
              <a:srgbClr val="1B4FD8"/>
            </a:solidFill>
            <a:prstDash val="solid"/>
          </a:ln>
        </p:spPr>
      </p:sp>
      <p:sp>
        <p:nvSpPr>
          <p:cNvPr id="50" name="Text 48"/>
          <p:cNvSpPr/>
          <p:nvPr/>
        </p:nvSpPr>
        <p:spPr>
          <a:xfrm>
            <a:off x="7772400" y="4507992"/>
            <a:ext cx="804672"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 Envoyer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87552"/>
          </a:xfrm>
          <a:prstGeom prst="rect">
            <a:avLst/>
          </a:prstGeom>
          <a:solidFill>
            <a:srgbClr val="0D1B2A"/>
          </a:solidFill>
          <a:ln w="12700">
            <a:solidFill>
              <a:srgbClr val="0D1B2A"/>
            </a:solidFill>
            <a:prstDash val="solid"/>
          </a:ln>
        </p:spPr>
      </p:sp>
      <p:sp>
        <p:nvSpPr>
          <p:cNvPr id="3" name="Text 1"/>
          <p:cNvSpPr/>
          <p:nvPr/>
        </p:nvSpPr>
        <p:spPr>
          <a:xfrm>
            <a:off x="457200" y="64008"/>
            <a:ext cx="8229600" cy="329184"/>
          </a:xfrm>
          <a:prstGeom prst="rect">
            <a:avLst/>
          </a:prstGeom>
          <a:noFill/>
          <a:ln/>
        </p:spPr>
        <p:txBody>
          <a:bodyPr wrap="square" lIns="0" tIns="0" rIns="0" bIns="0" rtlCol="0" anchor="ctr"/>
          <a:lstStyle/>
          <a:p>
            <a:pPr indent="0" marL="0">
              <a:buNone/>
            </a:pPr>
            <a:r>
              <a:rPr lang="en-US" sz="1000" b="1" spc="400" kern="0" dirty="0">
                <a:solidFill>
                  <a:srgbClr val="0EA5E9"/>
                </a:solidFill>
                <a:latin typeface="Arial" pitchFamily="34" charset="0"/>
                <a:ea typeface="Arial" pitchFamily="34" charset="-122"/>
                <a:cs typeface="Arial" pitchFamily="34" charset="-120"/>
              </a:rPr>
              <a:t>SECTION 6 — EXPORT PDF</a:t>
            </a:r>
            <a:endParaRPr lang="en-US" sz="1000" dirty="0"/>
          </a:p>
        </p:txBody>
      </p:sp>
      <p:sp>
        <p:nvSpPr>
          <p:cNvPr id="4" name="Text 2"/>
          <p:cNvSpPr/>
          <p:nvPr/>
        </p:nvSpPr>
        <p:spPr>
          <a:xfrm>
            <a:off x="457200" y="402336"/>
            <a:ext cx="6400800" cy="493776"/>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Générer et télécharger son planning</a:t>
            </a:r>
            <a:endParaRPr lang="en-US" sz="2000" dirty="0"/>
          </a:p>
        </p:txBody>
      </p:sp>
      <p:sp>
        <p:nvSpPr>
          <p:cNvPr id="5" name="Text 3"/>
          <p:cNvSpPr/>
          <p:nvPr/>
        </p:nvSpPr>
        <p:spPr>
          <a:xfrm>
            <a:off x="6583680" y="457200"/>
            <a:ext cx="2377440" cy="384048"/>
          </a:xfrm>
          <a:prstGeom prst="rect">
            <a:avLst/>
          </a:prstGeom>
          <a:noFill/>
          <a:ln/>
        </p:spPr>
        <p:txBody>
          <a:bodyPr wrap="square" lIns="0" tIns="0" rIns="0" bIns="0" rtlCol="0" anchor="ctr"/>
          <a:lstStyle/>
          <a:p>
            <a:pPr algn="r" indent="0" marL="0">
              <a:buNone/>
            </a:pPr>
            <a:r>
              <a:rPr lang="en-US" sz="1100" dirty="0">
                <a:solidFill>
                  <a:srgbClr val="0EA5E9"/>
                </a:solidFill>
                <a:latin typeface="Arial" pitchFamily="34" charset="0"/>
                <a:ea typeface="Arial" pitchFamily="34" charset="-122"/>
                <a:cs typeface="Arial" pitchFamily="34" charset="-120"/>
              </a:rPr>
              <a:t>Tous les rôles</a:t>
            </a:r>
            <a:endParaRPr lang="en-US" sz="1100" dirty="0"/>
          </a:p>
        </p:txBody>
      </p:sp>
      <p:sp>
        <p:nvSpPr>
          <p:cNvPr id="6" name="Shape 4"/>
          <p:cNvSpPr/>
          <p:nvPr/>
        </p:nvSpPr>
        <p:spPr>
          <a:xfrm>
            <a:off x="274320" y="1051560"/>
            <a:ext cx="2084832" cy="2743200"/>
          </a:xfrm>
          <a:prstGeom prst="roundRect">
            <a:avLst>
              <a:gd name="adj" fmla="val 6140"/>
            </a:avLst>
          </a:prstGeom>
          <a:solidFill>
            <a:srgbClr val="DBEAFE"/>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7" name="Text 5"/>
          <p:cNvSpPr/>
          <p:nvPr/>
        </p:nvSpPr>
        <p:spPr>
          <a:xfrm>
            <a:off x="274320" y="1097280"/>
            <a:ext cx="2084832" cy="457200"/>
          </a:xfrm>
          <a:prstGeom prst="rect">
            <a:avLst/>
          </a:prstGeom>
          <a:noFill/>
          <a:ln/>
        </p:spPr>
        <p:txBody>
          <a:bodyPr wrap="square" lIns="0" tIns="0" rIns="0" bIns="0" rtlCol="0" anchor="ctr"/>
          <a:lstStyle/>
          <a:p>
            <a:pPr algn="ct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8" name="Shape 6"/>
          <p:cNvSpPr/>
          <p:nvPr/>
        </p:nvSpPr>
        <p:spPr>
          <a:xfrm>
            <a:off x="1051560" y="1536192"/>
            <a:ext cx="530352" cy="530352"/>
          </a:xfrm>
          <a:prstGeom prst="ellipse">
            <a:avLst/>
          </a:prstGeom>
          <a:solidFill>
            <a:srgbClr val="1B4FD8"/>
          </a:solidFill>
          <a:ln w="12700">
            <a:solidFill>
              <a:srgbClr val="1B4FD8"/>
            </a:solidFill>
            <a:prstDash val="solid"/>
          </a:ln>
        </p:spPr>
      </p:sp>
      <p:sp>
        <p:nvSpPr>
          <p:cNvPr id="9" name="Text 7"/>
          <p:cNvSpPr/>
          <p:nvPr/>
        </p:nvSpPr>
        <p:spPr>
          <a:xfrm>
            <a:off x="1051560" y="1536192"/>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0" name="Text 8"/>
          <p:cNvSpPr/>
          <p:nvPr/>
        </p:nvSpPr>
        <p:spPr>
          <a:xfrm>
            <a:off x="365760" y="2148840"/>
            <a:ext cx="1901952" cy="347472"/>
          </a:xfrm>
          <a:prstGeom prst="rect">
            <a:avLst/>
          </a:prstGeom>
          <a:noFill/>
          <a:ln/>
        </p:spPr>
        <p:txBody>
          <a:bodyPr wrap="square" lIns="0" tIns="0" rIns="0" bIns="0" rtlCol="0" anchor="ctr"/>
          <a:lstStyle/>
          <a:p>
            <a:pPr algn="ctr" indent="0" marL="0">
              <a:buNone/>
            </a:pPr>
            <a:r>
              <a:rPr lang="en-US" sz="1200" b="1" dirty="0">
                <a:solidFill>
                  <a:srgbClr val="1B4FD8"/>
                </a:solidFill>
                <a:latin typeface="Arial" pitchFamily="34" charset="0"/>
                <a:ea typeface="Arial" pitchFamily="34" charset="-122"/>
                <a:cs typeface="Arial" pitchFamily="34" charset="-120"/>
              </a:rPr>
              <a:t>Dans le Chatbot</a:t>
            </a:r>
            <a:endParaRPr lang="en-US" sz="1200" dirty="0"/>
          </a:p>
        </p:txBody>
      </p:sp>
      <p:sp>
        <p:nvSpPr>
          <p:cNvPr id="11" name="Text 9"/>
          <p:cNvSpPr/>
          <p:nvPr/>
        </p:nvSpPr>
        <p:spPr>
          <a:xfrm>
            <a:off x="365760" y="2532888"/>
            <a:ext cx="1901952" cy="117043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Consulter votre EDT (jour ou semaine). Le bouton vert PDF apparaît automatiquement sous le tableau de résultats.</a:t>
            </a:r>
            <a:endParaRPr lang="en-US" sz="1000" dirty="0"/>
          </a:p>
        </p:txBody>
      </p:sp>
      <p:sp>
        <p:nvSpPr>
          <p:cNvPr id="12" name="Text 10"/>
          <p:cNvSpPr/>
          <p:nvPr/>
        </p:nvSpPr>
        <p:spPr>
          <a:xfrm>
            <a:off x="2377440" y="2286000"/>
            <a:ext cx="128016" cy="256032"/>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2496312" y="1051560"/>
            <a:ext cx="2084832" cy="2743200"/>
          </a:xfrm>
          <a:prstGeom prst="roundRect">
            <a:avLst>
              <a:gd name="adj" fmla="val 6140"/>
            </a:avLst>
          </a:prstGeom>
          <a:solidFill>
            <a:srgbClr val="D1FAE5"/>
          </a:solidFill>
          <a:ln w="19050">
            <a:solidFill>
              <a:srgbClr val="10B981"/>
            </a:solidFill>
            <a:prstDash val="solid"/>
          </a:ln>
          <a:effectLst>
            <a:outerShdw sx="100000" sy="100000" kx="0" ky="0" algn="bl" rotWithShape="0" blurRad="88900" dist="25400" dir="2700000">
              <a:srgbClr val="000000">
                <a:alpha val="13000"/>
              </a:srgbClr>
            </a:outerShdw>
          </a:effectLst>
        </p:spPr>
      </p:sp>
      <p:sp>
        <p:nvSpPr>
          <p:cNvPr id="14" name="Text 12"/>
          <p:cNvSpPr/>
          <p:nvPr/>
        </p:nvSpPr>
        <p:spPr>
          <a:xfrm>
            <a:off x="2496312" y="1097280"/>
            <a:ext cx="2084832" cy="457200"/>
          </a:xfrm>
          <a:prstGeom prst="rect">
            <a:avLst/>
          </a:prstGeom>
          <a:noFill/>
          <a:ln/>
        </p:spPr>
        <p:txBody>
          <a:bodyPr wrap="square" lIns="0" tIns="0" rIns="0" bIns="0" rtlCol="0" anchor="ctr"/>
          <a:lstStyle/>
          <a:p>
            <a:pPr algn="ct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15" name="Shape 13"/>
          <p:cNvSpPr/>
          <p:nvPr/>
        </p:nvSpPr>
        <p:spPr>
          <a:xfrm>
            <a:off x="3273552" y="1536192"/>
            <a:ext cx="530352" cy="530352"/>
          </a:xfrm>
          <a:prstGeom prst="ellipse">
            <a:avLst/>
          </a:prstGeom>
          <a:solidFill>
            <a:srgbClr val="10B981"/>
          </a:solidFill>
          <a:ln w="12700">
            <a:solidFill>
              <a:srgbClr val="10B981"/>
            </a:solidFill>
            <a:prstDash val="solid"/>
          </a:ln>
        </p:spPr>
      </p:sp>
      <p:sp>
        <p:nvSpPr>
          <p:cNvPr id="16" name="Text 14"/>
          <p:cNvSpPr/>
          <p:nvPr/>
        </p:nvSpPr>
        <p:spPr>
          <a:xfrm>
            <a:off x="3273552" y="1536192"/>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7" name="Text 15"/>
          <p:cNvSpPr/>
          <p:nvPr/>
        </p:nvSpPr>
        <p:spPr>
          <a:xfrm>
            <a:off x="2587752" y="2148840"/>
            <a:ext cx="1901952" cy="347472"/>
          </a:xfrm>
          <a:prstGeom prst="rect">
            <a:avLst/>
          </a:prstGeom>
          <a:noFill/>
          <a:ln/>
        </p:spPr>
        <p:txBody>
          <a:bodyPr wrap="square" lIns="0" tIns="0" rIns="0" bIns="0" rtlCol="0" anchor="ctr"/>
          <a:lstStyle/>
          <a:p>
            <a:pPr algn="ctr" indent="0" marL="0">
              <a:buNone/>
            </a:pPr>
            <a:r>
              <a:rPr lang="en-US" sz="1200" b="1" dirty="0">
                <a:solidFill>
                  <a:srgbClr val="10B981"/>
                </a:solidFill>
                <a:latin typeface="Arial" pitchFamily="34" charset="0"/>
                <a:ea typeface="Arial" pitchFamily="34" charset="-122"/>
                <a:cs typeface="Arial" pitchFamily="34" charset="-120"/>
              </a:rPr>
              <a:t>Cliquer le bouton</a:t>
            </a:r>
            <a:endParaRPr lang="en-US" sz="1200" dirty="0"/>
          </a:p>
        </p:txBody>
      </p:sp>
      <p:sp>
        <p:nvSpPr>
          <p:cNvPr id="18" name="Text 16"/>
          <p:cNvSpPr/>
          <p:nvPr/>
        </p:nvSpPr>
        <p:spPr>
          <a:xfrm>
            <a:off x="2587752" y="2532888"/>
            <a:ext cx="1901952" cy="117043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Bouton vert '⬇️ Télécharger PDF' visible après chaque résultat d'emploi du temps dans le chat.</a:t>
            </a:r>
            <a:endParaRPr lang="en-US" sz="1000" dirty="0"/>
          </a:p>
        </p:txBody>
      </p:sp>
      <p:sp>
        <p:nvSpPr>
          <p:cNvPr id="19" name="Text 17"/>
          <p:cNvSpPr/>
          <p:nvPr/>
        </p:nvSpPr>
        <p:spPr>
          <a:xfrm>
            <a:off x="4599432" y="2286000"/>
            <a:ext cx="128016" cy="256032"/>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4718304" y="1051560"/>
            <a:ext cx="2084832" cy="2743200"/>
          </a:xfrm>
          <a:prstGeom prst="roundRect">
            <a:avLst>
              <a:gd name="adj" fmla="val 6140"/>
            </a:avLst>
          </a:prstGeom>
          <a:solidFill>
            <a:srgbClr val="E0F7FA"/>
          </a:solidFill>
          <a:ln w="19050">
            <a:solidFill>
              <a:srgbClr val="0EA5E9"/>
            </a:solidFill>
            <a:prstDash val="solid"/>
          </a:ln>
          <a:effectLst>
            <a:outerShdw sx="100000" sy="100000" kx="0" ky="0" algn="bl" rotWithShape="0" blurRad="88900" dist="25400" dir="2700000">
              <a:srgbClr val="000000">
                <a:alpha val="13000"/>
              </a:srgbClr>
            </a:outerShdw>
          </a:effectLst>
        </p:spPr>
      </p:sp>
      <p:sp>
        <p:nvSpPr>
          <p:cNvPr id="21" name="Text 19"/>
          <p:cNvSpPr/>
          <p:nvPr/>
        </p:nvSpPr>
        <p:spPr>
          <a:xfrm>
            <a:off x="4718304" y="1097280"/>
            <a:ext cx="2084832" cy="457200"/>
          </a:xfrm>
          <a:prstGeom prst="rect">
            <a:avLst/>
          </a:prstGeom>
          <a:noFill/>
          <a:ln/>
        </p:spPr>
        <p:txBody>
          <a:bodyPr wrap="square" lIns="0" tIns="0" rIns="0" bIns="0" rtlCol="0" anchor="ctr"/>
          <a:lstStyle/>
          <a:p>
            <a:pPr algn="ct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22" name="Shape 20"/>
          <p:cNvSpPr/>
          <p:nvPr/>
        </p:nvSpPr>
        <p:spPr>
          <a:xfrm>
            <a:off x="5495544" y="1536192"/>
            <a:ext cx="530352" cy="530352"/>
          </a:xfrm>
          <a:prstGeom prst="ellipse">
            <a:avLst/>
          </a:prstGeom>
          <a:solidFill>
            <a:srgbClr val="0EA5E9"/>
          </a:solidFill>
          <a:ln w="12700">
            <a:solidFill>
              <a:srgbClr val="0EA5E9"/>
            </a:solidFill>
            <a:prstDash val="solid"/>
          </a:ln>
        </p:spPr>
      </p:sp>
      <p:sp>
        <p:nvSpPr>
          <p:cNvPr id="23" name="Text 21"/>
          <p:cNvSpPr/>
          <p:nvPr/>
        </p:nvSpPr>
        <p:spPr>
          <a:xfrm>
            <a:off x="5495544" y="1536192"/>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4" name="Text 22"/>
          <p:cNvSpPr/>
          <p:nvPr/>
        </p:nvSpPr>
        <p:spPr>
          <a:xfrm>
            <a:off x="4809744" y="2148840"/>
            <a:ext cx="1901952" cy="347472"/>
          </a:xfrm>
          <a:prstGeom prst="rect">
            <a:avLst/>
          </a:prstGeom>
          <a:noFill/>
          <a:ln/>
        </p:spPr>
        <p:txBody>
          <a:bodyPr wrap="square" lIns="0" tIns="0" rIns="0" bIns="0" rtlCol="0" anchor="ctr"/>
          <a:lstStyle/>
          <a:p>
            <a:pPr algn="ctr" indent="0" marL="0">
              <a:buNone/>
            </a:pPr>
            <a:r>
              <a:rPr lang="en-US" sz="1200" b="1" dirty="0">
                <a:solidFill>
                  <a:srgbClr val="0EA5E9"/>
                </a:solidFill>
                <a:latin typeface="Arial" pitchFamily="34" charset="0"/>
                <a:ea typeface="Arial" pitchFamily="34" charset="-122"/>
                <a:cs typeface="Arial" pitchFamily="34" charset="-120"/>
              </a:rPr>
              <a:t>Traitement serveur</a:t>
            </a:r>
            <a:endParaRPr lang="en-US" sz="1200" dirty="0"/>
          </a:p>
        </p:txBody>
      </p:sp>
      <p:sp>
        <p:nvSpPr>
          <p:cNvPr id="25" name="Text 23"/>
          <p:cNvSpPr/>
          <p:nvPr/>
        </p:nvSpPr>
        <p:spPr>
          <a:xfrm>
            <a:off x="4809744" y="2532888"/>
            <a:ext cx="1901952" cy="117043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Laravel interroge la BDD, charge la vue Blade, DomPDF compile le HTML en flux binaire PDF.</a:t>
            </a:r>
            <a:endParaRPr lang="en-US" sz="1000" dirty="0"/>
          </a:p>
        </p:txBody>
      </p:sp>
      <p:sp>
        <p:nvSpPr>
          <p:cNvPr id="26" name="Text 24"/>
          <p:cNvSpPr/>
          <p:nvPr/>
        </p:nvSpPr>
        <p:spPr>
          <a:xfrm>
            <a:off x="6821424" y="2286000"/>
            <a:ext cx="128016" cy="256032"/>
          </a:xfrm>
          <a:prstGeom prst="rect">
            <a:avLst/>
          </a:prstGeom>
          <a:noFill/>
          <a:ln/>
        </p:spPr>
        <p:txBody>
          <a:bodyPr wrap="square" lIns="0" tIns="0" rIns="0" bIns="0"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a:t>
            </a:r>
            <a:endParaRPr lang="en-US" sz="1600" dirty="0"/>
          </a:p>
        </p:txBody>
      </p:sp>
      <p:sp>
        <p:nvSpPr>
          <p:cNvPr id="27" name="Shape 25"/>
          <p:cNvSpPr/>
          <p:nvPr/>
        </p:nvSpPr>
        <p:spPr>
          <a:xfrm>
            <a:off x="6940296" y="1051560"/>
            <a:ext cx="2084832" cy="2743200"/>
          </a:xfrm>
          <a:prstGeom prst="roundRect">
            <a:avLst>
              <a:gd name="adj" fmla="val 6140"/>
            </a:avLst>
          </a:prstGeom>
          <a:solidFill>
            <a:srgbClr val="EDE9FE"/>
          </a:solidFill>
          <a:ln w="19050">
            <a:solidFill>
              <a:srgbClr val="4C1D95"/>
            </a:solidFill>
            <a:prstDash val="solid"/>
          </a:ln>
          <a:effectLst>
            <a:outerShdw sx="100000" sy="100000" kx="0" ky="0" algn="bl" rotWithShape="0" blurRad="88900" dist="25400" dir="2700000">
              <a:srgbClr val="000000">
                <a:alpha val="13000"/>
              </a:srgbClr>
            </a:outerShdw>
          </a:effectLst>
        </p:spPr>
      </p:sp>
      <p:sp>
        <p:nvSpPr>
          <p:cNvPr id="28" name="Text 26"/>
          <p:cNvSpPr/>
          <p:nvPr/>
        </p:nvSpPr>
        <p:spPr>
          <a:xfrm>
            <a:off x="6940296" y="1097280"/>
            <a:ext cx="2084832" cy="457200"/>
          </a:xfrm>
          <a:prstGeom prst="rect">
            <a:avLst/>
          </a:prstGeom>
          <a:noFill/>
          <a:ln/>
        </p:spPr>
        <p:txBody>
          <a:bodyPr wrap="square" lIns="0" tIns="0" rIns="0" bIns="0" rtlCol="0" anchor="ctr"/>
          <a:lstStyle/>
          <a:p>
            <a:pPr algn="ctr" indent="0" marL="0">
              <a:buNone/>
            </a:pPr>
            <a:r>
              <a:rPr lang="en-US" sz="2600" dirty="0">
                <a:solidFill>
                  <a:srgbClr val="000000"/>
                </a:solidFill>
                <a:latin typeface="Arial" pitchFamily="34" charset="0"/>
                <a:ea typeface="Arial" pitchFamily="34" charset="-122"/>
                <a:cs typeface="Arial" pitchFamily="34" charset="-120"/>
              </a:rPr>
              <a:t>📥</a:t>
            </a:r>
            <a:endParaRPr lang="en-US" sz="2600" dirty="0"/>
          </a:p>
        </p:txBody>
      </p:sp>
      <p:sp>
        <p:nvSpPr>
          <p:cNvPr id="29" name="Shape 27"/>
          <p:cNvSpPr/>
          <p:nvPr/>
        </p:nvSpPr>
        <p:spPr>
          <a:xfrm>
            <a:off x="7717536" y="1536192"/>
            <a:ext cx="530352" cy="530352"/>
          </a:xfrm>
          <a:prstGeom prst="ellipse">
            <a:avLst/>
          </a:prstGeom>
          <a:solidFill>
            <a:srgbClr val="4C1D95"/>
          </a:solidFill>
          <a:ln w="12700">
            <a:solidFill>
              <a:srgbClr val="4C1D95"/>
            </a:solidFill>
            <a:prstDash val="solid"/>
          </a:ln>
        </p:spPr>
      </p:sp>
      <p:sp>
        <p:nvSpPr>
          <p:cNvPr id="30" name="Text 28"/>
          <p:cNvSpPr/>
          <p:nvPr/>
        </p:nvSpPr>
        <p:spPr>
          <a:xfrm>
            <a:off x="7717536" y="1536192"/>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1" name="Text 29"/>
          <p:cNvSpPr/>
          <p:nvPr/>
        </p:nvSpPr>
        <p:spPr>
          <a:xfrm>
            <a:off x="7031736" y="2148840"/>
            <a:ext cx="1901952" cy="347472"/>
          </a:xfrm>
          <a:prstGeom prst="rect">
            <a:avLst/>
          </a:prstGeom>
          <a:noFill/>
          <a:ln/>
        </p:spPr>
        <p:txBody>
          <a:bodyPr wrap="square" lIns="0" tIns="0" rIns="0" bIns="0" rtlCol="0" anchor="ctr"/>
          <a:lstStyle/>
          <a:p>
            <a:pPr algn="ctr" indent="0" marL="0">
              <a:buNone/>
            </a:pPr>
            <a:r>
              <a:rPr lang="en-US" sz="1200" b="1" dirty="0">
                <a:solidFill>
                  <a:srgbClr val="4C1D95"/>
                </a:solidFill>
                <a:latin typeface="Arial" pitchFamily="34" charset="0"/>
                <a:ea typeface="Arial" pitchFamily="34" charset="-122"/>
                <a:cs typeface="Arial" pitchFamily="34" charset="-120"/>
              </a:rPr>
              <a:t>Téléchargement auto</a:t>
            </a:r>
            <a:endParaRPr lang="en-US" sz="1200" dirty="0"/>
          </a:p>
        </p:txBody>
      </p:sp>
      <p:sp>
        <p:nvSpPr>
          <p:cNvPr id="32" name="Text 30"/>
          <p:cNvSpPr/>
          <p:nvPr/>
        </p:nvSpPr>
        <p:spPr>
          <a:xfrm>
            <a:off x="7031736" y="2532888"/>
            <a:ext cx="1901952" cy="117043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Le navigateur déclenche automatiquement le téléchargement. Nom du fichier : EDT_NTIC_L2_Lundi.pdf</a:t>
            </a:r>
            <a:endParaRPr lang="en-US" sz="1000" dirty="0"/>
          </a:p>
        </p:txBody>
      </p:sp>
      <p:sp>
        <p:nvSpPr>
          <p:cNvPr id="33" name="Shape 31"/>
          <p:cNvSpPr/>
          <p:nvPr/>
        </p:nvSpPr>
        <p:spPr>
          <a:xfrm>
            <a:off x="274320" y="3931920"/>
            <a:ext cx="8595360" cy="804672"/>
          </a:xfrm>
          <a:prstGeom prst="roundRect">
            <a:avLst>
              <a:gd name="adj" fmla="val 13636"/>
            </a:avLst>
          </a:prstGeom>
          <a:solidFill>
            <a:srgbClr val="0D1B2A"/>
          </a:solidFill>
          <a:ln w="19050">
            <a:solidFill>
              <a:srgbClr val="0EA5E9"/>
            </a:solidFill>
            <a:prstDash val="solid"/>
          </a:ln>
        </p:spPr>
      </p:sp>
      <p:sp>
        <p:nvSpPr>
          <p:cNvPr id="34" name="Text 32"/>
          <p:cNvSpPr/>
          <p:nvPr/>
        </p:nvSpPr>
        <p:spPr>
          <a:xfrm>
            <a:off x="457200" y="3986784"/>
            <a:ext cx="8229600" cy="292608"/>
          </a:xfrm>
          <a:prstGeom prst="rect">
            <a:avLst/>
          </a:prstGeom>
          <a:noFill/>
          <a:ln/>
        </p:spPr>
        <p:txBody>
          <a:bodyPr wrap="square" lIns="0" tIns="0" rIns="0" bIns="0" rtlCol="0" anchor="ctr"/>
          <a:lstStyle/>
          <a:p>
            <a:pPr indent="0" marL="0">
              <a:buNone/>
            </a:pPr>
            <a:r>
              <a:rPr lang="en-US" sz="1200" b="1" dirty="0">
                <a:solidFill>
                  <a:srgbClr val="0EA5E9"/>
                </a:solidFill>
                <a:latin typeface="Arial" pitchFamily="34" charset="0"/>
                <a:ea typeface="Arial" pitchFamily="34" charset="-122"/>
                <a:cs typeface="Arial" pitchFamily="34" charset="-120"/>
              </a:rPr>
              <a:t>📄  Nommage dynamique du fichier PDF :</a:t>
            </a:r>
            <a:endParaRPr lang="en-US" sz="1200" dirty="0"/>
          </a:p>
        </p:txBody>
      </p:sp>
      <p:sp>
        <p:nvSpPr>
          <p:cNvPr id="35" name="Text 33"/>
          <p:cNvSpPr/>
          <p:nvPr/>
        </p:nvSpPr>
        <p:spPr>
          <a:xfrm>
            <a:off x="457200" y="4279392"/>
            <a:ext cx="8229600" cy="384048"/>
          </a:xfrm>
          <a:prstGeom prst="rect">
            <a:avLst/>
          </a:prstGeom>
          <a:noFill/>
          <a:ln/>
        </p:spPr>
        <p:txBody>
          <a:bodyPr wrap="square" lIns="0" tIns="0" rIns="0" bIns="0" rtlCol="0" anchor="ctr"/>
          <a:lstStyle/>
          <a:p>
            <a:pPr indent="0" marL="0">
              <a:buNone/>
            </a:pPr>
            <a:r>
              <a:rPr lang="en-US" sz="1300" dirty="0">
                <a:solidFill>
                  <a:srgbClr val="0EA5E9"/>
                </a:solidFill>
                <a:latin typeface="Courier New" pitchFamily="34" charset="0"/>
                <a:ea typeface="Courier New" pitchFamily="34" charset="-122"/>
                <a:cs typeface="Courier New" pitchFamily="34" charset="-120"/>
              </a:rPr>
              <a:t>EDT_</a:t>
            </a:r>
            <a:pPr indent="0" marL="0">
              <a:buNone/>
            </a:pPr>
            <a:r>
              <a:rPr lang="en-US" sz="1300" b="1" dirty="0">
                <a:solidFill>
                  <a:srgbClr val="10B981"/>
                </a:solidFill>
                <a:latin typeface="Courier New" pitchFamily="34" charset="0"/>
                <a:ea typeface="Courier New" pitchFamily="34" charset="-122"/>
                <a:cs typeface="Courier New" pitchFamily="34" charset="-120"/>
              </a:rPr>
              <a:t>NTIC</a:t>
            </a:r>
            <a:pPr indent="0" marL="0">
              <a:buNone/>
            </a:pPr>
            <a:r>
              <a:rPr lang="en-US" sz="1300" dirty="0">
                <a:solidFill>
                  <a:srgbClr val="0EA5E9"/>
                </a:solidFill>
                <a:latin typeface="Courier New" pitchFamily="34" charset="0"/>
                <a:ea typeface="Courier New" pitchFamily="34" charset="-122"/>
                <a:cs typeface="Courier New" pitchFamily="34" charset="-120"/>
              </a:rPr>
              <a:t>_</a:t>
            </a:r>
            <a:pPr indent="0" marL="0">
              <a:buNone/>
            </a:pPr>
            <a:r>
              <a:rPr lang="en-US" sz="1300" b="1" dirty="0">
                <a:solidFill>
                  <a:srgbClr val="F59E0B"/>
                </a:solidFill>
                <a:latin typeface="Courier New" pitchFamily="34" charset="0"/>
                <a:ea typeface="Courier New" pitchFamily="34" charset="-122"/>
                <a:cs typeface="Courier New" pitchFamily="34" charset="-120"/>
              </a:rPr>
              <a:t>L2</a:t>
            </a:r>
            <a:pPr indent="0" marL="0">
              <a:buNone/>
            </a:pPr>
            <a:r>
              <a:rPr lang="en-US" sz="1300" dirty="0">
                <a:solidFill>
                  <a:srgbClr val="0EA5E9"/>
                </a:solidFill>
                <a:latin typeface="Courier New" pitchFamily="34" charset="0"/>
                <a:ea typeface="Courier New" pitchFamily="34" charset="-122"/>
                <a:cs typeface="Courier New" pitchFamily="34" charset="-120"/>
              </a:rPr>
              <a:t>_</a:t>
            </a:r>
            <a:pPr indent="0" marL="0">
              <a:buNone/>
            </a:pPr>
            <a:r>
              <a:rPr lang="en-US" sz="1300" b="1" dirty="0">
                <a:solidFill>
                  <a:srgbClr val="EF4444"/>
                </a:solidFill>
                <a:latin typeface="Courier New" pitchFamily="34" charset="0"/>
                <a:ea typeface="Courier New" pitchFamily="34" charset="-122"/>
                <a:cs typeface="Courier New" pitchFamily="34" charset="-120"/>
              </a:rPr>
              <a:t>Lundi</a:t>
            </a:r>
            <a:pPr indent="0" marL="0">
              <a:buNone/>
            </a:pPr>
            <a:r>
              <a:rPr lang="en-US" sz="1300" dirty="0">
                <a:solidFill>
                  <a:srgbClr val="94A3B8"/>
                </a:solidFill>
                <a:latin typeface="Courier New" pitchFamily="34" charset="0"/>
                <a:ea typeface="Courier New" pitchFamily="34" charset="-122"/>
                <a:cs typeface="Courier New" pitchFamily="34" charset="-120"/>
              </a:rPr>
              <a:t>.pdf   →  Code filière + Niveau + Jour (ou 'Semaine' si vue complète)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731520"/>
            <a:ext cx="4572000" cy="4572000"/>
          </a:xfrm>
          <a:prstGeom prst="ellipse">
            <a:avLst/>
          </a:prstGeom>
          <a:solidFill>
            <a:srgbClr val="1B4FD8">
              <a:alpha val="18000"/>
            </a:srgbClr>
          </a:solidFill>
          <a:ln w="12700">
            <a:solidFill>
              <a:srgbClr val="1B4FD8"/>
            </a:solidFill>
            <a:prstDash val="solid"/>
          </a:ln>
        </p:spPr>
      </p:sp>
      <p:sp>
        <p:nvSpPr>
          <p:cNvPr id="3" name="Shape 1"/>
          <p:cNvSpPr/>
          <p:nvPr/>
        </p:nvSpPr>
        <p:spPr>
          <a:xfrm>
            <a:off x="-731520" y="2926080"/>
            <a:ext cx="3474720" cy="3474720"/>
          </a:xfrm>
          <a:prstGeom prst="ellipse">
            <a:avLst/>
          </a:prstGeom>
          <a:solidFill>
            <a:srgbClr val="0EA5E9">
              <a:alpha val="14000"/>
            </a:srgbClr>
          </a:solidFill>
          <a:ln w="12700">
            <a:solidFill>
              <a:srgbClr val="0EA5E9"/>
            </a:solidFill>
            <a:prstDash val="solid"/>
          </a:ln>
        </p:spPr>
      </p:sp>
      <p:sp>
        <p:nvSpPr>
          <p:cNvPr id="4" name="Text 2"/>
          <p:cNvSpPr/>
          <p:nvPr/>
        </p:nvSpPr>
        <p:spPr>
          <a:xfrm>
            <a:off x="457200" y="384048"/>
            <a:ext cx="8229600" cy="502920"/>
          </a:xfrm>
          <a:prstGeom prst="rect">
            <a:avLst/>
          </a:prstGeom>
          <a:noFill/>
          <a:ln/>
        </p:spPr>
        <p:txBody>
          <a:bodyPr wrap="square" lIns="0" tIns="0" rIns="0" bIns="0" rtlCol="0" anchor="ctr"/>
          <a:lstStyle/>
          <a:p>
            <a:pPr algn="ctr" indent="0" marL="0">
              <a:buNone/>
            </a:pPr>
            <a:r>
              <a:rPr lang="en-US" sz="3200" b="1" spc="300" kern="0" dirty="0">
                <a:solidFill>
                  <a:srgbClr val="0EA5E9"/>
                </a:solidFill>
                <a:latin typeface="Arial" pitchFamily="34" charset="0"/>
                <a:ea typeface="Arial" pitchFamily="34" charset="-122"/>
                <a:cs typeface="Arial" pitchFamily="34" charset="-120"/>
              </a:rPr>
              <a:t>RÉCAPITULATIF</a:t>
            </a:r>
            <a:endParaRPr lang="en-US" sz="3200" dirty="0"/>
          </a:p>
        </p:txBody>
      </p:sp>
      <p:sp>
        <p:nvSpPr>
          <p:cNvPr id="5" name="Text 3"/>
          <p:cNvSpPr/>
          <p:nvPr/>
        </p:nvSpPr>
        <p:spPr>
          <a:xfrm>
            <a:off x="457200" y="932688"/>
            <a:ext cx="8229600" cy="384048"/>
          </a:xfrm>
          <a:prstGeom prst="rect">
            <a:avLst/>
          </a:prstGeom>
          <a:noFill/>
          <a:ln/>
        </p:spPr>
        <p:txBody>
          <a:bodyPr wrap="square" lIns="0" tIns="0" rIns="0" bIns="0" rtlCol="0" anchor="ctr"/>
          <a:lstStyle/>
          <a:p>
            <a:pPr algn="ctr" indent="0" marL="0">
              <a:buNone/>
            </a:pPr>
            <a:r>
              <a:rPr lang="en-US" sz="1600" dirty="0">
                <a:solidFill>
                  <a:srgbClr val="FFFFFF"/>
                </a:solidFill>
                <a:latin typeface="Arial" pitchFamily="34" charset="0"/>
                <a:ea typeface="Arial" pitchFamily="34" charset="-122"/>
                <a:cs typeface="Arial" pitchFamily="34" charset="-120"/>
              </a:rPr>
              <a:t>Guide d'utilisation complet — Chatbot EDT UGANC</a:t>
            </a:r>
            <a:endParaRPr lang="en-US" sz="1600" dirty="0"/>
          </a:p>
        </p:txBody>
      </p:sp>
      <p:sp>
        <p:nvSpPr>
          <p:cNvPr id="6" name="Shape 4"/>
          <p:cNvSpPr/>
          <p:nvPr/>
        </p:nvSpPr>
        <p:spPr>
          <a:xfrm>
            <a:off x="274320" y="1463040"/>
            <a:ext cx="2743200" cy="2907792"/>
          </a:xfrm>
          <a:prstGeom prst="roundRect">
            <a:avLst>
              <a:gd name="adj" fmla="val 4667"/>
            </a:avLst>
          </a:prstGeom>
          <a:solidFill>
            <a:srgbClr val="DBEAFE">
              <a:alpha val="90000"/>
            </a:srgbClr>
          </a:solidFill>
          <a:ln w="19050">
            <a:solidFill>
              <a:srgbClr val="1B4FD8"/>
            </a:solidFill>
            <a:prstDash val="solid"/>
          </a:ln>
          <a:effectLst>
            <a:outerShdw sx="100000" sy="100000" kx="0" ky="0" algn="bl" rotWithShape="0" blurRad="88900" dist="25400" dir="2700000">
              <a:srgbClr val="000000">
                <a:alpha val="13000"/>
              </a:srgbClr>
            </a:outerShdw>
          </a:effectLst>
        </p:spPr>
      </p:sp>
      <p:sp>
        <p:nvSpPr>
          <p:cNvPr id="7" name="Text 5"/>
          <p:cNvSpPr/>
          <p:nvPr/>
        </p:nvSpPr>
        <p:spPr>
          <a:xfrm>
            <a:off x="274320" y="1508760"/>
            <a:ext cx="274320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8" name="Text 6"/>
          <p:cNvSpPr/>
          <p:nvPr/>
        </p:nvSpPr>
        <p:spPr>
          <a:xfrm>
            <a:off x="274320" y="1901952"/>
            <a:ext cx="2743200" cy="347472"/>
          </a:xfrm>
          <a:prstGeom prst="rect">
            <a:avLst/>
          </a:prstGeom>
          <a:noFill/>
          <a:ln/>
        </p:spPr>
        <p:txBody>
          <a:bodyPr wrap="square" lIns="0" tIns="0" rIns="0" bIns="0" rtlCol="0" anchor="ctr"/>
          <a:lstStyle/>
          <a:p>
            <a:pPr algn="ctr" indent="0" marL="0">
              <a:buNone/>
            </a:pPr>
            <a:r>
              <a:rPr lang="en-US" sz="1400" b="1" dirty="0">
                <a:solidFill>
                  <a:srgbClr val="1B4FD8"/>
                </a:solidFill>
                <a:latin typeface="Arial" pitchFamily="34" charset="0"/>
                <a:ea typeface="Arial" pitchFamily="34" charset="-122"/>
                <a:cs typeface="Arial" pitchFamily="34" charset="-120"/>
              </a:rPr>
              <a:t>Étudiant</a:t>
            </a:r>
            <a:endParaRPr lang="en-US" sz="1400" dirty="0"/>
          </a:p>
        </p:txBody>
      </p:sp>
      <p:sp>
        <p:nvSpPr>
          <p:cNvPr id="9" name="Shape 7"/>
          <p:cNvSpPr/>
          <p:nvPr/>
        </p:nvSpPr>
        <p:spPr>
          <a:xfrm>
            <a:off x="411480" y="2249424"/>
            <a:ext cx="2468880" cy="18288"/>
          </a:xfrm>
          <a:prstGeom prst="rect">
            <a:avLst/>
          </a:prstGeom>
          <a:solidFill>
            <a:srgbClr val="1B4FD8">
              <a:alpha val="50000"/>
            </a:srgbClr>
          </a:solidFill>
          <a:ln w="12700">
            <a:solidFill>
              <a:srgbClr val="1B4FD8"/>
            </a:solidFill>
            <a:prstDash val="solid"/>
          </a:ln>
        </p:spPr>
      </p:sp>
      <p:sp>
        <p:nvSpPr>
          <p:cNvPr id="10" name="Text 8"/>
          <p:cNvSpPr/>
          <p:nvPr/>
        </p:nvSpPr>
        <p:spPr>
          <a:xfrm>
            <a:off x="384048" y="2322576"/>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Dashboard personnalisé filière/niveau</a:t>
            </a:r>
            <a:endParaRPr lang="en-US" sz="1000" dirty="0"/>
          </a:p>
        </p:txBody>
      </p:sp>
      <p:sp>
        <p:nvSpPr>
          <p:cNvPr id="11" name="Text 9"/>
          <p:cNvSpPr/>
          <p:nvPr/>
        </p:nvSpPr>
        <p:spPr>
          <a:xfrm>
            <a:off x="384048" y="2798064"/>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Chatbot guidé (boutons) ou texte libre</a:t>
            </a:r>
            <a:endParaRPr lang="en-US" sz="1000" dirty="0"/>
          </a:p>
        </p:txBody>
      </p:sp>
      <p:sp>
        <p:nvSpPr>
          <p:cNvPr id="12" name="Text 10"/>
          <p:cNvSpPr/>
          <p:nvPr/>
        </p:nvSpPr>
        <p:spPr>
          <a:xfrm>
            <a:off x="384048" y="3273552"/>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Alertes modifs en temps réel (polling 30s)</a:t>
            </a:r>
            <a:endParaRPr lang="en-US" sz="1000" dirty="0"/>
          </a:p>
        </p:txBody>
      </p:sp>
      <p:sp>
        <p:nvSpPr>
          <p:cNvPr id="13" name="Text 11"/>
          <p:cNvSpPr/>
          <p:nvPr/>
        </p:nvSpPr>
        <p:spPr>
          <a:xfrm>
            <a:off x="384048" y="3749040"/>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Téléchargement PDF du planning</a:t>
            </a:r>
            <a:endParaRPr lang="en-US" sz="1000" dirty="0"/>
          </a:p>
        </p:txBody>
      </p:sp>
      <p:sp>
        <p:nvSpPr>
          <p:cNvPr id="14" name="Shape 12"/>
          <p:cNvSpPr/>
          <p:nvPr/>
        </p:nvSpPr>
        <p:spPr>
          <a:xfrm>
            <a:off x="3227832" y="1463040"/>
            <a:ext cx="2743200" cy="2907792"/>
          </a:xfrm>
          <a:prstGeom prst="roundRect">
            <a:avLst>
              <a:gd name="adj" fmla="val 4667"/>
            </a:avLst>
          </a:prstGeom>
          <a:solidFill>
            <a:srgbClr val="D1FAE5">
              <a:alpha val="90000"/>
            </a:srgbClr>
          </a:solidFill>
          <a:ln w="19050">
            <a:solidFill>
              <a:srgbClr val="10B981"/>
            </a:solidFill>
            <a:prstDash val="solid"/>
          </a:ln>
          <a:effectLst>
            <a:outerShdw sx="100000" sy="100000" kx="0" ky="0" algn="bl" rotWithShape="0" blurRad="88900" dist="25400" dir="2700000">
              <a:srgbClr val="000000">
                <a:alpha val="13000"/>
              </a:srgbClr>
            </a:outerShdw>
          </a:effectLst>
        </p:spPr>
      </p:sp>
      <p:sp>
        <p:nvSpPr>
          <p:cNvPr id="15" name="Text 13"/>
          <p:cNvSpPr/>
          <p:nvPr/>
        </p:nvSpPr>
        <p:spPr>
          <a:xfrm>
            <a:off x="3227832" y="1508760"/>
            <a:ext cx="274320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6" name="Text 14"/>
          <p:cNvSpPr/>
          <p:nvPr/>
        </p:nvSpPr>
        <p:spPr>
          <a:xfrm>
            <a:off x="3227832" y="1901952"/>
            <a:ext cx="2743200" cy="347472"/>
          </a:xfrm>
          <a:prstGeom prst="rect">
            <a:avLst/>
          </a:prstGeom>
          <a:noFill/>
          <a:ln/>
        </p:spPr>
        <p:txBody>
          <a:bodyPr wrap="square" lIns="0" tIns="0" rIns="0" bIns="0" rtlCol="0" anchor="ctr"/>
          <a:lstStyle/>
          <a:p>
            <a:pPr algn="ctr" indent="0" marL="0">
              <a:buNone/>
            </a:pPr>
            <a:r>
              <a:rPr lang="en-US" sz="1400" b="1" dirty="0">
                <a:solidFill>
                  <a:srgbClr val="10B981"/>
                </a:solidFill>
                <a:latin typeface="Arial" pitchFamily="34" charset="0"/>
                <a:ea typeface="Arial" pitchFamily="34" charset="-122"/>
                <a:cs typeface="Arial" pitchFamily="34" charset="-120"/>
              </a:rPr>
              <a:t>Enseignant</a:t>
            </a:r>
            <a:endParaRPr lang="en-US" sz="1400" dirty="0"/>
          </a:p>
        </p:txBody>
      </p:sp>
      <p:sp>
        <p:nvSpPr>
          <p:cNvPr id="17" name="Shape 15"/>
          <p:cNvSpPr/>
          <p:nvPr/>
        </p:nvSpPr>
        <p:spPr>
          <a:xfrm>
            <a:off x="3364992" y="2249424"/>
            <a:ext cx="2468880" cy="18288"/>
          </a:xfrm>
          <a:prstGeom prst="rect">
            <a:avLst/>
          </a:prstGeom>
          <a:solidFill>
            <a:srgbClr val="10B981">
              <a:alpha val="50000"/>
            </a:srgbClr>
          </a:solidFill>
          <a:ln w="12700">
            <a:solidFill>
              <a:srgbClr val="10B981"/>
            </a:solidFill>
            <a:prstDash val="solid"/>
          </a:ln>
        </p:spPr>
      </p:sp>
      <p:sp>
        <p:nvSpPr>
          <p:cNvPr id="18" name="Text 16"/>
          <p:cNvSpPr/>
          <p:nvPr/>
        </p:nvSpPr>
        <p:spPr>
          <a:xfrm>
            <a:off x="3337560" y="2322576"/>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Voir ses cours assignés chronologiquement</a:t>
            </a:r>
            <a:endParaRPr lang="en-US" sz="1000" dirty="0"/>
          </a:p>
        </p:txBody>
      </p:sp>
      <p:sp>
        <p:nvSpPr>
          <p:cNvPr id="19" name="Text 17"/>
          <p:cNvSpPr/>
          <p:nvPr/>
        </p:nvSpPr>
        <p:spPr>
          <a:xfrm>
            <a:off x="3337560" y="2798064"/>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Notifications d'affectation du Chef</a:t>
            </a:r>
            <a:endParaRPr lang="en-US" sz="1000" dirty="0"/>
          </a:p>
        </p:txBody>
      </p:sp>
      <p:sp>
        <p:nvSpPr>
          <p:cNvPr id="20" name="Text 18"/>
          <p:cNvSpPr/>
          <p:nvPr/>
        </p:nvSpPr>
        <p:spPr>
          <a:xfrm>
            <a:off x="3337560" y="3273552"/>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Modifier salle/jour/heure + motif obligatoire</a:t>
            </a:r>
            <a:endParaRPr lang="en-US" sz="1000" dirty="0"/>
          </a:p>
        </p:txBody>
      </p:sp>
      <p:sp>
        <p:nvSpPr>
          <p:cNvPr id="21" name="Text 19"/>
          <p:cNvSpPr/>
          <p:nvPr/>
        </p:nvSpPr>
        <p:spPr>
          <a:xfrm>
            <a:off x="3337560" y="3749040"/>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Alerte envoyée instantanément aux étudiants</a:t>
            </a:r>
            <a:endParaRPr lang="en-US" sz="1000" dirty="0"/>
          </a:p>
        </p:txBody>
      </p:sp>
      <p:sp>
        <p:nvSpPr>
          <p:cNvPr id="22" name="Shape 20"/>
          <p:cNvSpPr/>
          <p:nvPr/>
        </p:nvSpPr>
        <p:spPr>
          <a:xfrm>
            <a:off x="6181344" y="1463040"/>
            <a:ext cx="2743200" cy="2907792"/>
          </a:xfrm>
          <a:prstGeom prst="roundRect">
            <a:avLst>
              <a:gd name="adj" fmla="val 4667"/>
            </a:avLst>
          </a:prstGeom>
          <a:solidFill>
            <a:srgbClr val="EDE9FE">
              <a:alpha val="90000"/>
            </a:srgbClr>
          </a:solidFill>
          <a:ln w="19050">
            <a:solidFill>
              <a:srgbClr val="4C1D95"/>
            </a:solidFill>
            <a:prstDash val="solid"/>
          </a:ln>
          <a:effectLst>
            <a:outerShdw sx="100000" sy="100000" kx="0" ky="0" algn="bl" rotWithShape="0" blurRad="88900" dist="25400" dir="2700000">
              <a:srgbClr val="000000">
                <a:alpha val="13000"/>
              </a:srgbClr>
            </a:outerShdw>
          </a:effectLst>
        </p:spPr>
      </p:sp>
      <p:sp>
        <p:nvSpPr>
          <p:cNvPr id="23" name="Text 21"/>
          <p:cNvSpPr/>
          <p:nvPr/>
        </p:nvSpPr>
        <p:spPr>
          <a:xfrm>
            <a:off x="6181344" y="1508760"/>
            <a:ext cx="274320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24" name="Text 22"/>
          <p:cNvSpPr/>
          <p:nvPr/>
        </p:nvSpPr>
        <p:spPr>
          <a:xfrm>
            <a:off x="6181344" y="1901952"/>
            <a:ext cx="2743200" cy="347472"/>
          </a:xfrm>
          <a:prstGeom prst="rect">
            <a:avLst/>
          </a:prstGeom>
          <a:noFill/>
          <a:ln/>
        </p:spPr>
        <p:txBody>
          <a:bodyPr wrap="square" lIns="0" tIns="0" rIns="0" bIns="0" rtlCol="0" anchor="ctr"/>
          <a:lstStyle/>
          <a:p>
            <a:pPr algn="ctr" indent="0" marL="0">
              <a:buNone/>
            </a:pPr>
            <a:r>
              <a:rPr lang="en-US" sz="1400" b="1" dirty="0">
                <a:solidFill>
                  <a:srgbClr val="4C1D95"/>
                </a:solidFill>
                <a:latin typeface="Arial" pitchFamily="34" charset="0"/>
                <a:ea typeface="Arial" pitchFamily="34" charset="-122"/>
                <a:cs typeface="Arial" pitchFamily="34" charset="-120"/>
              </a:rPr>
              <a:t>Chef de Programme</a:t>
            </a:r>
            <a:endParaRPr lang="en-US" sz="1400" dirty="0"/>
          </a:p>
        </p:txBody>
      </p:sp>
      <p:sp>
        <p:nvSpPr>
          <p:cNvPr id="25" name="Shape 23"/>
          <p:cNvSpPr/>
          <p:nvPr/>
        </p:nvSpPr>
        <p:spPr>
          <a:xfrm>
            <a:off x="6318504" y="2249424"/>
            <a:ext cx="2468880" cy="18288"/>
          </a:xfrm>
          <a:prstGeom prst="rect">
            <a:avLst/>
          </a:prstGeom>
          <a:solidFill>
            <a:srgbClr val="4C1D95">
              <a:alpha val="50000"/>
            </a:srgbClr>
          </a:solidFill>
          <a:ln w="12700">
            <a:solidFill>
              <a:srgbClr val="4C1D95"/>
            </a:solidFill>
            <a:prstDash val="solid"/>
          </a:ln>
        </p:spPr>
      </p:sp>
      <p:sp>
        <p:nvSpPr>
          <p:cNvPr id="26" name="Text 24"/>
          <p:cNvSpPr/>
          <p:nvPr/>
        </p:nvSpPr>
        <p:spPr>
          <a:xfrm>
            <a:off x="6291072" y="2322576"/>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Publier annonces (ciblage + urgence + expiration)</a:t>
            </a:r>
            <a:endParaRPr lang="en-US" sz="1000" dirty="0"/>
          </a:p>
        </p:txBody>
      </p:sp>
      <p:sp>
        <p:nvSpPr>
          <p:cNvPr id="27" name="Text 25"/>
          <p:cNvSpPr/>
          <p:nvPr/>
        </p:nvSpPr>
        <p:spPr>
          <a:xfrm>
            <a:off x="6291072" y="2798064"/>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Créer matières (code unique) et enseignants</a:t>
            </a:r>
            <a:endParaRPr lang="en-US" sz="1000" dirty="0"/>
          </a:p>
        </p:txBody>
      </p:sp>
      <p:sp>
        <p:nvSpPr>
          <p:cNvPr id="28" name="Text 26"/>
          <p:cNvSpPr/>
          <p:nvPr/>
        </p:nvSpPr>
        <p:spPr>
          <a:xfrm>
            <a:off x="6291072" y="3273552"/>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Saisir l'EDT complet (8 champs)</a:t>
            </a:r>
            <a:endParaRPr lang="en-US" sz="1000" dirty="0"/>
          </a:p>
        </p:txBody>
      </p:sp>
      <p:sp>
        <p:nvSpPr>
          <p:cNvPr id="29" name="Text 27"/>
          <p:cNvSpPr/>
          <p:nvPr/>
        </p:nvSpPr>
        <p:spPr>
          <a:xfrm>
            <a:off x="6291072" y="3749040"/>
            <a:ext cx="2523744" cy="43891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  Supprimer cours, annonces, modifications</a:t>
            </a:r>
            <a:endParaRPr lang="en-US" sz="1000" dirty="0"/>
          </a:p>
        </p:txBody>
      </p:sp>
      <p:sp>
        <p:nvSpPr>
          <p:cNvPr id="30" name="Shape 28"/>
          <p:cNvSpPr/>
          <p:nvPr/>
        </p:nvSpPr>
        <p:spPr>
          <a:xfrm>
            <a:off x="1828800" y="4434840"/>
            <a:ext cx="5486400" cy="27432"/>
          </a:xfrm>
          <a:prstGeom prst="rect">
            <a:avLst/>
          </a:prstGeom>
          <a:solidFill>
            <a:srgbClr val="0EA5E9">
              <a:alpha val="60000"/>
            </a:srgbClr>
          </a:solidFill>
          <a:ln w="12700">
            <a:solidFill>
              <a:srgbClr val="0EA5E9"/>
            </a:solidFill>
            <a:prstDash val="solid"/>
          </a:ln>
        </p:spPr>
      </p:sp>
      <p:sp>
        <p:nvSpPr>
          <p:cNvPr id="31" name="Text 29"/>
          <p:cNvSpPr/>
          <p:nvPr/>
        </p:nvSpPr>
        <p:spPr>
          <a:xfrm>
            <a:off x="457200" y="4526280"/>
            <a:ext cx="8229600" cy="320040"/>
          </a:xfrm>
          <a:prstGeom prst="rect">
            <a:avLst/>
          </a:prstGeom>
          <a:noFill/>
          <a:ln/>
        </p:spPr>
        <p:txBody>
          <a:bodyPr wrap="square" lIns="0" tIns="0" rIns="0" bIns="0" rtlCol="0" anchor="ctr"/>
          <a:lstStyle/>
          <a:p>
            <a:pPr algn="ctr" indent="0" marL="0">
              <a:buNone/>
            </a:pPr>
            <a:r>
              <a:rPr lang="en-US" sz="1100" dirty="0">
                <a:solidFill>
                  <a:srgbClr val="93C5FD"/>
                </a:solidFill>
                <a:latin typeface="Arial" pitchFamily="34" charset="0"/>
                <a:ea typeface="Arial" pitchFamily="34" charset="-122"/>
                <a:cs typeface="Arial" pitchFamily="34" charset="-120"/>
              </a:rPr>
              <a:t>Groupe 6  |  Toumany Billy Condé &amp; Binôme  |  Mme Makera Kaba  |  UGANC 2024-2025</a:t>
            </a:r>
            <a:endParaRPr lang="en-US" sz="1100" dirty="0"/>
          </a:p>
        </p:txBody>
      </p:sp>
      <p:sp>
        <p:nvSpPr>
          <p:cNvPr id="32" name="Text 30"/>
          <p:cNvSpPr/>
          <p:nvPr/>
        </p:nvSpPr>
        <p:spPr>
          <a:xfrm>
            <a:off x="457200" y="4754880"/>
            <a:ext cx="8229600"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Des questions sur l'utilisation ?</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d'Utilisation — Chatbot EDT UGANC</dc:title>
  <dc:subject>PptxGenJS Presentation</dc:subject>
  <dc:creator>Groupe 6 — UGANC</dc:creator>
  <cp:lastModifiedBy>Groupe 6 — UGANC</cp:lastModifiedBy>
  <cp:revision>1</cp:revision>
  <dcterms:created xsi:type="dcterms:W3CDTF">2026-06-15T09:18:49Z</dcterms:created>
  <dcterms:modified xsi:type="dcterms:W3CDTF">2026-06-15T09:18:49Z</dcterms:modified>
</cp:coreProperties>
</file>
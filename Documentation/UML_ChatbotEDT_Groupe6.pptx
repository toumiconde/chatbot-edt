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572000" cy="4572000"/>
          </a:xfrm>
          <a:prstGeom prst="ellipse">
            <a:avLst/>
          </a:prstGeom>
          <a:solidFill>
            <a:srgbClr val="1B4FD8">
              <a:alpha val="18000"/>
            </a:srgbClr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0EA5E9">
              <a:alpha val="14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3200400" cy="347472"/>
          </a:xfrm>
          <a:prstGeom prst="roundRect">
            <a:avLst>
              <a:gd name="adj" fmla="val 21053"/>
            </a:avLst>
          </a:prstGeom>
          <a:solidFill>
            <a:srgbClr val="1B4FD8">
              <a:alpha val="4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SPÉCIFICATIONS UML — GROUPE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Diagrammes UML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de Gestion des Emplois du Temps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UGANC — Centre Informatique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32004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26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Toumany Billy Condé &amp; Binôme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Superviseur : Mme Makera Kaba  |  Année académique 2024-2025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224528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251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" y="4553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084832" y="4224528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84832" y="4251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84832" y="4553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UML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03904" y="4224528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03904" y="4251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03904" y="4553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Séquence 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22976" y="4224528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22976" y="4251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22976" y="4553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Séquence 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242048" y="4224528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42048" y="4251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242048" y="4553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Activités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DIAGRAMME 1 — USE CASE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d'Utilisation — Interactions acteurs / système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0" y="1051560"/>
            <a:ext cx="6217920" cy="3977640"/>
          </a:xfrm>
          <a:prstGeom prst="roundRect">
            <a:avLst>
              <a:gd name="adj" fmla="val 3448"/>
            </a:avLst>
          </a:prstGeom>
          <a:solidFill>
            <a:srgbClr val="F8FAFF"/>
          </a:solidFill>
          <a:ln w="19050">
            <a:solidFill>
              <a:srgbClr val="1B4F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0" y="105156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«système» Chatbot EDT — UGANC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0" y="1463040"/>
            <a:ext cx="2743200" cy="438912"/>
          </a:xfrm>
          <a:prstGeom prst="ellipse">
            <a:avLst/>
          </a:prstGeom>
          <a:solidFill>
            <a:srgbClr val="EFF6FF"/>
          </a:solidFill>
          <a:ln w="15240">
            <a:solidFill>
              <a:srgbClr val="1B4F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4630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S'authentifier / Gérer profil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0" y="2057400"/>
            <a:ext cx="2743200" cy="438912"/>
          </a:xfrm>
          <a:prstGeom prst="ellipse">
            <a:avLst/>
          </a:prstGeom>
          <a:solidFill>
            <a:srgbClr val="EFF6FF"/>
          </a:solidFill>
          <a:ln w="15240">
            <a:solidFill>
              <a:srgbClr val="1B4F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0574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Interroger le Chatbot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0" y="2651760"/>
            <a:ext cx="2743200" cy="438912"/>
          </a:xfrm>
          <a:prstGeom prst="ellipse">
            <a:avLst/>
          </a:prstGeom>
          <a:solidFill>
            <a:srgbClr val="EFF6FF"/>
          </a:solidFill>
          <a:ln w="15240">
            <a:solidFill>
              <a:srgbClr val="1B4F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6517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Consulter l'emploi du temps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0" y="3246120"/>
            <a:ext cx="2743200" cy="438912"/>
          </a:xfrm>
          <a:prstGeom prst="ellipse">
            <a:avLst/>
          </a:prstGeom>
          <a:solidFill>
            <a:srgbClr val="EFF6FF"/>
          </a:solidFill>
          <a:ln w="15240">
            <a:solidFill>
              <a:srgbClr val="1B4F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32461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Télécharger PDF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0" y="3840480"/>
            <a:ext cx="2743200" cy="438912"/>
          </a:xfrm>
          <a:prstGeom prst="ellipse">
            <a:avLst/>
          </a:prstGeom>
          <a:solidFill>
            <a:srgbClr val="EFF6FF"/>
          </a:solidFill>
          <a:ln w="15240">
            <a:solidFill>
              <a:srgbClr val="1B4F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38404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Consulter alertes horaires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06440" y="1463040"/>
            <a:ext cx="2834640" cy="438912"/>
          </a:xfrm>
          <a:prstGeom prst="ellipse">
            <a:avLst/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146304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Consulter ses cours assignés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806440" y="2057400"/>
            <a:ext cx="2834640" cy="438912"/>
          </a:xfrm>
          <a:prstGeom prst="ellipse">
            <a:avLst/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20574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Modifier un cours / Notifier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06440" y="2651760"/>
            <a:ext cx="2834640" cy="438912"/>
          </a:xfrm>
          <a:prstGeom prst="ellipse">
            <a:avLst/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265176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Saisir l'emploi du temps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806440" y="3246120"/>
            <a:ext cx="2834640" cy="438912"/>
          </a:xfrm>
          <a:prstGeom prst="ellipse">
            <a:avLst/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324612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Publier annonces / urgences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06440" y="3840480"/>
            <a:ext cx="2834640" cy="438912"/>
          </a:xfrm>
          <a:prstGeom prst="ellipse">
            <a:avLst/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38404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et gérer enseignants/matières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37160" y="2240280"/>
            <a:ext cx="411480" cy="4114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2651760"/>
            <a:ext cx="457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7160" y="2743200"/>
            <a:ext cx="41148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108960"/>
            <a:ext cx="-182880" cy="27432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108960"/>
            <a:ext cx="182880" cy="27432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21945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👨‍🎓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Étudiant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0" y="3520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👨‍🏫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0" y="42519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Chef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58368" y="1901952"/>
            <a:ext cx="2084832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" y="2496312"/>
            <a:ext cx="2084832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" y="3090672"/>
            <a:ext cx="2084832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8368" y="3685032"/>
            <a:ext cx="2084832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8368" y="4279392"/>
            <a:ext cx="2084832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1520" y="3767328"/>
            <a:ext cx="2011680" cy="-749808"/>
          </a:xfrm>
          <a:prstGeom prst="line">
            <a:avLst/>
          </a:prstGeom>
          <a:noFill/>
          <a:ln w="10160">
            <a:solidFill>
              <a:srgbClr val="10B98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20" y="3767328"/>
            <a:ext cx="5074920" cy="-1234440"/>
          </a:xfrm>
          <a:prstGeom prst="line">
            <a:avLst/>
          </a:prstGeom>
          <a:noFill/>
          <a:ln w="10160">
            <a:solidFill>
              <a:srgbClr val="10B98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1520" y="3767328"/>
            <a:ext cx="5074920" cy="-640080"/>
          </a:xfrm>
          <a:prstGeom prst="line">
            <a:avLst/>
          </a:prstGeom>
          <a:noFill/>
          <a:ln w="10160">
            <a:solidFill>
              <a:srgbClr val="10B98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7240" y="4498848"/>
            <a:ext cx="5029200" cy="-2596896"/>
          </a:xfrm>
          <a:prstGeom prst="line">
            <a:avLst/>
          </a:prstGeom>
          <a:noFill/>
          <a:ln w="10160">
            <a:solidFill>
              <a:srgbClr val="4C1D9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7240" y="4498848"/>
            <a:ext cx="5029200" cy="-2002536"/>
          </a:xfrm>
          <a:prstGeom prst="line">
            <a:avLst/>
          </a:prstGeom>
          <a:noFill/>
          <a:ln w="10160">
            <a:solidFill>
              <a:srgbClr val="4C1D9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98848"/>
            <a:ext cx="5029200" cy="-1408176"/>
          </a:xfrm>
          <a:prstGeom prst="line">
            <a:avLst/>
          </a:prstGeom>
          <a:noFill/>
          <a:ln w="10160">
            <a:solidFill>
              <a:srgbClr val="4C1D9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7240" y="4498848"/>
            <a:ext cx="5029200" cy="-813816"/>
          </a:xfrm>
          <a:prstGeom prst="line">
            <a:avLst/>
          </a:prstGeom>
          <a:noFill/>
          <a:ln w="10160">
            <a:solidFill>
              <a:srgbClr val="4C1D9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7240" y="4498848"/>
            <a:ext cx="5029200" cy="-219456"/>
          </a:xfrm>
          <a:prstGeom prst="line">
            <a:avLst/>
          </a:prstGeom>
          <a:noFill/>
          <a:ln w="10160">
            <a:solidFill>
              <a:srgbClr val="4C1D9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" y="1078992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" y="11155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4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(étudiants)  </a:t>
            </a:r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(profs/chef)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DIAGRAMME 2 — CLASSES UML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des entités Eloquent et leurs associations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" y="1024128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9050">
            <a:solidFill>
              <a:srgbClr val="1B4F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" y="1024128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" y="1033272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8872" y="1344168"/>
            <a:ext cx="1737360" cy="18288"/>
          </a:xfrm>
          <a:prstGeom prst="rect">
            <a:avLst/>
          </a:prstGeom>
          <a:solidFill>
            <a:srgbClr val="1B4FD8">
              <a:alpha val="40000"/>
            </a:srgbClr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" y="137160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+int id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146304" y="157276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+string name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146304" y="177393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+string email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46304" y="197510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+string role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146304" y="217627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+int enseignant_id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146304" y="237744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+isChef() : bool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146304" y="257860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+isProf() : bool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73152" y="3154680"/>
            <a:ext cx="1828800" cy="1225296"/>
          </a:xfrm>
          <a:prstGeom prst="roundRect">
            <a:avLst>
              <a:gd name="adj" fmla="val 5970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" y="3154680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" y="3163824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18872" y="3474720"/>
            <a:ext cx="1737360" cy="18288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" y="350215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+int id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46304" y="370332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+string prenom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146304" y="390448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+string nom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146304" y="410565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+string email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2103120" y="1024128"/>
            <a:ext cx="1737360" cy="1024128"/>
          </a:xfrm>
          <a:prstGeom prst="roundRect">
            <a:avLst>
              <a:gd name="adj" fmla="val 7143"/>
            </a:avLst>
          </a:prstGeom>
          <a:solidFill>
            <a:srgbClr val="F5F3FF"/>
          </a:solidFill>
          <a:ln w="19050">
            <a:solidFill>
              <a:srgbClr val="4C1D9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103120" y="1024128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03120" y="1033272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Filiere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148840" y="1344168"/>
            <a:ext cx="1645920" cy="18288"/>
          </a:xfrm>
          <a:prstGeom prst="rect">
            <a:avLst/>
          </a:prstGeom>
          <a:solidFill>
            <a:srgbClr val="4C1D95">
              <a:alpha val="40000"/>
            </a:srgbClr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76272" y="137160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+int id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2176272" y="1572768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+string nom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2176272" y="177393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+string code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2103120" y="2121408"/>
            <a:ext cx="1737360" cy="1024128"/>
          </a:xfrm>
          <a:prstGeom prst="roundRect">
            <a:avLst>
              <a:gd name="adj" fmla="val 7143"/>
            </a:avLst>
          </a:prstGeom>
          <a:solidFill>
            <a:srgbClr val="F5F3FF"/>
          </a:solidFill>
          <a:ln w="19050">
            <a:solidFill>
              <a:srgbClr val="4C1D9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103120" y="2121408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03120" y="2130552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148840" y="2441448"/>
            <a:ext cx="1645920" cy="18288"/>
          </a:xfrm>
          <a:prstGeom prst="rect">
            <a:avLst/>
          </a:prstGeom>
          <a:solidFill>
            <a:srgbClr val="4C1D95">
              <a:alpha val="40000"/>
            </a:srgbClr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76272" y="246888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+int id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2176272" y="2670048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+string libelle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2176272" y="287121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+int filiere_id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3858768" y="1024128"/>
            <a:ext cx="2011680" cy="2432304"/>
          </a:xfrm>
          <a:prstGeom prst="roundRect">
            <a:avLst>
              <a:gd name="adj" fmla="val 3636"/>
            </a:avLst>
          </a:prstGeom>
          <a:solidFill>
            <a:srgbClr val="FFF7ED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858768" y="1024128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58768" y="103327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EmploiDuTemps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904488" y="1344168"/>
            <a:ext cx="1920240" cy="1828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31920" y="137160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+int id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3931920" y="157276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+int filiere_id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3931920" y="177393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+int niveau_id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3931920" y="1975104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+string semestre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3931920" y="217627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+int matiere_id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3931920" y="237744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+int enseignant_id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3931920" y="257860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+int salle_id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3931920" y="277977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+string jour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3931920" y="2980944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+time heure_debut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3931920" y="318211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+time heure_fin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2103120" y="3017520"/>
            <a:ext cx="1737360" cy="1627632"/>
          </a:xfrm>
          <a:prstGeom prst="roundRect">
            <a:avLst>
              <a:gd name="adj" fmla="val 4494"/>
            </a:avLst>
          </a:prstGeom>
          <a:solidFill>
            <a:srgbClr val="EFF6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103120" y="301752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03120" y="3026664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Matiere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148840" y="3337560"/>
            <a:ext cx="1645920" cy="18288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76272" y="3364992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+int id</a:t>
            </a:r>
            <a:endParaRPr lang="en-US" sz="780" dirty="0"/>
          </a:p>
        </p:txBody>
      </p:sp>
      <p:sp>
        <p:nvSpPr>
          <p:cNvPr id="57" name="Text 55"/>
          <p:cNvSpPr/>
          <p:nvPr/>
        </p:nvSpPr>
        <p:spPr>
          <a:xfrm>
            <a:off x="2176272" y="356616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+string nom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2176272" y="3767328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+string code</a:t>
            </a:r>
            <a:endParaRPr lang="en-US" sz="780" dirty="0"/>
          </a:p>
        </p:txBody>
      </p:sp>
      <p:sp>
        <p:nvSpPr>
          <p:cNvPr id="59" name="Text 57"/>
          <p:cNvSpPr/>
          <p:nvPr/>
        </p:nvSpPr>
        <p:spPr>
          <a:xfrm>
            <a:off x="2176272" y="396849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+int credits</a:t>
            </a:r>
            <a:endParaRPr lang="en-US" sz="780" dirty="0"/>
          </a:p>
        </p:txBody>
      </p:sp>
      <p:sp>
        <p:nvSpPr>
          <p:cNvPr id="60" name="Text 58"/>
          <p:cNvSpPr/>
          <p:nvPr/>
        </p:nvSpPr>
        <p:spPr>
          <a:xfrm>
            <a:off x="2176272" y="416966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+int filiere_id</a:t>
            </a:r>
            <a:endParaRPr lang="en-US" sz="780" dirty="0"/>
          </a:p>
        </p:txBody>
      </p:sp>
      <p:sp>
        <p:nvSpPr>
          <p:cNvPr id="61" name="Text 59"/>
          <p:cNvSpPr/>
          <p:nvPr/>
        </p:nvSpPr>
        <p:spPr>
          <a:xfrm>
            <a:off x="2176272" y="4370832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+string semestre</a:t>
            </a:r>
            <a:endParaRPr lang="en-US" sz="780" dirty="0"/>
          </a:p>
        </p:txBody>
      </p:sp>
      <p:sp>
        <p:nvSpPr>
          <p:cNvPr id="62" name="Shape 60"/>
          <p:cNvSpPr/>
          <p:nvPr/>
        </p:nvSpPr>
        <p:spPr>
          <a:xfrm>
            <a:off x="3858768" y="3474720"/>
            <a:ext cx="1737360" cy="1024128"/>
          </a:xfrm>
          <a:prstGeom prst="roundRect">
            <a:avLst>
              <a:gd name="adj" fmla="val 7143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3858768" y="347472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58768" y="3483864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Salle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904488" y="3794760"/>
            <a:ext cx="1645920" cy="18288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931920" y="3822192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+int id</a:t>
            </a:r>
            <a:endParaRPr lang="en-US" sz="780" dirty="0"/>
          </a:p>
        </p:txBody>
      </p:sp>
      <p:sp>
        <p:nvSpPr>
          <p:cNvPr id="67" name="Text 65"/>
          <p:cNvSpPr/>
          <p:nvPr/>
        </p:nvSpPr>
        <p:spPr>
          <a:xfrm>
            <a:off x="3931920" y="402336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+string nom</a:t>
            </a:r>
            <a:endParaRPr lang="en-US" sz="780" dirty="0"/>
          </a:p>
        </p:txBody>
      </p:sp>
      <p:sp>
        <p:nvSpPr>
          <p:cNvPr id="68" name="Text 66"/>
          <p:cNvSpPr/>
          <p:nvPr/>
        </p:nvSpPr>
        <p:spPr>
          <a:xfrm>
            <a:off x="3931920" y="4224528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+int capacite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5989320" y="1024128"/>
            <a:ext cx="1874520" cy="2029968"/>
          </a:xfrm>
          <a:prstGeom prst="roundRect">
            <a:avLst>
              <a:gd name="adj" fmla="val 3902"/>
            </a:avLst>
          </a:prstGeom>
          <a:solidFill>
            <a:srgbClr val="FFF1F2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5989320" y="1024128"/>
            <a:ext cx="1874520" cy="320040"/>
          </a:xfrm>
          <a:prstGeom prst="roundRect">
            <a:avLst>
              <a:gd name="adj" fmla="val 22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989320" y="1033272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Modification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035040" y="1344168"/>
            <a:ext cx="1783080" cy="18288"/>
          </a:xfrm>
          <a:prstGeom prst="rect">
            <a:avLst/>
          </a:prstGeom>
          <a:solidFill>
            <a:srgbClr val="EF4444">
              <a:alpha val="4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062472" y="1371600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+int id</a:t>
            </a:r>
            <a:endParaRPr lang="en-US" sz="780" dirty="0"/>
          </a:p>
        </p:txBody>
      </p:sp>
      <p:sp>
        <p:nvSpPr>
          <p:cNvPr id="74" name="Text 72"/>
          <p:cNvSpPr/>
          <p:nvPr/>
        </p:nvSpPr>
        <p:spPr>
          <a:xfrm>
            <a:off x="6062472" y="1572768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+int emploi_id</a:t>
            </a:r>
            <a:endParaRPr lang="en-US" sz="780" dirty="0"/>
          </a:p>
        </p:txBody>
      </p:sp>
      <p:sp>
        <p:nvSpPr>
          <p:cNvPr id="75" name="Text 73"/>
          <p:cNvSpPr/>
          <p:nvPr/>
        </p:nvSpPr>
        <p:spPr>
          <a:xfrm>
            <a:off x="6062472" y="1773936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+string ancien_jour</a:t>
            </a:r>
            <a:endParaRPr lang="en-US" sz="780" dirty="0"/>
          </a:p>
        </p:txBody>
      </p:sp>
      <p:sp>
        <p:nvSpPr>
          <p:cNvPr id="76" name="Text 74"/>
          <p:cNvSpPr/>
          <p:nvPr/>
        </p:nvSpPr>
        <p:spPr>
          <a:xfrm>
            <a:off x="6062472" y="1975104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+time ancienne_heure</a:t>
            </a:r>
            <a:endParaRPr lang="en-US" sz="780" dirty="0"/>
          </a:p>
        </p:txBody>
      </p:sp>
      <p:sp>
        <p:nvSpPr>
          <p:cNvPr id="77" name="Text 75"/>
          <p:cNvSpPr/>
          <p:nvPr/>
        </p:nvSpPr>
        <p:spPr>
          <a:xfrm>
            <a:off x="6062472" y="2176272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+string nouveau_jour</a:t>
            </a:r>
            <a:endParaRPr lang="en-US" sz="780" dirty="0"/>
          </a:p>
        </p:txBody>
      </p:sp>
      <p:sp>
        <p:nvSpPr>
          <p:cNvPr id="78" name="Text 76"/>
          <p:cNvSpPr/>
          <p:nvPr/>
        </p:nvSpPr>
        <p:spPr>
          <a:xfrm>
            <a:off x="6062472" y="2377440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+time nouvelle_heure</a:t>
            </a:r>
            <a:endParaRPr lang="en-US" sz="780" dirty="0"/>
          </a:p>
        </p:txBody>
      </p:sp>
      <p:sp>
        <p:nvSpPr>
          <p:cNvPr id="79" name="Text 77"/>
          <p:cNvSpPr/>
          <p:nvPr/>
        </p:nvSpPr>
        <p:spPr>
          <a:xfrm>
            <a:off x="6062472" y="2578608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+string motif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6062472" y="2779776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+timestamp date_modif</a:t>
            </a:r>
            <a:endParaRPr lang="en-US" sz="780" dirty="0"/>
          </a:p>
        </p:txBody>
      </p:sp>
      <p:sp>
        <p:nvSpPr>
          <p:cNvPr id="81" name="Shape 79"/>
          <p:cNvSpPr/>
          <p:nvPr/>
        </p:nvSpPr>
        <p:spPr>
          <a:xfrm>
            <a:off x="5989320" y="3154680"/>
            <a:ext cx="1874520" cy="18288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5989320" y="3154680"/>
            <a:ext cx="187452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989320" y="3163824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Annonce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035040" y="3474720"/>
            <a:ext cx="1783080" cy="1828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062472" y="3502152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+int id</a:t>
            </a:r>
            <a:endParaRPr lang="en-US" sz="780" dirty="0"/>
          </a:p>
        </p:txBody>
      </p:sp>
      <p:sp>
        <p:nvSpPr>
          <p:cNvPr id="86" name="Text 84"/>
          <p:cNvSpPr/>
          <p:nvPr/>
        </p:nvSpPr>
        <p:spPr>
          <a:xfrm>
            <a:off x="6062472" y="3703320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+string titre</a:t>
            </a:r>
            <a:endParaRPr lang="en-US" sz="780" dirty="0"/>
          </a:p>
        </p:txBody>
      </p:sp>
      <p:sp>
        <p:nvSpPr>
          <p:cNvPr id="87" name="Text 85"/>
          <p:cNvSpPr/>
          <p:nvPr/>
        </p:nvSpPr>
        <p:spPr>
          <a:xfrm>
            <a:off x="6062472" y="3904488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+string type</a:t>
            </a:r>
            <a:endParaRPr lang="en-US" sz="780" dirty="0"/>
          </a:p>
        </p:txBody>
      </p:sp>
      <p:sp>
        <p:nvSpPr>
          <p:cNvPr id="88" name="Text 86"/>
          <p:cNvSpPr/>
          <p:nvPr/>
        </p:nvSpPr>
        <p:spPr>
          <a:xfrm>
            <a:off x="6062472" y="4105656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+int filiere_id</a:t>
            </a:r>
            <a:endParaRPr lang="en-US" sz="780" dirty="0"/>
          </a:p>
        </p:txBody>
      </p:sp>
      <p:sp>
        <p:nvSpPr>
          <p:cNvPr id="89" name="Text 87"/>
          <p:cNvSpPr/>
          <p:nvPr/>
        </p:nvSpPr>
        <p:spPr>
          <a:xfrm>
            <a:off x="6062472" y="4306824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+boolean urgent</a:t>
            </a:r>
            <a:endParaRPr lang="en-US" sz="780" dirty="0"/>
          </a:p>
        </p:txBody>
      </p:sp>
      <p:sp>
        <p:nvSpPr>
          <p:cNvPr id="90" name="Text 88"/>
          <p:cNvSpPr/>
          <p:nvPr/>
        </p:nvSpPr>
        <p:spPr>
          <a:xfrm>
            <a:off x="6062472" y="4507992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+timestamp expires_at</a:t>
            </a:r>
            <a:endParaRPr lang="en-US" sz="780" dirty="0"/>
          </a:p>
        </p:txBody>
      </p:sp>
      <p:sp>
        <p:nvSpPr>
          <p:cNvPr id="91" name="Text 89"/>
          <p:cNvSpPr/>
          <p:nvPr/>
        </p:nvSpPr>
        <p:spPr>
          <a:xfrm>
            <a:off x="6062472" y="4709160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+scopeActives()</a:t>
            </a:r>
            <a:endParaRPr lang="en-US" sz="780" dirty="0"/>
          </a:p>
        </p:txBody>
      </p:sp>
      <p:sp>
        <p:nvSpPr>
          <p:cNvPr id="92" name="Shape 90"/>
          <p:cNvSpPr/>
          <p:nvPr/>
        </p:nvSpPr>
        <p:spPr>
          <a:xfrm>
            <a:off x="7973568" y="2103120"/>
            <a:ext cx="1115568" cy="1225296"/>
          </a:xfrm>
          <a:prstGeom prst="roundRect">
            <a:avLst>
              <a:gd name="adj" fmla="val 6557"/>
            </a:avLst>
          </a:prstGeom>
          <a:solidFill>
            <a:srgbClr val="F5F3FF"/>
          </a:solidFill>
          <a:ln w="19050">
            <a:solidFill>
              <a:srgbClr val="4C1D9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7973568" y="2103120"/>
            <a:ext cx="1115568" cy="320040"/>
          </a:xfrm>
          <a:prstGeom prst="roundRect">
            <a:avLst>
              <a:gd name="adj" fmla="val 22857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973568" y="2112264"/>
            <a:ext cx="11155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Notif...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8019288" y="2423160"/>
            <a:ext cx="1024128" cy="18288"/>
          </a:xfrm>
          <a:prstGeom prst="rect">
            <a:avLst/>
          </a:prstGeom>
          <a:solidFill>
            <a:srgbClr val="4C1D95">
              <a:alpha val="40000"/>
            </a:srgbClr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046720" y="245059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+int id</a:t>
            </a:r>
            <a:endParaRPr lang="en-US" sz="780" dirty="0"/>
          </a:p>
        </p:txBody>
      </p:sp>
      <p:sp>
        <p:nvSpPr>
          <p:cNvPr id="97" name="Text 95"/>
          <p:cNvSpPr/>
          <p:nvPr/>
        </p:nvSpPr>
        <p:spPr>
          <a:xfrm>
            <a:off x="8046720" y="2651760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+int user_id</a:t>
            </a:r>
            <a:endParaRPr lang="en-US" sz="780" dirty="0"/>
          </a:p>
        </p:txBody>
      </p:sp>
      <p:sp>
        <p:nvSpPr>
          <p:cNvPr id="98" name="Text 96"/>
          <p:cNvSpPr/>
          <p:nvPr/>
        </p:nvSpPr>
        <p:spPr>
          <a:xfrm>
            <a:off x="8046720" y="2852928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+string type</a:t>
            </a:r>
            <a:endParaRPr lang="en-US" sz="780" dirty="0"/>
          </a:p>
        </p:txBody>
      </p:sp>
      <p:sp>
        <p:nvSpPr>
          <p:cNvPr id="99" name="Text 97"/>
          <p:cNvSpPr/>
          <p:nvPr/>
        </p:nvSpPr>
        <p:spPr>
          <a:xfrm>
            <a:off x="8046720" y="305409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+timestamp read_at</a:t>
            </a:r>
            <a:endParaRPr lang="en-US" sz="780" dirty="0"/>
          </a:p>
        </p:txBody>
      </p:sp>
      <p:sp>
        <p:nvSpPr>
          <p:cNvPr id="100" name="Shape 98"/>
          <p:cNvSpPr/>
          <p:nvPr/>
        </p:nvSpPr>
        <p:spPr>
          <a:xfrm>
            <a:off x="1901952" y="1481328"/>
            <a:ext cx="201168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>
            <a:off x="1901952" y="3337560"/>
            <a:ext cx="1956816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</a:ln>
        </p:spPr>
      </p:sp>
      <p:sp>
        <p:nvSpPr>
          <p:cNvPr id="102" name="Shape 100"/>
          <p:cNvSpPr/>
          <p:nvPr/>
        </p:nvSpPr>
        <p:spPr>
          <a:xfrm>
            <a:off x="2103120" y="1828800"/>
            <a:ext cx="0" cy="292608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</a:ln>
        </p:spPr>
      </p:sp>
      <p:sp>
        <p:nvSpPr>
          <p:cNvPr id="103" name="Shape 101"/>
          <p:cNvSpPr/>
          <p:nvPr/>
        </p:nvSpPr>
        <p:spPr>
          <a:xfrm>
            <a:off x="3840480" y="2194560"/>
            <a:ext cx="18288" cy="36576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</a:ln>
        </p:spPr>
      </p:sp>
      <p:sp>
        <p:nvSpPr>
          <p:cNvPr id="104" name="Shape 102"/>
          <p:cNvSpPr/>
          <p:nvPr/>
        </p:nvSpPr>
        <p:spPr>
          <a:xfrm>
            <a:off x="3858768" y="2377440"/>
            <a:ext cx="-1755648" cy="36576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</a:ln>
        </p:spPr>
      </p:sp>
      <p:sp>
        <p:nvSpPr>
          <p:cNvPr id="105" name="Shape 103"/>
          <p:cNvSpPr/>
          <p:nvPr/>
        </p:nvSpPr>
        <p:spPr>
          <a:xfrm>
            <a:off x="5870448" y="2377440"/>
            <a:ext cx="118872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</a:ln>
        </p:spPr>
      </p:sp>
      <p:sp>
        <p:nvSpPr>
          <p:cNvPr id="106" name="Shape 104"/>
          <p:cNvSpPr/>
          <p:nvPr/>
        </p:nvSpPr>
        <p:spPr>
          <a:xfrm>
            <a:off x="3858768" y="3749040"/>
            <a:ext cx="-9144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</a:ln>
        </p:spPr>
      </p:sp>
      <p:sp>
        <p:nvSpPr>
          <p:cNvPr id="107" name="Shape 105"/>
          <p:cNvSpPr/>
          <p:nvPr/>
        </p:nvSpPr>
        <p:spPr>
          <a:xfrm>
            <a:off x="7863840" y="3337560"/>
            <a:ext cx="109728" cy="-59436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DIAGRAMME 3A — SÉQUENCE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Scénario A : Interroger le Chatbot pour afficher l'EDT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417320" cy="594360"/>
          </a:xfrm>
          <a:prstGeom prst="roundRect">
            <a:avLst>
              <a:gd name="adj" fmla="val 15385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0241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Étudiant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" y="131673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37260" y="1600200"/>
            <a:ext cx="0" cy="3337560"/>
          </a:xfrm>
          <a:prstGeom prst="line">
            <a:avLst/>
          </a:prstGeom>
          <a:noFill/>
          <a:ln w="12700">
            <a:solidFill>
              <a:srgbClr val="0D1B2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148840" y="1005840"/>
            <a:ext cx="1417320" cy="594360"/>
          </a:xfrm>
          <a:prstGeom prst="roundRect">
            <a:avLst>
              <a:gd name="adj" fmla="val 15385"/>
            </a:avLst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48840" y="10241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HTML/JS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48840" y="131673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UI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857500" y="1600200"/>
            <a:ext cx="0" cy="3337560"/>
          </a:xfrm>
          <a:prstGeom prst="line">
            <a:avLst/>
          </a:prstGeom>
          <a:noFill/>
          <a:ln w="12700">
            <a:solidFill>
              <a:srgbClr val="1B4FD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160520" y="1005840"/>
            <a:ext cx="1417320" cy="594360"/>
          </a:xfrm>
          <a:prstGeom prst="roundRect">
            <a:avLst>
              <a:gd name="adj" fmla="val 15385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60520" y="10241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ChatbotCtrl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60520" y="131673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69180" y="1600200"/>
            <a:ext cx="0" cy="3337560"/>
          </a:xfrm>
          <a:prstGeom prst="line">
            <a:avLst/>
          </a:prstGeom>
          <a:noFill/>
          <a:ln w="12700">
            <a:solidFill>
              <a:srgbClr val="0EA5E9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080760" y="1005840"/>
            <a:ext cx="1417320" cy="59436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80760" y="10241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EDT Ctrl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80760" y="131673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89420" y="1600200"/>
            <a:ext cx="0" cy="3337560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772400" y="1005840"/>
            <a:ext cx="1417320" cy="594360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0" y="10241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MySQL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72400" y="131673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481060" y="1600200"/>
            <a:ext cx="0" cy="333756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22960" y="1691640"/>
            <a:ext cx="2514600" cy="0"/>
          </a:xfrm>
          <a:prstGeom prst="line">
            <a:avLst/>
          </a:prstGeom>
          <a:noFill/>
          <a:ln w="1524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152704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1. Ouvre page Chatbot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611880" y="1920240"/>
            <a:ext cx="1307592" cy="0"/>
          </a:xfrm>
          <a:prstGeom prst="line">
            <a:avLst/>
          </a:prstGeom>
          <a:noFill/>
          <a:ln w="15240">
            <a:solidFill>
              <a:srgbClr val="1B4F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1755648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4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2. GET /api/filieres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919472" y="2121408"/>
            <a:ext cx="1207008" cy="0"/>
          </a:xfrm>
          <a:prstGeom prst="line">
            <a:avLst/>
          </a:prstGeom>
          <a:noFill/>
          <a:ln w="1524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65192" y="195681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3. SELECT * FROM filieres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126480" y="2331720"/>
            <a:ext cx="164592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21671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4. Collection filieres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611880" y="2542032"/>
            <a:ext cx="224028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237744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5. JSON filieres []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822960" y="2743200"/>
            <a:ext cx="2514600" cy="0"/>
          </a:xfrm>
          <a:prstGeom prst="line">
            <a:avLst/>
          </a:prstGeom>
          <a:noFill/>
          <a:ln w="15240">
            <a:solidFill>
              <a:srgbClr val="1B4F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257860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B4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6. Affiche boutons filières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822960" y="2944368"/>
            <a:ext cx="2514600" cy="0"/>
          </a:xfrm>
          <a:prstGeom prst="line">
            <a:avLst/>
          </a:prstGeom>
          <a:noFill/>
          <a:ln w="1524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277977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7. Clique 'Développement Logiciel'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611880" y="3145536"/>
            <a:ext cx="1307592" cy="0"/>
          </a:xfrm>
          <a:prstGeom prst="line">
            <a:avLst/>
          </a:prstGeom>
          <a:noFill/>
          <a:ln w="15240">
            <a:solidFill>
              <a:srgbClr val="1B4F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0" y="2980944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4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8. GET /api/niveaux/2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919472" y="3346704"/>
            <a:ext cx="1207008" cy="0"/>
          </a:xfrm>
          <a:prstGeom prst="line">
            <a:avLst/>
          </a:prstGeom>
          <a:noFill/>
          <a:ln w="1524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65192" y="3182112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9. SELECT niveaux (filiere_id=2)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126480" y="3547872"/>
            <a:ext cx="164592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33832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10. Collection niveaux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822960" y="3749040"/>
            <a:ext cx="2514600" cy="0"/>
          </a:xfrm>
          <a:prstGeom prst="line">
            <a:avLst/>
          </a:prstGeom>
          <a:noFill/>
          <a:ln w="15240">
            <a:solidFill>
              <a:srgbClr val="1B4F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358444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B4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11. Affiche L1, L2, L3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822960" y="3950208"/>
            <a:ext cx="5303520" cy="0"/>
          </a:xfrm>
          <a:prstGeom prst="line">
            <a:avLst/>
          </a:prstGeom>
          <a:noFill/>
          <a:ln w="15240">
            <a:solidFill>
              <a:srgbClr val="0D1B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" y="3785616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12. GET /api/edt/semaine?filiere_id=2&amp;niveau_id=3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126480" y="4151376"/>
            <a:ext cx="164592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2200" y="39867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13. SELECT EDT with matiere, enseignant, salle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126480" y="4352544"/>
            <a:ext cx="164592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72200" y="41879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14. Collection de cours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822960" y="4553712"/>
            <a:ext cx="502920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8680" y="438912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15. JSON formaté par jour → Tableau HTML dans bulle chat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DIAGRAMME 3B — SÉQUENCE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Scénario B : Modification d'un cours par un Enseignant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1554480" cy="59436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0241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Professeur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2880" y="131673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60120" y="1600200"/>
            <a:ext cx="0" cy="3337560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920240" y="1005840"/>
            <a:ext cx="1554480" cy="594360"/>
          </a:xfrm>
          <a:prstGeom prst="roundRect">
            <a:avLst>
              <a:gd name="adj" fmla="val 15385"/>
            </a:avLst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20240" y="10241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Édition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20240" y="131673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Blade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97480" y="1600200"/>
            <a:ext cx="0" cy="3337560"/>
          </a:xfrm>
          <a:prstGeom prst="line">
            <a:avLst/>
          </a:prstGeom>
          <a:noFill/>
          <a:ln w="12700">
            <a:solidFill>
              <a:srgbClr val="1B4FD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657600" y="1005840"/>
            <a:ext cx="1554480" cy="594360"/>
          </a:xfrm>
          <a:prstGeom prst="roundRect">
            <a:avLst>
              <a:gd name="adj" fmla="val 15385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0" y="10241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DashboardCtrl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0" y="131673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34840" y="1600200"/>
            <a:ext cx="0" cy="3337560"/>
          </a:xfrm>
          <a:prstGeom prst="line">
            <a:avLst/>
          </a:prstGeom>
          <a:noFill/>
          <a:ln w="12700">
            <a:solidFill>
              <a:srgbClr val="0D1B2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486400" y="1005840"/>
            <a:ext cx="1554480" cy="594360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10241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MySQL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0" y="131673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63640" y="1600200"/>
            <a:ext cx="0" cy="333756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223760" y="1005840"/>
            <a:ext cx="1554480" cy="594360"/>
          </a:xfrm>
          <a:prstGeom prst="roundRect">
            <a:avLst>
              <a:gd name="adj" fmla="val 15385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23760" y="10241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Étudiant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223760" y="131673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Poller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001000" y="1600200"/>
            <a:ext cx="0" cy="3337560"/>
          </a:xfrm>
          <a:prstGeom prst="line">
            <a:avLst/>
          </a:prstGeom>
          <a:noFill/>
          <a:ln w="12700">
            <a:solidFill>
              <a:srgbClr val="4C1D95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77240" y="1737360"/>
            <a:ext cx="251460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157276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1. Modifie jour/heure/salle + saisit motif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429000" y="1965960"/>
            <a:ext cx="1005840" cy="0"/>
          </a:xfrm>
          <a:prstGeom prst="line">
            <a:avLst/>
          </a:prstGeom>
          <a:noFill/>
          <a:ln w="15240">
            <a:solidFill>
              <a:srgbClr val="1B4F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18013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4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2. PUT /professor/cours/{id} (CSRF)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480560" y="2130552"/>
            <a:ext cx="3474720" cy="27432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215798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⟳  3. Valide les champs (salle, jour, horaires)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434840" y="2423160"/>
            <a:ext cx="1828800" cy="0"/>
          </a:xfrm>
          <a:prstGeom prst="line">
            <a:avLst/>
          </a:prstGeom>
          <a:noFill/>
          <a:ln w="1524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22585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4. UPDATE emplois_du_temps (id={id})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4840" y="2633472"/>
            <a:ext cx="182880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0" y="2468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5. Confirmation modification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434840" y="2852928"/>
            <a:ext cx="1828800" cy="0"/>
          </a:xfrm>
          <a:prstGeom prst="line">
            <a:avLst/>
          </a:prstGeom>
          <a:noFill/>
          <a:ln w="1524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0" y="26883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6. INSERT INTO modifications (ancien/nouveau + motif)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434840" y="3063240"/>
            <a:ext cx="182880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0" y="28986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7. Confirmation insertion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429000" y="3273552"/>
            <a:ext cx="1005840" cy="0"/>
          </a:xfrm>
          <a:prstGeom prst="line">
            <a:avLst/>
          </a:prstGeom>
          <a:noFill/>
          <a:ln w="15240">
            <a:solidFill>
              <a:srgbClr val="0D1B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3108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8. Redirect /professor/cours + message succès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77240" y="3493008"/>
            <a:ext cx="2651760" cy="0"/>
          </a:xfrm>
          <a:prstGeom prst="line">
            <a:avLst/>
          </a:prstGeom>
          <a:noFill/>
          <a:ln w="15240">
            <a:solidFill>
              <a:srgbClr val="1B4F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332841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B4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9. 'Cours mis à jour et étudiants notifiés'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434840" y="3767328"/>
            <a:ext cx="3566160" cy="0"/>
          </a:xfrm>
          <a:prstGeom prst="line">
            <a:avLst/>
          </a:prstGeom>
          <a:noFill/>
          <a:ln w="15240">
            <a:solidFill>
              <a:srgbClr val="4C1D9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0560" y="36027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10. GET /board/modifications (polling auto)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434840" y="3977640"/>
            <a:ext cx="1828800" cy="0"/>
          </a:xfrm>
          <a:prstGeom prst="line">
            <a:avLst/>
          </a:prstGeom>
          <a:noFill/>
          <a:ln w="15240">
            <a:solidFill>
              <a:srgbClr val="0D1B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80560" y="38130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11. SELECT modifications (filiere/niveau étudiant)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263640" y="4187952"/>
            <a:ext cx="173736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4023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12. JSON modifications récentes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8046720" y="4361688"/>
            <a:ext cx="3474720" cy="27432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92440" y="43891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⟳  13. Alerte visuelle temps réel dashboard étudiant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DIAGRAMME 4 — ACTIVITÉS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de connexion et redirection selon le rôle (RBAC)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206240" y="1024128"/>
            <a:ext cx="365760" cy="3657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0" y="1389888"/>
            <a:ext cx="0" cy="256032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1645920"/>
            <a:ext cx="2377440" cy="475488"/>
          </a:xfrm>
          <a:prstGeom prst="roundRect">
            <a:avLst>
              <a:gd name="adj" fmla="val 19231"/>
            </a:avLst>
          </a:prstGeom>
          <a:solidFill>
            <a:srgbClr val="EFF6FF"/>
          </a:solidFill>
          <a:ln w="19050">
            <a:solidFill>
              <a:srgbClr val="1B4F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6642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Accède à /login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Soumet email &amp; password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89120" y="2121408"/>
            <a:ext cx="0" cy="256032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67328" y="2377440"/>
            <a:ext cx="1243584" cy="50292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67328" y="2377440"/>
            <a:ext cx="124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Identifiants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valides ?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67328" y="2628900"/>
            <a:ext cx="-1481328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2468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71600" y="2395728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FEE2E2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239572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Erreur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89120" y="2880360"/>
            <a:ext cx="0" cy="256032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28346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03320" y="3136392"/>
            <a:ext cx="1371600" cy="502920"/>
          </a:xfrm>
          <a:prstGeom prst="rect">
            <a:avLst/>
          </a:prstGeom>
          <a:solidFill>
            <a:srgbClr val="EDE9FE"/>
          </a:solidFill>
          <a:ln w="19050">
            <a:solidFill>
              <a:srgbClr val="4C1D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31363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 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03320" y="3383280"/>
            <a:ext cx="-2148840" cy="0"/>
          </a:xfrm>
          <a:prstGeom prst="line">
            <a:avLst/>
          </a:prstGeom>
          <a:noFill/>
          <a:ln w="19050">
            <a:solidFill>
              <a:srgbClr val="1B4F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54480" y="3383280"/>
            <a:ext cx="0" cy="256032"/>
          </a:xfrm>
          <a:prstGeom prst="line">
            <a:avLst/>
          </a:prstGeom>
          <a:noFill/>
          <a:ln w="19050">
            <a:solidFill>
              <a:srgbClr val="1B4F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91640" y="3200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4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etudiant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22960" y="3639312"/>
            <a:ext cx="1463040" cy="594360"/>
          </a:xfrm>
          <a:prstGeom prst="roundRect">
            <a:avLst>
              <a:gd name="adj" fmla="val 15385"/>
            </a:avLst>
          </a:prstGeom>
          <a:solidFill>
            <a:srgbClr val="EFF6FF"/>
          </a:solidFill>
          <a:ln w="19050">
            <a:solidFill>
              <a:srgbClr val="1B4F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363931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4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4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/tableau-de-bord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4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Étudiant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389120" y="3639312"/>
            <a:ext cx="0" cy="256032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35295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11880" y="3895344"/>
            <a:ext cx="1554480" cy="594360"/>
          </a:xfrm>
          <a:prstGeom prst="roundRect">
            <a:avLst>
              <a:gd name="adj" fmla="val 15385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11880" y="3895344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/professor/cours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74920" y="3383280"/>
            <a:ext cx="2148840" cy="0"/>
          </a:xfrm>
          <a:prstGeom prst="line">
            <a:avLst/>
          </a:prstGeom>
          <a:noFill/>
          <a:ln w="19050">
            <a:solidFill>
              <a:srgbClr val="4C1D9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3383280"/>
            <a:ext cx="0" cy="256032"/>
          </a:xfrm>
          <a:prstGeom prst="line">
            <a:avLst/>
          </a:prstGeom>
          <a:noFill/>
          <a:ln w="19050">
            <a:solidFill>
              <a:srgbClr val="4C1D9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2004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chef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492240" y="3639312"/>
            <a:ext cx="1554480" cy="594360"/>
          </a:xfrm>
          <a:prstGeom prst="roundRect">
            <a:avLst>
              <a:gd name="adj" fmla="val 15385"/>
            </a:avLst>
          </a:prstGeom>
          <a:solidFill>
            <a:srgbClr val="EDE9FE"/>
          </a:solidFill>
          <a:ln w="19050">
            <a:solidFill>
              <a:srgbClr val="4C1D9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92240" y="363931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/admin/dashboard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Chef Programme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187952" y="4663440"/>
            <a:ext cx="402336" cy="402336"/>
          </a:xfrm>
          <a:prstGeom prst="ellipse">
            <a:avLst/>
          </a:prstGeom>
          <a:solidFill>
            <a:srgbClr val="0D1B2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42816" y="471830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88536" y="4764024"/>
            <a:ext cx="201168" cy="20116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54480" y="4233672"/>
            <a:ext cx="0" cy="22860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1554480" y="4462272"/>
            <a:ext cx="28346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389120" y="4233672"/>
            <a:ext cx="0" cy="22860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389120" y="4462272"/>
            <a:ext cx="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7269480" y="4233672"/>
            <a:ext cx="0" cy="22860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7269480" y="4462272"/>
            <a:ext cx="-28803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389120" y="4462272"/>
            <a:ext cx="0" cy="20116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4114800" cy="4114800"/>
          </a:xfrm>
          <a:prstGeom prst="ellipse">
            <a:avLst/>
          </a:prstGeom>
          <a:solidFill>
            <a:srgbClr val="1B4FD8">
              <a:alpha val="18000"/>
            </a:srgbClr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RÉCAPITULATIF UML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logique de référence — Chatbot EDT UGANC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2606040" cy="1005840"/>
          </a:xfrm>
          <a:prstGeom prst="roundRect">
            <a:avLst>
              <a:gd name="adj" fmla="val 10909"/>
            </a:avLst>
          </a:prstGeom>
          <a:solidFill>
            <a:srgbClr val="EFF6FF">
              <a:alpha val="90000"/>
            </a:srgbClr>
          </a:solidFill>
          <a:ln w="19050">
            <a:solidFill>
              <a:srgbClr val="1B4F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459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Use Case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acteurs × 11 cas d'utilisation. Étudiant consulte, Enseignant modifie, Chef administre.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82112" y="1572768"/>
            <a:ext cx="2606040" cy="1005840"/>
          </a:xfrm>
          <a:prstGeom prst="roundRect">
            <a:avLst>
              <a:gd name="adj" fmla="val 10909"/>
            </a:avLst>
          </a:prstGeom>
          <a:solidFill>
            <a:srgbClr val="F0FDF4">
              <a:alpha val="90000"/>
            </a:srgbClr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73552" y="16459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Classes UML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73552" y="193852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entités Eloquent avec attributs typés, relations et multiplicités complètes.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98464" y="1572768"/>
            <a:ext cx="2606040" cy="1005840"/>
          </a:xfrm>
          <a:prstGeom prst="roundRect">
            <a:avLst>
              <a:gd name="adj" fmla="val 10909"/>
            </a:avLst>
          </a:prstGeom>
          <a:solidFill>
            <a:srgbClr val="EFF6FF">
              <a:alpha val="90000"/>
            </a:srgbClr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89904" y="16459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Séquence 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89904" y="193852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échanges pour consulter l'EDT : AJAX → Laravel → MySQL → JSON → UI.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2606040" cy="1005840"/>
          </a:xfrm>
          <a:prstGeom prst="roundRect">
            <a:avLst>
              <a:gd name="adj" fmla="val 10909"/>
            </a:avLst>
          </a:prstGeom>
          <a:solidFill>
            <a:srgbClr val="FEF3C7">
              <a:alpha val="90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9077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Séquence 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échanges pour modifier un cours avec alerte temps réel par polling AJAX.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82112" y="2834640"/>
            <a:ext cx="2606040" cy="1005840"/>
          </a:xfrm>
          <a:prstGeom prst="roundRect">
            <a:avLst>
              <a:gd name="adj" fmla="val 10909"/>
            </a:avLst>
          </a:prstGeom>
          <a:solidFill>
            <a:srgbClr val="EDE9FE">
              <a:alpha val="90000"/>
            </a:srgbClr>
          </a:solidFill>
          <a:ln w="19050">
            <a:solidFill>
              <a:srgbClr val="4C1D9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73552" y="29077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Activités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73552" y="320040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login + CheckRole → 3 redirections selon rôle (RBAC strict).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0" y="3977640"/>
            <a:ext cx="4572000" cy="27432"/>
          </a:xfrm>
          <a:prstGeom prst="rect">
            <a:avLst/>
          </a:prstGeom>
          <a:solidFill>
            <a:srgbClr val="0EA5E9">
              <a:alpha val="6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965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 6  |  Toumany Billy Condé &amp; Binôme  |  Mme Makera Kaba  |  UGANC 2024-2025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 modèles UML constituent l'architecture logique de référence du projet.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Diagrammes UML — Chatbot EDT UGANC</dc:title>
  <dc:subject>PptxGenJS Presentation</dc:subject>
  <dc:creator>Groupe 6 — UGANC</dc:creator>
  <cp:lastModifiedBy>Groupe 6 — UGANC</cp:lastModifiedBy>
  <cp:revision>1</cp:revision>
  <dcterms:created xsi:type="dcterms:W3CDTF">2026-06-15T09:06:44Z</dcterms:created>
  <dcterms:modified xsi:type="dcterms:W3CDTF">2026-06-15T09:06:44Z</dcterms:modified>
</cp:coreProperties>
</file>
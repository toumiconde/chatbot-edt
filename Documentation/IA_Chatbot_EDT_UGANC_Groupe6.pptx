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7" d="100"/>
          <a:sy n="107" d="100"/>
        </p:scale>
        <p:origin x="75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3070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6217920" y="-1097280"/>
            <a:ext cx="5486400" cy="5486400"/>
          </a:xfrm>
          <a:prstGeom prst="ellipse">
            <a:avLst/>
          </a:prstGeom>
          <a:solidFill>
            <a:srgbClr val="1B4FD8">
              <a:alpha val="20000"/>
            </a:srgbClr>
          </a:solidFill>
          <a:ln w="12700">
            <a:solidFill>
              <a:srgbClr val="1B4FD8"/>
            </a:solidFill>
            <a:prstDash val="solid"/>
          </a:ln>
        </p:spPr>
      </p:sp>
      <p:sp>
        <p:nvSpPr>
          <p:cNvPr id="3" name="Shape 1"/>
          <p:cNvSpPr/>
          <p:nvPr/>
        </p:nvSpPr>
        <p:spPr>
          <a:xfrm>
            <a:off x="-914400" y="3200400"/>
            <a:ext cx="4114800" cy="4114800"/>
          </a:xfrm>
          <a:prstGeom prst="ellipse">
            <a:avLst/>
          </a:prstGeom>
          <a:solidFill>
            <a:srgbClr val="0EA5E9">
              <a:alpha val="15000"/>
            </a:srgbClr>
          </a:solidFill>
          <a:ln w="12700">
            <a:solidFill>
              <a:srgbClr val="0EA5E9"/>
            </a:solidFill>
            <a:prstDash val="solid"/>
          </a:ln>
        </p:spPr>
      </p:sp>
      <p:sp>
        <p:nvSpPr>
          <p:cNvPr id="4" name="Shape 2"/>
          <p:cNvSpPr/>
          <p:nvPr/>
        </p:nvSpPr>
        <p:spPr>
          <a:xfrm>
            <a:off x="3657600" y="1828800"/>
            <a:ext cx="2286000" cy="2286000"/>
          </a:xfrm>
          <a:prstGeom prst="ellipse">
            <a:avLst/>
          </a:prstGeom>
          <a:solidFill>
            <a:srgbClr val="4C1D95">
              <a:alpha val="12000"/>
            </a:srgbClr>
          </a:solidFill>
          <a:ln w="12700">
            <a:solidFill>
              <a:srgbClr val="4C1D95"/>
            </a:solidFill>
            <a:prstDash val="solid"/>
          </a:ln>
        </p:spPr>
      </p:sp>
      <p:sp>
        <p:nvSpPr>
          <p:cNvPr id="5" name="Shape 3"/>
          <p:cNvSpPr/>
          <p:nvPr/>
        </p:nvSpPr>
        <p:spPr>
          <a:xfrm>
            <a:off x="457200" y="438912"/>
            <a:ext cx="5029200" cy="347472"/>
          </a:xfrm>
          <a:prstGeom prst="roundRect">
            <a:avLst>
              <a:gd name="adj" fmla="val 21053"/>
            </a:avLst>
          </a:prstGeom>
          <a:solidFill>
            <a:srgbClr val="1B4FD8">
              <a:alpha val="40000"/>
            </a:srgbClr>
          </a:solidFill>
          <a:ln w="12700">
            <a:solidFill>
              <a:srgbClr val="0EA5E9"/>
            </a:solidFill>
            <a:prstDash val="solid"/>
          </a:ln>
        </p:spPr>
      </p:sp>
      <p:sp>
        <p:nvSpPr>
          <p:cNvPr id="6" name="Text 4"/>
          <p:cNvSpPr/>
          <p:nvPr/>
        </p:nvSpPr>
        <p:spPr>
          <a:xfrm>
            <a:off x="457200" y="438912"/>
            <a:ext cx="5029200" cy="347472"/>
          </a:xfrm>
          <a:prstGeom prst="rect">
            <a:avLst/>
          </a:prstGeom>
          <a:noFill/>
          <a:ln/>
        </p:spPr>
        <p:txBody>
          <a:bodyPr wrap="square" lIns="0" tIns="0" rIns="0" bIns="0" rtlCol="0" anchor="ctr"/>
          <a:lstStyle/>
          <a:p>
            <a:pPr marL="0" indent="0" algn="ctr">
              <a:buNone/>
            </a:pPr>
            <a:r>
              <a:rPr lang="en-US" sz="850" b="1" kern="0" spc="100" dirty="0">
                <a:solidFill>
                  <a:srgbClr val="0EA5E9"/>
                </a:solidFill>
                <a:latin typeface="Arial" pitchFamily="34" charset="0"/>
                <a:ea typeface="Arial" pitchFamily="34" charset="-122"/>
                <a:cs typeface="Arial" pitchFamily="34" charset="-120"/>
              </a:rPr>
              <a:t>DOCUMENTATION TECHNIQUE — INTELLIGENCE ARTIFICIELLE</a:t>
            </a:r>
            <a:endParaRPr lang="en-US" sz="850" dirty="0"/>
          </a:p>
        </p:txBody>
      </p:sp>
      <p:sp>
        <p:nvSpPr>
          <p:cNvPr id="7" name="Text 5"/>
          <p:cNvSpPr/>
          <p:nvPr/>
        </p:nvSpPr>
        <p:spPr>
          <a:xfrm>
            <a:off x="457200" y="914400"/>
            <a:ext cx="8229600" cy="658368"/>
          </a:xfrm>
          <a:prstGeom prst="rect">
            <a:avLst/>
          </a:prstGeom>
          <a:noFill/>
          <a:ln/>
        </p:spPr>
        <p:txBody>
          <a:bodyPr wrap="square" lIns="0" tIns="0" rIns="0" bIns="0" rtlCol="0" anchor="ctr"/>
          <a:lstStyle/>
          <a:p>
            <a:pPr marL="0" indent="0">
              <a:buNone/>
            </a:pPr>
            <a:r>
              <a:rPr lang="en-US" sz="5200" b="1" dirty="0">
                <a:solidFill>
                  <a:srgbClr val="FFFFFF"/>
                </a:solidFill>
                <a:latin typeface="Arial" pitchFamily="34" charset="0"/>
                <a:ea typeface="Arial" pitchFamily="34" charset="-122"/>
                <a:cs typeface="Arial" pitchFamily="34" charset="-120"/>
              </a:rPr>
              <a:t>Intelligence</a:t>
            </a:r>
            <a:endParaRPr lang="en-US" sz="5200" dirty="0"/>
          </a:p>
        </p:txBody>
      </p:sp>
      <p:sp>
        <p:nvSpPr>
          <p:cNvPr id="8" name="Text 6"/>
          <p:cNvSpPr/>
          <p:nvPr/>
        </p:nvSpPr>
        <p:spPr>
          <a:xfrm>
            <a:off x="457200" y="1572768"/>
            <a:ext cx="8229600" cy="658368"/>
          </a:xfrm>
          <a:prstGeom prst="rect">
            <a:avLst/>
          </a:prstGeom>
          <a:noFill/>
          <a:ln/>
        </p:spPr>
        <p:txBody>
          <a:bodyPr wrap="square" lIns="0" tIns="0" rIns="0" bIns="0" rtlCol="0" anchor="ctr"/>
          <a:lstStyle/>
          <a:p>
            <a:pPr marL="0" indent="0">
              <a:buNone/>
            </a:pPr>
            <a:r>
              <a:rPr lang="en-US" sz="5200" b="1" dirty="0">
                <a:solidFill>
                  <a:srgbClr val="0EA5E9"/>
                </a:solidFill>
                <a:latin typeface="Arial" pitchFamily="34" charset="0"/>
                <a:ea typeface="Arial" pitchFamily="34" charset="-122"/>
                <a:cs typeface="Arial" pitchFamily="34" charset="-120"/>
              </a:rPr>
              <a:t>Artificielle</a:t>
            </a:r>
            <a:endParaRPr lang="en-US" sz="5200" dirty="0"/>
          </a:p>
        </p:txBody>
      </p:sp>
      <p:sp>
        <p:nvSpPr>
          <p:cNvPr id="9" name="Text 7"/>
          <p:cNvSpPr/>
          <p:nvPr/>
        </p:nvSpPr>
        <p:spPr>
          <a:xfrm>
            <a:off x="457200" y="2286000"/>
            <a:ext cx="8229600" cy="457200"/>
          </a:xfrm>
          <a:prstGeom prst="rect">
            <a:avLst/>
          </a:prstGeom>
          <a:noFill/>
          <a:ln/>
        </p:spPr>
        <p:txBody>
          <a:bodyPr wrap="square" lIns="0" tIns="0" rIns="0" bIns="0" rtlCol="0" anchor="ctr"/>
          <a:lstStyle/>
          <a:p>
            <a:pPr marL="0" indent="0">
              <a:buNone/>
            </a:pPr>
            <a:r>
              <a:rPr lang="en-US" sz="2400" dirty="0">
                <a:solidFill>
                  <a:srgbClr val="93C5FD"/>
                </a:solidFill>
                <a:latin typeface="Arial" pitchFamily="34" charset="0"/>
                <a:ea typeface="Arial" pitchFamily="34" charset="-122"/>
                <a:cs typeface="Arial" pitchFamily="34" charset="-120"/>
              </a:rPr>
              <a:t>du Chatbot EDT — UGANC</a:t>
            </a:r>
            <a:endParaRPr lang="en-US" sz="2400" dirty="0"/>
          </a:p>
        </p:txBody>
      </p:sp>
      <p:sp>
        <p:nvSpPr>
          <p:cNvPr id="10" name="Text 8"/>
          <p:cNvSpPr/>
          <p:nvPr/>
        </p:nvSpPr>
        <p:spPr>
          <a:xfrm>
            <a:off x="457200" y="2816352"/>
            <a:ext cx="8229600" cy="329184"/>
          </a:xfrm>
          <a:prstGeom prst="rect">
            <a:avLst/>
          </a:prstGeom>
          <a:noFill/>
          <a:ln/>
        </p:spPr>
        <p:txBody>
          <a:bodyPr wrap="square" lIns="0" tIns="0" rIns="0" bIns="0" rtlCol="0" anchor="ctr"/>
          <a:lstStyle/>
          <a:p>
            <a:pPr marL="0" indent="0">
              <a:buNone/>
            </a:pPr>
            <a:r>
              <a:rPr lang="en-US" sz="1400" dirty="0">
                <a:solidFill>
                  <a:srgbClr val="6EE7B7"/>
                </a:solidFill>
                <a:latin typeface="Arial" pitchFamily="34" charset="0"/>
                <a:ea typeface="Arial" pitchFamily="34" charset="-122"/>
                <a:cs typeface="Arial" pitchFamily="34" charset="-120"/>
              </a:rPr>
              <a:t>Architecture · LLM · Groq API · Tavily · Actions Interface</a:t>
            </a:r>
            <a:endParaRPr lang="en-US" sz="1400" dirty="0"/>
          </a:p>
        </p:txBody>
      </p:sp>
      <p:sp>
        <p:nvSpPr>
          <p:cNvPr id="11" name="Shape 9"/>
          <p:cNvSpPr/>
          <p:nvPr/>
        </p:nvSpPr>
        <p:spPr>
          <a:xfrm>
            <a:off x="457200" y="3246120"/>
            <a:ext cx="3657600" cy="36576"/>
          </a:xfrm>
          <a:prstGeom prst="rect">
            <a:avLst/>
          </a:prstGeom>
          <a:solidFill>
            <a:srgbClr val="0EA5E9"/>
          </a:solidFill>
          <a:ln w="12700">
            <a:solidFill>
              <a:srgbClr val="0EA5E9"/>
            </a:solidFill>
            <a:prstDash val="solid"/>
          </a:ln>
        </p:spPr>
      </p:sp>
      <p:sp>
        <p:nvSpPr>
          <p:cNvPr id="12" name="Text 10"/>
          <p:cNvSpPr/>
          <p:nvPr/>
        </p:nvSpPr>
        <p:spPr>
          <a:xfrm>
            <a:off x="457200" y="3364992"/>
            <a:ext cx="7772400" cy="347472"/>
          </a:xfrm>
          <a:prstGeom prst="rect">
            <a:avLst/>
          </a:prstGeom>
          <a:noFill/>
          <a:ln/>
        </p:spPr>
        <p:txBody>
          <a:bodyPr wrap="square" rtlCol="0" anchor="ctr"/>
          <a:lstStyle/>
          <a:p>
            <a:pPr marL="0" indent="0">
              <a:buNone/>
            </a:pPr>
            <a:r>
              <a:rPr lang="en-US" sz="1200" dirty="0">
                <a:solidFill>
                  <a:srgbClr val="93C5FD"/>
                </a:solidFill>
                <a:latin typeface="Arial" pitchFamily="34" charset="0"/>
                <a:ea typeface="Arial" pitchFamily="34" charset="-122"/>
                <a:cs typeface="Arial" pitchFamily="34" charset="-120"/>
              </a:rPr>
              <a:t>Groupe 6 — NTIC  |  </a:t>
            </a:r>
            <a:r>
              <a:rPr lang="en-US" sz="1200" b="1" dirty="0">
                <a:solidFill>
                  <a:srgbClr val="FFFFFF"/>
                </a:solidFill>
                <a:latin typeface="Arial" pitchFamily="34" charset="0"/>
                <a:ea typeface="Arial" pitchFamily="34" charset="-122"/>
                <a:cs typeface="Arial" pitchFamily="34" charset="-120"/>
              </a:rPr>
              <a:t>Toumany Billy Condé &amp; Binôme</a:t>
            </a:r>
            <a:r>
              <a:rPr lang="en-US" sz="1200" dirty="0">
                <a:solidFill>
                  <a:srgbClr val="93C5FD"/>
                </a:solidFill>
                <a:latin typeface="Arial" pitchFamily="34" charset="0"/>
                <a:ea typeface="Arial" pitchFamily="34" charset="-122"/>
                <a:cs typeface="Arial" pitchFamily="34" charset="-120"/>
              </a:rPr>
              <a:t>  |  Mme Makera Kaba</a:t>
            </a:r>
            <a:endParaRPr lang="en-US" sz="1200" dirty="0"/>
          </a:p>
        </p:txBody>
      </p:sp>
      <p:sp>
        <p:nvSpPr>
          <p:cNvPr id="13" name="Shape 11"/>
          <p:cNvSpPr/>
          <p:nvPr/>
        </p:nvSpPr>
        <p:spPr>
          <a:xfrm>
            <a:off x="256032" y="4133088"/>
            <a:ext cx="1042416" cy="749808"/>
          </a:xfrm>
          <a:prstGeom prst="roundRect">
            <a:avLst>
              <a:gd name="adj" fmla="val 12195"/>
            </a:avLst>
          </a:prstGeom>
          <a:solidFill>
            <a:srgbClr val="FFFFFF">
              <a:alpha val="8000"/>
            </a:srgbClr>
          </a:solidFill>
          <a:ln w="12700">
            <a:solidFill>
              <a:srgbClr val="0EA5E9"/>
            </a:solidFill>
            <a:prstDash val="solid"/>
          </a:ln>
        </p:spPr>
      </p:sp>
      <p:sp>
        <p:nvSpPr>
          <p:cNvPr id="14" name="Text 12"/>
          <p:cNvSpPr/>
          <p:nvPr/>
        </p:nvSpPr>
        <p:spPr>
          <a:xfrm>
            <a:off x="256032" y="4160520"/>
            <a:ext cx="1042416" cy="292608"/>
          </a:xfrm>
          <a:prstGeom prst="rect">
            <a:avLst/>
          </a:prstGeom>
          <a:noFill/>
          <a:ln/>
        </p:spPr>
        <p:txBody>
          <a:bodyPr wrap="square" lIns="0" tIns="0" rIns="0" bIns="0" rtlCol="0" anchor="ctr"/>
          <a:lstStyle/>
          <a:p>
            <a:pPr marL="0" indent="0" algn="ctr">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15" name="Text 13"/>
          <p:cNvSpPr/>
          <p:nvPr/>
        </p:nvSpPr>
        <p:spPr>
          <a:xfrm>
            <a:off x="256032" y="4443984"/>
            <a:ext cx="1042416" cy="256032"/>
          </a:xfrm>
          <a:prstGeom prst="rect">
            <a:avLst/>
          </a:prstGeom>
          <a:noFill/>
          <a:ln/>
        </p:spPr>
        <p:txBody>
          <a:bodyPr wrap="square" lIns="0" tIns="0" rIns="0" bIns="0" rtlCol="0" anchor="ctr"/>
          <a:lstStyle/>
          <a:p>
            <a:pPr marL="0" indent="0" algn="ctr">
              <a:buNone/>
            </a:pPr>
            <a:r>
              <a:rPr lang="en-US" sz="850" dirty="0">
                <a:solidFill>
                  <a:srgbClr val="93C5FD"/>
                </a:solidFill>
                <a:latin typeface="Arial" pitchFamily="34" charset="0"/>
                <a:ea typeface="Arial" pitchFamily="34" charset="-122"/>
                <a:cs typeface="Arial" pitchFamily="34" charset="-120"/>
              </a:rPr>
              <a:t>LLaMA 3.1</a:t>
            </a:r>
            <a:endParaRPr lang="en-US" sz="850" dirty="0"/>
          </a:p>
        </p:txBody>
      </p:sp>
      <p:sp>
        <p:nvSpPr>
          <p:cNvPr id="16" name="Shape 14"/>
          <p:cNvSpPr/>
          <p:nvPr/>
        </p:nvSpPr>
        <p:spPr>
          <a:xfrm>
            <a:off x="1371600" y="4133088"/>
            <a:ext cx="1042416" cy="749808"/>
          </a:xfrm>
          <a:prstGeom prst="roundRect">
            <a:avLst>
              <a:gd name="adj" fmla="val 12195"/>
            </a:avLst>
          </a:prstGeom>
          <a:solidFill>
            <a:srgbClr val="FFFFFF">
              <a:alpha val="8000"/>
            </a:srgbClr>
          </a:solidFill>
          <a:ln w="12700">
            <a:solidFill>
              <a:srgbClr val="0EA5E9"/>
            </a:solidFill>
            <a:prstDash val="solid"/>
          </a:ln>
        </p:spPr>
      </p:sp>
      <p:sp>
        <p:nvSpPr>
          <p:cNvPr id="17" name="Text 15"/>
          <p:cNvSpPr/>
          <p:nvPr/>
        </p:nvSpPr>
        <p:spPr>
          <a:xfrm>
            <a:off x="1371600" y="4160520"/>
            <a:ext cx="1042416" cy="292608"/>
          </a:xfrm>
          <a:prstGeom prst="rect">
            <a:avLst/>
          </a:prstGeom>
          <a:noFill/>
          <a:ln/>
        </p:spPr>
        <p:txBody>
          <a:bodyPr wrap="square" lIns="0" tIns="0" rIns="0" bIns="0" rtlCol="0" anchor="ctr"/>
          <a:lstStyle/>
          <a:p>
            <a:pPr marL="0" indent="0" algn="ctr">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18" name="Text 16"/>
          <p:cNvSpPr/>
          <p:nvPr/>
        </p:nvSpPr>
        <p:spPr>
          <a:xfrm>
            <a:off x="1371600" y="4443984"/>
            <a:ext cx="1042416" cy="256032"/>
          </a:xfrm>
          <a:prstGeom prst="rect">
            <a:avLst/>
          </a:prstGeom>
          <a:noFill/>
          <a:ln/>
        </p:spPr>
        <p:txBody>
          <a:bodyPr wrap="square" lIns="0" tIns="0" rIns="0" bIns="0" rtlCol="0" anchor="ctr"/>
          <a:lstStyle/>
          <a:p>
            <a:pPr marL="0" indent="0" algn="ctr">
              <a:buNone/>
            </a:pPr>
            <a:r>
              <a:rPr lang="en-US" sz="850" dirty="0">
                <a:solidFill>
                  <a:srgbClr val="93C5FD"/>
                </a:solidFill>
                <a:latin typeface="Arial" pitchFamily="34" charset="0"/>
                <a:ea typeface="Arial" pitchFamily="34" charset="-122"/>
                <a:cs typeface="Arial" pitchFamily="34" charset="-120"/>
              </a:rPr>
              <a:t>Groq API</a:t>
            </a:r>
            <a:endParaRPr lang="en-US" sz="850" dirty="0"/>
          </a:p>
        </p:txBody>
      </p:sp>
      <p:sp>
        <p:nvSpPr>
          <p:cNvPr id="19" name="Shape 17"/>
          <p:cNvSpPr/>
          <p:nvPr/>
        </p:nvSpPr>
        <p:spPr>
          <a:xfrm>
            <a:off x="2487168" y="4133088"/>
            <a:ext cx="1042416" cy="749808"/>
          </a:xfrm>
          <a:prstGeom prst="roundRect">
            <a:avLst>
              <a:gd name="adj" fmla="val 12195"/>
            </a:avLst>
          </a:prstGeom>
          <a:solidFill>
            <a:srgbClr val="FFFFFF">
              <a:alpha val="8000"/>
            </a:srgbClr>
          </a:solidFill>
          <a:ln w="12700">
            <a:solidFill>
              <a:srgbClr val="0EA5E9"/>
            </a:solidFill>
            <a:prstDash val="solid"/>
          </a:ln>
        </p:spPr>
      </p:sp>
      <p:sp>
        <p:nvSpPr>
          <p:cNvPr id="20" name="Text 18"/>
          <p:cNvSpPr/>
          <p:nvPr/>
        </p:nvSpPr>
        <p:spPr>
          <a:xfrm>
            <a:off x="2487168" y="4160520"/>
            <a:ext cx="1042416" cy="292608"/>
          </a:xfrm>
          <a:prstGeom prst="rect">
            <a:avLst/>
          </a:prstGeom>
          <a:noFill/>
          <a:ln/>
        </p:spPr>
        <p:txBody>
          <a:bodyPr wrap="square" lIns="0" tIns="0" rIns="0" bIns="0" rtlCol="0" anchor="ctr"/>
          <a:lstStyle/>
          <a:p>
            <a:pPr marL="0" indent="0" algn="ctr">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21" name="Text 19"/>
          <p:cNvSpPr/>
          <p:nvPr/>
        </p:nvSpPr>
        <p:spPr>
          <a:xfrm>
            <a:off x="2487168" y="4443984"/>
            <a:ext cx="1042416" cy="256032"/>
          </a:xfrm>
          <a:prstGeom prst="rect">
            <a:avLst/>
          </a:prstGeom>
          <a:noFill/>
          <a:ln/>
        </p:spPr>
        <p:txBody>
          <a:bodyPr wrap="square" lIns="0" tIns="0" rIns="0" bIns="0" rtlCol="0" anchor="ctr"/>
          <a:lstStyle/>
          <a:p>
            <a:pPr marL="0" indent="0" algn="ctr">
              <a:buNone/>
            </a:pPr>
            <a:r>
              <a:rPr lang="en-US" sz="850" dirty="0">
                <a:solidFill>
                  <a:srgbClr val="93C5FD"/>
                </a:solidFill>
                <a:latin typeface="Arial" pitchFamily="34" charset="0"/>
                <a:ea typeface="Arial" pitchFamily="34" charset="-122"/>
                <a:cs typeface="Arial" pitchFamily="34" charset="-120"/>
              </a:rPr>
              <a:t>Tavily Web</a:t>
            </a:r>
            <a:endParaRPr lang="en-US" sz="850" dirty="0"/>
          </a:p>
        </p:txBody>
      </p:sp>
      <p:sp>
        <p:nvSpPr>
          <p:cNvPr id="22" name="Shape 20"/>
          <p:cNvSpPr/>
          <p:nvPr/>
        </p:nvSpPr>
        <p:spPr>
          <a:xfrm>
            <a:off x="3602736" y="4133088"/>
            <a:ext cx="1042416" cy="749808"/>
          </a:xfrm>
          <a:prstGeom prst="roundRect">
            <a:avLst>
              <a:gd name="adj" fmla="val 12195"/>
            </a:avLst>
          </a:prstGeom>
          <a:solidFill>
            <a:srgbClr val="FFFFFF">
              <a:alpha val="8000"/>
            </a:srgbClr>
          </a:solidFill>
          <a:ln w="12700">
            <a:solidFill>
              <a:srgbClr val="0EA5E9"/>
            </a:solidFill>
            <a:prstDash val="solid"/>
          </a:ln>
        </p:spPr>
      </p:sp>
      <p:sp>
        <p:nvSpPr>
          <p:cNvPr id="23" name="Text 21"/>
          <p:cNvSpPr/>
          <p:nvPr/>
        </p:nvSpPr>
        <p:spPr>
          <a:xfrm>
            <a:off x="3602736" y="4160520"/>
            <a:ext cx="1042416" cy="292608"/>
          </a:xfrm>
          <a:prstGeom prst="rect">
            <a:avLst/>
          </a:prstGeom>
          <a:noFill/>
          <a:ln/>
        </p:spPr>
        <p:txBody>
          <a:bodyPr wrap="square" lIns="0" tIns="0" rIns="0" bIns="0" rtlCol="0" anchor="ctr"/>
          <a:lstStyle/>
          <a:p>
            <a:pPr marL="0" indent="0" algn="ctr">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24" name="Text 22"/>
          <p:cNvSpPr/>
          <p:nvPr/>
        </p:nvSpPr>
        <p:spPr>
          <a:xfrm>
            <a:off x="3602736" y="4443984"/>
            <a:ext cx="1042416" cy="256032"/>
          </a:xfrm>
          <a:prstGeom prst="rect">
            <a:avLst/>
          </a:prstGeom>
          <a:noFill/>
          <a:ln/>
        </p:spPr>
        <p:txBody>
          <a:bodyPr wrap="square" lIns="0" tIns="0" rIns="0" bIns="0" rtlCol="0" anchor="ctr"/>
          <a:lstStyle/>
          <a:p>
            <a:pPr marL="0" indent="0" algn="ctr">
              <a:buNone/>
            </a:pPr>
            <a:r>
              <a:rPr lang="en-US" sz="850" dirty="0">
                <a:solidFill>
                  <a:srgbClr val="93C5FD"/>
                </a:solidFill>
                <a:latin typeface="Arial" pitchFamily="34" charset="0"/>
                <a:ea typeface="Arial" pitchFamily="34" charset="-122"/>
                <a:cs typeface="Arial" pitchFamily="34" charset="-120"/>
              </a:rPr>
              <a:t>MySQL Live</a:t>
            </a:r>
            <a:endParaRPr lang="en-US" sz="850" dirty="0"/>
          </a:p>
        </p:txBody>
      </p:sp>
      <p:sp>
        <p:nvSpPr>
          <p:cNvPr id="25" name="Shape 23"/>
          <p:cNvSpPr/>
          <p:nvPr/>
        </p:nvSpPr>
        <p:spPr>
          <a:xfrm>
            <a:off x="4718304" y="4133088"/>
            <a:ext cx="1042416" cy="749808"/>
          </a:xfrm>
          <a:prstGeom prst="roundRect">
            <a:avLst>
              <a:gd name="adj" fmla="val 12195"/>
            </a:avLst>
          </a:prstGeom>
          <a:solidFill>
            <a:srgbClr val="FFFFFF">
              <a:alpha val="8000"/>
            </a:srgbClr>
          </a:solidFill>
          <a:ln w="12700">
            <a:solidFill>
              <a:srgbClr val="0EA5E9"/>
            </a:solidFill>
            <a:prstDash val="solid"/>
          </a:ln>
        </p:spPr>
      </p:sp>
      <p:sp>
        <p:nvSpPr>
          <p:cNvPr id="26" name="Text 24"/>
          <p:cNvSpPr/>
          <p:nvPr/>
        </p:nvSpPr>
        <p:spPr>
          <a:xfrm>
            <a:off x="4718304" y="4160520"/>
            <a:ext cx="1042416" cy="292608"/>
          </a:xfrm>
          <a:prstGeom prst="rect">
            <a:avLst/>
          </a:prstGeom>
          <a:noFill/>
          <a:ln/>
        </p:spPr>
        <p:txBody>
          <a:bodyPr wrap="square" lIns="0" tIns="0" rIns="0" bIns="0" rtlCol="0" anchor="ctr"/>
          <a:lstStyle/>
          <a:p>
            <a:pPr marL="0" indent="0" algn="ctr">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27" name="Text 25"/>
          <p:cNvSpPr/>
          <p:nvPr/>
        </p:nvSpPr>
        <p:spPr>
          <a:xfrm>
            <a:off x="4718304" y="4443984"/>
            <a:ext cx="1042416" cy="256032"/>
          </a:xfrm>
          <a:prstGeom prst="rect">
            <a:avLst/>
          </a:prstGeom>
          <a:noFill/>
          <a:ln/>
        </p:spPr>
        <p:txBody>
          <a:bodyPr wrap="square" lIns="0" tIns="0" rIns="0" bIns="0" rtlCol="0" anchor="ctr"/>
          <a:lstStyle/>
          <a:p>
            <a:pPr marL="0" indent="0" algn="ctr">
              <a:buNone/>
            </a:pPr>
            <a:r>
              <a:rPr lang="en-US" sz="850" dirty="0">
                <a:solidFill>
                  <a:srgbClr val="93C5FD"/>
                </a:solidFill>
                <a:latin typeface="Arial" pitchFamily="34" charset="0"/>
                <a:ea typeface="Arial" pitchFamily="34" charset="-122"/>
                <a:cs typeface="Arial" pitchFamily="34" charset="-120"/>
              </a:rPr>
              <a:t>Actions UI</a:t>
            </a:r>
            <a:endParaRPr lang="en-US" sz="850" dirty="0"/>
          </a:p>
        </p:txBody>
      </p:sp>
      <p:sp>
        <p:nvSpPr>
          <p:cNvPr id="28" name="Shape 26"/>
          <p:cNvSpPr/>
          <p:nvPr/>
        </p:nvSpPr>
        <p:spPr>
          <a:xfrm>
            <a:off x="5833872" y="4133088"/>
            <a:ext cx="1042416" cy="749808"/>
          </a:xfrm>
          <a:prstGeom prst="roundRect">
            <a:avLst>
              <a:gd name="adj" fmla="val 12195"/>
            </a:avLst>
          </a:prstGeom>
          <a:solidFill>
            <a:srgbClr val="FFFFFF">
              <a:alpha val="8000"/>
            </a:srgbClr>
          </a:solidFill>
          <a:ln w="12700">
            <a:solidFill>
              <a:srgbClr val="0EA5E9"/>
            </a:solidFill>
            <a:prstDash val="solid"/>
          </a:ln>
        </p:spPr>
      </p:sp>
      <p:sp>
        <p:nvSpPr>
          <p:cNvPr id="29" name="Text 27"/>
          <p:cNvSpPr/>
          <p:nvPr/>
        </p:nvSpPr>
        <p:spPr>
          <a:xfrm>
            <a:off x="5833872" y="4160520"/>
            <a:ext cx="1042416" cy="292608"/>
          </a:xfrm>
          <a:prstGeom prst="rect">
            <a:avLst/>
          </a:prstGeom>
          <a:noFill/>
          <a:ln/>
        </p:spPr>
        <p:txBody>
          <a:bodyPr wrap="square" lIns="0" tIns="0" rIns="0" bIns="0" rtlCol="0" anchor="ctr"/>
          <a:lstStyle/>
          <a:p>
            <a:pPr marL="0" indent="0" algn="ctr">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30" name="Text 28"/>
          <p:cNvSpPr/>
          <p:nvPr/>
        </p:nvSpPr>
        <p:spPr>
          <a:xfrm>
            <a:off x="5833872" y="4443984"/>
            <a:ext cx="1042416" cy="256032"/>
          </a:xfrm>
          <a:prstGeom prst="rect">
            <a:avLst/>
          </a:prstGeom>
          <a:noFill/>
          <a:ln/>
        </p:spPr>
        <p:txBody>
          <a:bodyPr wrap="square" lIns="0" tIns="0" rIns="0" bIns="0" rtlCol="0" anchor="ctr"/>
          <a:lstStyle/>
          <a:p>
            <a:pPr marL="0" indent="0" algn="ctr">
              <a:buNone/>
            </a:pPr>
            <a:r>
              <a:rPr lang="en-US" sz="850" dirty="0">
                <a:solidFill>
                  <a:srgbClr val="93C5FD"/>
                </a:solidFill>
                <a:latin typeface="Arial" pitchFamily="34" charset="0"/>
                <a:ea typeface="Arial" pitchFamily="34" charset="-122"/>
                <a:cs typeface="Arial" pitchFamily="34" charset="-120"/>
              </a:rPr>
              <a:t>Notifications</a:t>
            </a:r>
            <a:endParaRPr lang="en-US" sz="850" dirty="0"/>
          </a:p>
        </p:txBody>
      </p:sp>
      <p:sp>
        <p:nvSpPr>
          <p:cNvPr id="31" name="Shape 29"/>
          <p:cNvSpPr/>
          <p:nvPr/>
        </p:nvSpPr>
        <p:spPr>
          <a:xfrm>
            <a:off x="6949440" y="4133088"/>
            <a:ext cx="1042416" cy="749808"/>
          </a:xfrm>
          <a:prstGeom prst="roundRect">
            <a:avLst>
              <a:gd name="adj" fmla="val 12195"/>
            </a:avLst>
          </a:prstGeom>
          <a:solidFill>
            <a:srgbClr val="FFFFFF">
              <a:alpha val="8000"/>
            </a:srgbClr>
          </a:solidFill>
          <a:ln w="12700">
            <a:solidFill>
              <a:srgbClr val="0EA5E9"/>
            </a:solidFill>
            <a:prstDash val="solid"/>
          </a:ln>
        </p:spPr>
      </p:sp>
      <p:sp>
        <p:nvSpPr>
          <p:cNvPr id="32" name="Text 30"/>
          <p:cNvSpPr/>
          <p:nvPr/>
        </p:nvSpPr>
        <p:spPr>
          <a:xfrm>
            <a:off x="6949440" y="4160520"/>
            <a:ext cx="1042416" cy="292608"/>
          </a:xfrm>
          <a:prstGeom prst="rect">
            <a:avLst/>
          </a:prstGeom>
          <a:noFill/>
          <a:ln/>
        </p:spPr>
        <p:txBody>
          <a:bodyPr wrap="square" lIns="0" tIns="0" rIns="0" bIns="0" rtlCol="0" anchor="ctr"/>
          <a:lstStyle/>
          <a:p>
            <a:pPr marL="0" indent="0" algn="ctr">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33" name="Text 31"/>
          <p:cNvSpPr/>
          <p:nvPr/>
        </p:nvSpPr>
        <p:spPr>
          <a:xfrm>
            <a:off x="6949440" y="4443984"/>
            <a:ext cx="1042416" cy="256032"/>
          </a:xfrm>
          <a:prstGeom prst="rect">
            <a:avLst/>
          </a:prstGeom>
          <a:noFill/>
          <a:ln/>
        </p:spPr>
        <p:txBody>
          <a:bodyPr wrap="square" lIns="0" tIns="0" rIns="0" bIns="0" rtlCol="0" anchor="ctr"/>
          <a:lstStyle/>
          <a:p>
            <a:pPr marL="0" indent="0" algn="ctr">
              <a:buNone/>
            </a:pPr>
            <a:r>
              <a:rPr lang="en-US" sz="850" dirty="0">
                <a:solidFill>
                  <a:srgbClr val="93C5FD"/>
                </a:solidFill>
                <a:latin typeface="Arial" pitchFamily="34" charset="0"/>
                <a:ea typeface="Arial" pitchFamily="34" charset="-122"/>
                <a:cs typeface="Arial" pitchFamily="34" charset="-120"/>
              </a:rPr>
              <a:t>Tokens Opt.</a:t>
            </a:r>
            <a:endParaRPr lang="en-US" sz="850" dirty="0"/>
          </a:p>
        </p:txBody>
      </p:sp>
      <p:sp>
        <p:nvSpPr>
          <p:cNvPr id="34" name="Shape 32"/>
          <p:cNvSpPr/>
          <p:nvPr/>
        </p:nvSpPr>
        <p:spPr>
          <a:xfrm>
            <a:off x="8065008" y="4133088"/>
            <a:ext cx="1042416" cy="749808"/>
          </a:xfrm>
          <a:prstGeom prst="roundRect">
            <a:avLst>
              <a:gd name="adj" fmla="val 12195"/>
            </a:avLst>
          </a:prstGeom>
          <a:solidFill>
            <a:srgbClr val="FFFFFF">
              <a:alpha val="8000"/>
            </a:srgbClr>
          </a:solidFill>
          <a:ln w="12700">
            <a:solidFill>
              <a:srgbClr val="0EA5E9"/>
            </a:solidFill>
            <a:prstDash val="solid"/>
          </a:ln>
        </p:spPr>
      </p:sp>
      <p:sp>
        <p:nvSpPr>
          <p:cNvPr id="35" name="Text 33"/>
          <p:cNvSpPr/>
          <p:nvPr/>
        </p:nvSpPr>
        <p:spPr>
          <a:xfrm>
            <a:off x="8065008" y="4160520"/>
            <a:ext cx="1042416" cy="292608"/>
          </a:xfrm>
          <a:prstGeom prst="rect">
            <a:avLst/>
          </a:prstGeom>
          <a:noFill/>
          <a:ln/>
        </p:spPr>
        <p:txBody>
          <a:bodyPr wrap="square" lIns="0" tIns="0" rIns="0" bIns="0" rtlCol="0" anchor="ctr"/>
          <a:lstStyle/>
          <a:p>
            <a:pPr marL="0" indent="0" algn="ctr">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36" name="Text 34"/>
          <p:cNvSpPr/>
          <p:nvPr/>
        </p:nvSpPr>
        <p:spPr>
          <a:xfrm>
            <a:off x="8065008" y="4443984"/>
            <a:ext cx="1042416" cy="256032"/>
          </a:xfrm>
          <a:prstGeom prst="rect">
            <a:avLst/>
          </a:prstGeom>
          <a:noFill/>
          <a:ln/>
        </p:spPr>
        <p:txBody>
          <a:bodyPr wrap="square" lIns="0" tIns="0" rIns="0" bIns="0" rtlCol="0" anchor="ctr"/>
          <a:lstStyle/>
          <a:p>
            <a:pPr marL="0" indent="0" algn="ctr">
              <a:buNone/>
            </a:pPr>
            <a:r>
              <a:rPr lang="en-US" sz="850" dirty="0">
                <a:solidFill>
                  <a:srgbClr val="93C5FD"/>
                </a:solidFill>
                <a:latin typeface="Arial" pitchFamily="34" charset="0"/>
                <a:ea typeface="Arial" pitchFamily="34" charset="-122"/>
                <a:cs typeface="Arial" pitchFamily="34" charset="-120"/>
              </a:rPr>
              <a:t>Historique</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0D1B2A"/>
          </a:solidFill>
          <a:ln w="12700">
            <a:solidFill>
              <a:srgbClr val="0D1B2A"/>
            </a:solidFill>
            <a:prstDash val="solid"/>
          </a:ln>
        </p:spPr>
      </p:sp>
      <p:sp>
        <p:nvSpPr>
          <p:cNvPr id="3" name="Text 1"/>
          <p:cNvSpPr/>
          <p:nvPr/>
        </p:nvSpPr>
        <p:spPr>
          <a:xfrm>
            <a:off x="457200" y="64008"/>
            <a:ext cx="8229600" cy="329184"/>
          </a:xfrm>
          <a:prstGeom prst="rect">
            <a:avLst/>
          </a:prstGeom>
          <a:noFill/>
          <a:ln/>
        </p:spPr>
        <p:txBody>
          <a:bodyPr wrap="square" lIns="0" tIns="0" rIns="0" bIns="0" rtlCol="0" anchor="ctr"/>
          <a:lstStyle/>
          <a:p>
            <a:pPr marL="0" indent="0">
              <a:buNone/>
            </a:pPr>
            <a:r>
              <a:rPr lang="en-US" sz="1000" b="1" kern="0" spc="400" dirty="0">
                <a:solidFill>
                  <a:srgbClr val="0EA5E9"/>
                </a:solidFill>
                <a:latin typeface="Arial" pitchFamily="34" charset="0"/>
                <a:ea typeface="Arial" pitchFamily="34" charset="-122"/>
                <a:cs typeface="Arial" pitchFamily="34" charset="-120"/>
              </a:rPr>
              <a:t>SECTION 1 — PRÉSENTATION</a:t>
            </a:r>
            <a:endParaRPr lang="en-US" sz="1000" dirty="0"/>
          </a:p>
        </p:txBody>
      </p:sp>
      <p:sp>
        <p:nvSpPr>
          <p:cNvPr id="4" name="Text 2"/>
          <p:cNvSpPr/>
          <p:nvPr/>
        </p:nvSpPr>
        <p:spPr>
          <a:xfrm>
            <a:off x="457200" y="402336"/>
            <a:ext cx="6217920" cy="493776"/>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Le projet Chatbot EDT UGANC</a:t>
            </a:r>
            <a:endParaRPr lang="en-US" sz="2000" dirty="0"/>
          </a:p>
        </p:txBody>
      </p:sp>
      <p:sp>
        <p:nvSpPr>
          <p:cNvPr id="5" name="Text 3"/>
          <p:cNvSpPr/>
          <p:nvPr/>
        </p:nvSpPr>
        <p:spPr>
          <a:xfrm>
            <a:off x="6400800" y="457200"/>
            <a:ext cx="2560320" cy="384048"/>
          </a:xfrm>
          <a:prstGeom prst="rect">
            <a:avLst/>
          </a:prstGeom>
          <a:noFill/>
          <a:ln/>
        </p:spPr>
        <p:txBody>
          <a:bodyPr wrap="square" lIns="0" tIns="0" rIns="0" bIns="0" rtlCol="0" anchor="ctr"/>
          <a:lstStyle/>
          <a:p>
            <a:pPr marL="0" indent="0" algn="r">
              <a:buNone/>
            </a:pPr>
            <a:r>
              <a:rPr lang="en-US" sz="1100" dirty="0">
                <a:solidFill>
                  <a:srgbClr val="0EA5E9"/>
                </a:solidFill>
                <a:latin typeface="Arial" pitchFamily="34" charset="0"/>
                <a:ea typeface="Arial" pitchFamily="34" charset="-122"/>
                <a:cs typeface="Arial" pitchFamily="34" charset="-120"/>
              </a:rPr>
              <a:t>Contexte &amp; Périmètre</a:t>
            </a:r>
            <a:endParaRPr lang="en-US" sz="1100" dirty="0"/>
          </a:p>
        </p:txBody>
      </p:sp>
      <p:sp>
        <p:nvSpPr>
          <p:cNvPr id="6" name="Shape 4"/>
          <p:cNvSpPr/>
          <p:nvPr/>
        </p:nvSpPr>
        <p:spPr>
          <a:xfrm>
            <a:off x="274320" y="1051560"/>
            <a:ext cx="8595360" cy="1024128"/>
          </a:xfrm>
          <a:prstGeom prst="roundRect">
            <a:avLst>
              <a:gd name="adj" fmla="val 10714"/>
            </a:avLst>
          </a:prstGeom>
          <a:solidFill>
            <a:srgbClr val="DBEAFE"/>
          </a:solidFill>
          <a:ln w="19050">
            <a:solidFill>
              <a:srgbClr val="1B4FD8"/>
            </a:solidFill>
            <a:prstDash val="solid"/>
          </a:ln>
          <a:effectLst>
            <a:outerShdw blurRad="88900" dist="25400" dir="2700000" algn="bl" rotWithShape="0">
              <a:srgbClr val="000000">
                <a:alpha val="13000"/>
              </a:srgbClr>
            </a:outerShdw>
          </a:effectLst>
        </p:spPr>
      </p:sp>
      <p:sp>
        <p:nvSpPr>
          <p:cNvPr id="7" name="Text 5"/>
          <p:cNvSpPr/>
          <p:nvPr/>
        </p:nvSpPr>
        <p:spPr>
          <a:xfrm>
            <a:off x="411480" y="1097280"/>
            <a:ext cx="8229600" cy="347472"/>
          </a:xfrm>
          <a:prstGeom prst="rect">
            <a:avLst/>
          </a:prstGeom>
          <a:noFill/>
          <a:ln/>
        </p:spPr>
        <p:txBody>
          <a:bodyPr wrap="square" lIns="0" tIns="0" rIns="0" bIns="0" rtlCol="0" anchor="ctr"/>
          <a:lstStyle/>
          <a:p>
            <a:pPr marL="0" indent="0">
              <a:buNone/>
            </a:pPr>
            <a:r>
              <a:rPr lang="en-US" sz="1400" b="1" dirty="0">
                <a:solidFill>
                  <a:srgbClr val="1B4FD8"/>
                </a:solidFill>
                <a:latin typeface="Arial" pitchFamily="34" charset="0"/>
                <a:ea typeface="Arial" pitchFamily="34" charset="-122"/>
                <a:cs typeface="Arial" pitchFamily="34" charset="-120"/>
              </a:rPr>
              <a:t>🎯  Qu'est-ce que le Chatbot EDT UGANC ?</a:t>
            </a:r>
            <a:endParaRPr lang="en-US" sz="1400" dirty="0"/>
          </a:p>
        </p:txBody>
      </p:sp>
      <p:sp>
        <p:nvSpPr>
          <p:cNvPr id="8" name="Text 6"/>
          <p:cNvSpPr/>
          <p:nvPr/>
        </p:nvSpPr>
        <p:spPr>
          <a:xfrm>
            <a:off x="411480" y="1444752"/>
            <a:ext cx="8229600" cy="530352"/>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Application web (Laravel 10 + MySQL) permettant à toute la communauté universitaire de consulter, gérer et recevoir des alertes sur les emplois du temps — avec un assistant IA conversationnel en français et en anglais.</a:t>
            </a:r>
            <a:endParaRPr lang="en-US" sz="1100" dirty="0"/>
          </a:p>
        </p:txBody>
      </p:sp>
      <p:sp>
        <p:nvSpPr>
          <p:cNvPr id="9" name="Shape 7"/>
          <p:cNvSpPr/>
          <p:nvPr/>
        </p:nvSpPr>
        <p:spPr>
          <a:xfrm>
            <a:off x="274320" y="2212848"/>
            <a:ext cx="2743200" cy="2029968"/>
          </a:xfrm>
          <a:prstGeom prst="roundRect">
            <a:avLst>
              <a:gd name="adj" fmla="val 6306"/>
            </a:avLst>
          </a:prstGeom>
          <a:solidFill>
            <a:srgbClr val="EDE9FE"/>
          </a:solidFill>
          <a:ln w="19050">
            <a:solidFill>
              <a:srgbClr val="4C1D95"/>
            </a:solidFill>
            <a:prstDash val="solid"/>
          </a:ln>
          <a:effectLst>
            <a:outerShdw blurRad="88900" dist="25400" dir="2700000" algn="bl" rotWithShape="0">
              <a:srgbClr val="000000">
                <a:alpha val="13000"/>
              </a:srgbClr>
            </a:outerShdw>
          </a:effectLst>
        </p:spPr>
      </p:sp>
      <p:sp>
        <p:nvSpPr>
          <p:cNvPr id="10" name="Text 8"/>
          <p:cNvSpPr/>
          <p:nvPr/>
        </p:nvSpPr>
        <p:spPr>
          <a:xfrm>
            <a:off x="274320" y="2267712"/>
            <a:ext cx="2743200" cy="420624"/>
          </a:xfrm>
          <a:prstGeom prst="rect">
            <a:avLst/>
          </a:prstGeom>
          <a:noFill/>
          <a:ln/>
        </p:spPr>
        <p:txBody>
          <a:bodyPr wrap="square" lIns="0" tIns="0" rIns="0" bIns="0" rtlCol="0" anchor="ctr"/>
          <a:lstStyle/>
          <a:p>
            <a:pPr marL="0" indent="0" algn="ctr">
              <a:buNone/>
            </a:pPr>
            <a:r>
              <a:rPr lang="en-US" sz="2600" dirty="0">
                <a:solidFill>
                  <a:srgbClr val="000000"/>
                </a:solidFill>
                <a:latin typeface="Arial" pitchFamily="34" charset="0"/>
                <a:ea typeface="Arial" pitchFamily="34" charset="-122"/>
                <a:cs typeface="Arial" pitchFamily="34" charset="-120"/>
              </a:rPr>
              <a:t>🎓</a:t>
            </a:r>
            <a:endParaRPr lang="en-US" sz="2600" dirty="0"/>
          </a:p>
        </p:txBody>
      </p:sp>
      <p:sp>
        <p:nvSpPr>
          <p:cNvPr id="11" name="Text 9"/>
          <p:cNvSpPr/>
          <p:nvPr/>
        </p:nvSpPr>
        <p:spPr>
          <a:xfrm>
            <a:off x="365760" y="2679192"/>
            <a:ext cx="2560320" cy="329184"/>
          </a:xfrm>
          <a:prstGeom prst="rect">
            <a:avLst/>
          </a:prstGeom>
          <a:noFill/>
          <a:ln/>
        </p:spPr>
        <p:txBody>
          <a:bodyPr wrap="square" lIns="0" tIns="0" rIns="0" bIns="0" rtlCol="0" anchor="ctr"/>
          <a:lstStyle/>
          <a:p>
            <a:pPr marL="0" indent="0">
              <a:buNone/>
            </a:pPr>
            <a:r>
              <a:rPr lang="en-US" sz="1300" b="1" dirty="0">
                <a:solidFill>
                  <a:srgbClr val="4C1D95"/>
                </a:solidFill>
                <a:latin typeface="Arial" pitchFamily="34" charset="0"/>
                <a:ea typeface="Arial" pitchFamily="34" charset="-122"/>
                <a:cs typeface="Arial" pitchFamily="34" charset="-120"/>
              </a:rPr>
              <a:t>Chef de programme</a:t>
            </a:r>
            <a:endParaRPr lang="en-US" sz="1300" dirty="0"/>
          </a:p>
        </p:txBody>
      </p:sp>
      <p:sp>
        <p:nvSpPr>
          <p:cNvPr id="12" name="Shape 10"/>
          <p:cNvSpPr/>
          <p:nvPr/>
        </p:nvSpPr>
        <p:spPr>
          <a:xfrm>
            <a:off x="365760" y="2999232"/>
            <a:ext cx="2560320" cy="18288"/>
          </a:xfrm>
          <a:prstGeom prst="rect">
            <a:avLst/>
          </a:prstGeom>
          <a:solidFill>
            <a:srgbClr val="4C1D95">
              <a:alpha val="40000"/>
            </a:srgbClr>
          </a:solidFill>
          <a:ln w="12700">
            <a:solidFill>
              <a:srgbClr val="4C1D95"/>
            </a:solidFill>
            <a:prstDash val="solid"/>
          </a:ln>
        </p:spPr>
      </p:sp>
      <p:sp>
        <p:nvSpPr>
          <p:cNvPr id="13" name="Text 11"/>
          <p:cNvSpPr/>
          <p:nvPr/>
        </p:nvSpPr>
        <p:spPr>
          <a:xfrm>
            <a:off x="365760" y="3054096"/>
            <a:ext cx="2560320" cy="1097280"/>
          </a:xfrm>
          <a:prstGeom prst="rect">
            <a:avLst/>
          </a:prstGeom>
          <a:noFill/>
          <a:ln/>
        </p:spPr>
        <p:txBody>
          <a:bodyPr wrap="square" lIns="0" tIns="0" rIns="0" bIns="0" rtlCol="0" anchor="ctr"/>
          <a:lstStyle/>
          <a:p>
            <a:pPr marL="0" indent="0">
              <a:buNone/>
            </a:pPr>
            <a:r>
              <a:rPr lang="en-US" sz="1050" dirty="0">
                <a:solidFill>
                  <a:srgbClr val="1E293B"/>
                </a:solidFill>
                <a:latin typeface="Arial" pitchFamily="34" charset="0"/>
                <a:ea typeface="Arial" pitchFamily="34" charset="-122"/>
                <a:cs typeface="Arial" pitchFamily="34" charset="-120"/>
              </a:rPr>
              <a:t>Administre l'EDT de son département</a:t>
            </a:r>
            <a:endParaRPr lang="en-US" sz="1050" dirty="0"/>
          </a:p>
          <a:p>
            <a:pPr marL="0" indent="0">
              <a:buNone/>
            </a:pPr>
            <a:r>
              <a:rPr lang="en-US" sz="1050" dirty="0">
                <a:solidFill>
                  <a:srgbClr val="1E293B"/>
                </a:solidFill>
                <a:latin typeface="Arial" pitchFamily="34" charset="0"/>
                <a:ea typeface="Arial" pitchFamily="34" charset="-122"/>
                <a:cs typeface="Arial" pitchFamily="34" charset="-120"/>
              </a:rPr>
              <a:t>Publie annonces</a:t>
            </a:r>
            <a:endParaRPr lang="en-US" sz="1050" dirty="0"/>
          </a:p>
          <a:p>
            <a:pPr marL="0" indent="0">
              <a:buNone/>
            </a:pPr>
            <a:r>
              <a:rPr lang="en-US" sz="1050" dirty="0">
                <a:solidFill>
                  <a:srgbClr val="1E293B"/>
                </a:solidFill>
                <a:latin typeface="Arial" pitchFamily="34" charset="0"/>
                <a:ea typeface="Arial" pitchFamily="34" charset="-122"/>
                <a:cs typeface="Arial" pitchFamily="34" charset="-120"/>
              </a:rPr>
              <a:t>Fait progresser les étudiants (L1→L2)</a:t>
            </a:r>
            <a:endParaRPr lang="en-US" sz="1050" dirty="0"/>
          </a:p>
        </p:txBody>
      </p:sp>
      <p:sp>
        <p:nvSpPr>
          <p:cNvPr id="14" name="Shape 12"/>
          <p:cNvSpPr/>
          <p:nvPr/>
        </p:nvSpPr>
        <p:spPr>
          <a:xfrm>
            <a:off x="3200400" y="2212848"/>
            <a:ext cx="2743200" cy="2029968"/>
          </a:xfrm>
          <a:prstGeom prst="roundRect">
            <a:avLst>
              <a:gd name="adj" fmla="val 6306"/>
            </a:avLst>
          </a:prstGeom>
          <a:solidFill>
            <a:srgbClr val="D1FAE5"/>
          </a:solidFill>
          <a:ln w="19050">
            <a:solidFill>
              <a:srgbClr val="10B981"/>
            </a:solidFill>
            <a:prstDash val="solid"/>
          </a:ln>
          <a:effectLst>
            <a:outerShdw blurRad="88900" dist="25400" dir="2700000" algn="bl" rotWithShape="0">
              <a:srgbClr val="000000">
                <a:alpha val="13000"/>
              </a:srgbClr>
            </a:outerShdw>
          </a:effectLst>
        </p:spPr>
      </p:sp>
      <p:sp>
        <p:nvSpPr>
          <p:cNvPr id="15" name="Text 13"/>
          <p:cNvSpPr/>
          <p:nvPr/>
        </p:nvSpPr>
        <p:spPr>
          <a:xfrm>
            <a:off x="3200400" y="2267712"/>
            <a:ext cx="2743200" cy="420624"/>
          </a:xfrm>
          <a:prstGeom prst="rect">
            <a:avLst/>
          </a:prstGeom>
          <a:noFill/>
          <a:ln/>
        </p:spPr>
        <p:txBody>
          <a:bodyPr wrap="square" lIns="0" tIns="0" rIns="0" bIns="0" rtlCol="0" anchor="ctr"/>
          <a:lstStyle/>
          <a:p>
            <a:pPr marL="0" indent="0" algn="ctr">
              <a:buNone/>
            </a:pPr>
            <a:r>
              <a:rPr lang="en-US" sz="2600" dirty="0">
                <a:solidFill>
                  <a:srgbClr val="000000"/>
                </a:solidFill>
                <a:latin typeface="Arial" pitchFamily="34" charset="0"/>
                <a:ea typeface="Arial" pitchFamily="34" charset="-122"/>
                <a:cs typeface="Arial" pitchFamily="34" charset="-120"/>
              </a:rPr>
              <a:t>👨‍🏫</a:t>
            </a:r>
            <a:endParaRPr lang="en-US" sz="2600" dirty="0"/>
          </a:p>
        </p:txBody>
      </p:sp>
      <p:sp>
        <p:nvSpPr>
          <p:cNvPr id="16" name="Text 14"/>
          <p:cNvSpPr/>
          <p:nvPr/>
        </p:nvSpPr>
        <p:spPr>
          <a:xfrm>
            <a:off x="3291840" y="2679192"/>
            <a:ext cx="2560320" cy="329184"/>
          </a:xfrm>
          <a:prstGeom prst="rect">
            <a:avLst/>
          </a:prstGeom>
          <a:noFill/>
          <a:ln/>
        </p:spPr>
        <p:txBody>
          <a:bodyPr wrap="square" lIns="0" tIns="0" rIns="0" bIns="0" rtlCol="0" anchor="ctr"/>
          <a:lstStyle/>
          <a:p>
            <a:pPr marL="0" indent="0">
              <a:buNone/>
            </a:pPr>
            <a:r>
              <a:rPr lang="en-US" sz="1300" b="1" dirty="0">
                <a:solidFill>
                  <a:srgbClr val="10B981"/>
                </a:solidFill>
                <a:latin typeface="Arial" pitchFamily="34" charset="0"/>
                <a:ea typeface="Arial" pitchFamily="34" charset="-122"/>
                <a:cs typeface="Arial" pitchFamily="34" charset="-120"/>
              </a:rPr>
              <a:t>Professeur</a:t>
            </a:r>
            <a:endParaRPr lang="en-US" sz="1300" dirty="0"/>
          </a:p>
        </p:txBody>
      </p:sp>
      <p:sp>
        <p:nvSpPr>
          <p:cNvPr id="17" name="Shape 15"/>
          <p:cNvSpPr/>
          <p:nvPr/>
        </p:nvSpPr>
        <p:spPr>
          <a:xfrm>
            <a:off x="3291840" y="2999232"/>
            <a:ext cx="2560320" cy="18288"/>
          </a:xfrm>
          <a:prstGeom prst="rect">
            <a:avLst/>
          </a:prstGeom>
          <a:solidFill>
            <a:srgbClr val="10B981">
              <a:alpha val="40000"/>
            </a:srgbClr>
          </a:solidFill>
          <a:ln w="12700">
            <a:solidFill>
              <a:srgbClr val="10B981"/>
            </a:solidFill>
            <a:prstDash val="solid"/>
          </a:ln>
        </p:spPr>
      </p:sp>
      <p:sp>
        <p:nvSpPr>
          <p:cNvPr id="18" name="Text 16"/>
          <p:cNvSpPr/>
          <p:nvPr/>
        </p:nvSpPr>
        <p:spPr>
          <a:xfrm>
            <a:off x="3291840" y="3054096"/>
            <a:ext cx="2560320" cy="1097280"/>
          </a:xfrm>
          <a:prstGeom prst="rect">
            <a:avLst/>
          </a:prstGeom>
          <a:noFill/>
          <a:ln/>
        </p:spPr>
        <p:txBody>
          <a:bodyPr wrap="square" lIns="0" tIns="0" rIns="0" bIns="0" rtlCol="0" anchor="ctr"/>
          <a:lstStyle/>
          <a:p>
            <a:pPr marL="0" indent="0">
              <a:buNone/>
            </a:pPr>
            <a:r>
              <a:rPr lang="en-US" sz="1050" dirty="0">
                <a:solidFill>
                  <a:srgbClr val="1E293B"/>
                </a:solidFill>
                <a:latin typeface="Arial" pitchFamily="34" charset="0"/>
                <a:ea typeface="Arial" pitchFamily="34" charset="-122"/>
                <a:cs typeface="Arial" pitchFamily="34" charset="-120"/>
              </a:rPr>
              <a:t>Consulte ses cours assignés</a:t>
            </a:r>
            <a:endParaRPr lang="en-US" sz="1050" dirty="0"/>
          </a:p>
          <a:p>
            <a:pPr marL="0" indent="0">
              <a:buNone/>
            </a:pPr>
            <a:r>
              <a:rPr lang="en-US" sz="1050" dirty="0">
                <a:solidFill>
                  <a:srgbClr val="1E293B"/>
                </a:solidFill>
                <a:latin typeface="Arial" pitchFamily="34" charset="0"/>
                <a:ea typeface="Arial" pitchFamily="34" charset="-122"/>
                <a:cs typeface="Arial" pitchFamily="34" charset="-120"/>
              </a:rPr>
              <a:t>Signale les modifications d'horaires</a:t>
            </a:r>
            <a:endParaRPr lang="en-US" sz="1050" dirty="0"/>
          </a:p>
          <a:p>
            <a:pPr marL="0" indent="0">
              <a:buNone/>
            </a:pPr>
            <a:r>
              <a:rPr lang="en-US" sz="1050" dirty="0">
                <a:solidFill>
                  <a:srgbClr val="1E293B"/>
                </a:solidFill>
                <a:latin typeface="Arial" pitchFamily="34" charset="0"/>
                <a:ea typeface="Arial" pitchFamily="34" charset="-122"/>
                <a:cs typeface="Arial" pitchFamily="34" charset="-120"/>
              </a:rPr>
              <a:t>Reçoit notifications automatiques</a:t>
            </a:r>
            <a:endParaRPr lang="en-US" sz="1050" dirty="0"/>
          </a:p>
        </p:txBody>
      </p:sp>
      <p:sp>
        <p:nvSpPr>
          <p:cNvPr id="19" name="Shape 17"/>
          <p:cNvSpPr/>
          <p:nvPr/>
        </p:nvSpPr>
        <p:spPr>
          <a:xfrm>
            <a:off x="6126480" y="2212848"/>
            <a:ext cx="2743200" cy="2029968"/>
          </a:xfrm>
          <a:prstGeom prst="roundRect">
            <a:avLst>
              <a:gd name="adj" fmla="val 6306"/>
            </a:avLst>
          </a:prstGeom>
          <a:solidFill>
            <a:srgbClr val="DBEAFE"/>
          </a:solidFill>
          <a:ln w="19050">
            <a:solidFill>
              <a:srgbClr val="1B4FD8"/>
            </a:solidFill>
            <a:prstDash val="solid"/>
          </a:ln>
          <a:effectLst>
            <a:outerShdw blurRad="88900" dist="25400" dir="2700000" algn="bl" rotWithShape="0">
              <a:srgbClr val="000000">
                <a:alpha val="13000"/>
              </a:srgbClr>
            </a:outerShdw>
          </a:effectLst>
        </p:spPr>
      </p:sp>
      <p:sp>
        <p:nvSpPr>
          <p:cNvPr id="20" name="Text 18"/>
          <p:cNvSpPr/>
          <p:nvPr/>
        </p:nvSpPr>
        <p:spPr>
          <a:xfrm>
            <a:off x="6126480" y="2267712"/>
            <a:ext cx="2743200" cy="420624"/>
          </a:xfrm>
          <a:prstGeom prst="rect">
            <a:avLst/>
          </a:prstGeom>
          <a:noFill/>
          <a:ln/>
        </p:spPr>
        <p:txBody>
          <a:bodyPr wrap="square" lIns="0" tIns="0" rIns="0" bIns="0" rtlCol="0" anchor="ctr"/>
          <a:lstStyle/>
          <a:p>
            <a:pPr marL="0" indent="0" algn="ctr">
              <a:buNone/>
            </a:pPr>
            <a:r>
              <a:rPr lang="en-US" sz="2600" dirty="0">
                <a:solidFill>
                  <a:srgbClr val="000000"/>
                </a:solidFill>
                <a:latin typeface="Arial" pitchFamily="34" charset="0"/>
                <a:ea typeface="Arial" pitchFamily="34" charset="-122"/>
                <a:cs typeface="Arial" pitchFamily="34" charset="-120"/>
              </a:rPr>
              <a:t>👨‍🎓</a:t>
            </a:r>
            <a:endParaRPr lang="en-US" sz="2600" dirty="0"/>
          </a:p>
        </p:txBody>
      </p:sp>
      <p:sp>
        <p:nvSpPr>
          <p:cNvPr id="21" name="Text 19"/>
          <p:cNvSpPr/>
          <p:nvPr/>
        </p:nvSpPr>
        <p:spPr>
          <a:xfrm>
            <a:off x="6217920" y="2679192"/>
            <a:ext cx="2560320" cy="329184"/>
          </a:xfrm>
          <a:prstGeom prst="rect">
            <a:avLst/>
          </a:prstGeom>
          <a:noFill/>
          <a:ln/>
        </p:spPr>
        <p:txBody>
          <a:bodyPr wrap="square" lIns="0" tIns="0" rIns="0" bIns="0" rtlCol="0" anchor="ctr"/>
          <a:lstStyle/>
          <a:p>
            <a:pPr marL="0" indent="0">
              <a:buNone/>
            </a:pPr>
            <a:r>
              <a:rPr lang="en-US" sz="1300" b="1" dirty="0">
                <a:solidFill>
                  <a:srgbClr val="1B4FD8"/>
                </a:solidFill>
                <a:latin typeface="Arial" pitchFamily="34" charset="0"/>
                <a:ea typeface="Arial" pitchFamily="34" charset="-122"/>
                <a:cs typeface="Arial" pitchFamily="34" charset="-120"/>
              </a:rPr>
              <a:t>Étudiant</a:t>
            </a:r>
            <a:endParaRPr lang="en-US" sz="1300" dirty="0"/>
          </a:p>
        </p:txBody>
      </p:sp>
      <p:sp>
        <p:nvSpPr>
          <p:cNvPr id="22" name="Shape 20"/>
          <p:cNvSpPr/>
          <p:nvPr/>
        </p:nvSpPr>
        <p:spPr>
          <a:xfrm>
            <a:off x="6217920" y="2999232"/>
            <a:ext cx="2560320" cy="18288"/>
          </a:xfrm>
          <a:prstGeom prst="rect">
            <a:avLst/>
          </a:prstGeom>
          <a:solidFill>
            <a:srgbClr val="1B4FD8">
              <a:alpha val="40000"/>
            </a:srgbClr>
          </a:solidFill>
          <a:ln w="12700">
            <a:solidFill>
              <a:srgbClr val="1B4FD8"/>
            </a:solidFill>
            <a:prstDash val="solid"/>
          </a:ln>
        </p:spPr>
      </p:sp>
      <p:sp>
        <p:nvSpPr>
          <p:cNvPr id="23" name="Text 21"/>
          <p:cNvSpPr/>
          <p:nvPr/>
        </p:nvSpPr>
        <p:spPr>
          <a:xfrm>
            <a:off x="6217920" y="3054096"/>
            <a:ext cx="2560320" cy="1097280"/>
          </a:xfrm>
          <a:prstGeom prst="rect">
            <a:avLst/>
          </a:prstGeom>
          <a:noFill/>
          <a:ln/>
        </p:spPr>
        <p:txBody>
          <a:bodyPr wrap="square" lIns="0" tIns="0" rIns="0" bIns="0" rtlCol="0" anchor="ctr"/>
          <a:lstStyle/>
          <a:p>
            <a:pPr marL="0" indent="0">
              <a:buNone/>
            </a:pPr>
            <a:r>
              <a:rPr lang="en-US" sz="1050" dirty="0">
                <a:solidFill>
                  <a:srgbClr val="1E293B"/>
                </a:solidFill>
                <a:latin typeface="Arial" pitchFamily="34" charset="0"/>
                <a:ea typeface="Arial" pitchFamily="34" charset="-122"/>
                <a:cs typeface="Arial" pitchFamily="34" charset="-120"/>
              </a:rPr>
              <a:t>Consulte son emploi du temps</a:t>
            </a:r>
            <a:endParaRPr lang="en-US" sz="1050" dirty="0"/>
          </a:p>
          <a:p>
            <a:pPr marL="0" indent="0">
              <a:buNone/>
            </a:pPr>
            <a:r>
              <a:rPr lang="en-US" sz="1050" dirty="0">
                <a:solidFill>
                  <a:srgbClr val="1E293B"/>
                </a:solidFill>
                <a:latin typeface="Arial" pitchFamily="34" charset="0"/>
                <a:ea typeface="Arial" pitchFamily="34" charset="-122"/>
                <a:cs typeface="Arial" pitchFamily="34" charset="-120"/>
              </a:rPr>
              <a:t>Reçoit alertes de modification</a:t>
            </a:r>
            <a:endParaRPr lang="en-US" sz="1050" dirty="0"/>
          </a:p>
          <a:p>
            <a:pPr marL="0" indent="0">
              <a:buNone/>
            </a:pPr>
            <a:r>
              <a:rPr lang="en-US" sz="1050" dirty="0">
                <a:solidFill>
                  <a:srgbClr val="1E293B"/>
                </a:solidFill>
                <a:latin typeface="Arial" pitchFamily="34" charset="0"/>
                <a:ea typeface="Arial" pitchFamily="34" charset="-122"/>
                <a:cs typeface="Arial" pitchFamily="34" charset="-120"/>
              </a:rPr>
              <a:t>Notifications en temps réel</a:t>
            </a:r>
            <a:endParaRPr lang="en-US" sz="1050" dirty="0"/>
          </a:p>
        </p:txBody>
      </p:sp>
      <p:sp>
        <p:nvSpPr>
          <p:cNvPr id="24" name="Text 22"/>
          <p:cNvSpPr/>
          <p:nvPr/>
        </p:nvSpPr>
        <p:spPr>
          <a:xfrm>
            <a:off x="274320" y="4370832"/>
            <a:ext cx="8595360" cy="292608"/>
          </a:xfrm>
          <a:prstGeom prst="rect">
            <a:avLst/>
          </a:prstGeom>
          <a:noFill/>
          <a:ln/>
        </p:spPr>
        <p:txBody>
          <a:bodyPr wrap="square" lIns="0" tIns="0" rIns="0" bIns="0" rtlCol="0" anchor="ctr"/>
          <a:lstStyle/>
          <a:p>
            <a:pPr marL="0" indent="0">
              <a:buNone/>
            </a:pPr>
            <a:r>
              <a:rPr lang="en-US" sz="1300" b="1" dirty="0">
                <a:solidFill>
                  <a:srgbClr val="0D1B2A"/>
                </a:solidFill>
                <a:latin typeface="Arial" pitchFamily="34" charset="0"/>
                <a:ea typeface="Arial" pitchFamily="34" charset="-122"/>
                <a:cs typeface="Arial" pitchFamily="34" charset="-120"/>
              </a:rPr>
              <a:t>🛠️  Stack technologique</a:t>
            </a:r>
            <a:endParaRPr lang="en-US" sz="1300" dirty="0"/>
          </a:p>
        </p:txBody>
      </p:sp>
      <p:sp>
        <p:nvSpPr>
          <p:cNvPr id="25" name="Shape 23"/>
          <p:cNvSpPr/>
          <p:nvPr/>
        </p:nvSpPr>
        <p:spPr>
          <a:xfrm>
            <a:off x="274320" y="4700016"/>
            <a:ext cx="1024128" cy="320040"/>
          </a:xfrm>
          <a:prstGeom prst="roundRect">
            <a:avLst>
              <a:gd name="adj" fmla="val 17143"/>
            </a:avLst>
          </a:prstGeom>
          <a:solidFill>
            <a:srgbClr val="F8FAFF"/>
          </a:solidFill>
          <a:ln w="19050">
            <a:solidFill>
              <a:srgbClr val="1B4FD8"/>
            </a:solidFill>
            <a:prstDash val="solid"/>
          </a:ln>
        </p:spPr>
      </p:sp>
      <p:sp>
        <p:nvSpPr>
          <p:cNvPr id="26" name="Text 24"/>
          <p:cNvSpPr/>
          <p:nvPr/>
        </p:nvSpPr>
        <p:spPr>
          <a:xfrm>
            <a:off x="274320" y="4700016"/>
            <a:ext cx="1024128" cy="320040"/>
          </a:xfrm>
          <a:prstGeom prst="rect">
            <a:avLst/>
          </a:prstGeom>
          <a:noFill/>
          <a:ln/>
        </p:spPr>
        <p:txBody>
          <a:bodyPr wrap="square" lIns="0" tIns="0" rIns="0" bIns="0" rtlCol="0" anchor="ctr"/>
          <a:lstStyle/>
          <a:p>
            <a:pPr marL="0" indent="0" algn="ctr">
              <a:buNone/>
            </a:pPr>
            <a:r>
              <a:rPr lang="en-US" sz="850" b="1" dirty="0">
                <a:solidFill>
                  <a:srgbClr val="1B4FD8"/>
                </a:solidFill>
                <a:latin typeface="Arial" pitchFamily="34" charset="0"/>
                <a:ea typeface="Arial" pitchFamily="34" charset="-122"/>
                <a:cs typeface="Arial" pitchFamily="34" charset="-120"/>
              </a:rPr>
              <a:t>Laravel 10</a:t>
            </a:r>
            <a:endParaRPr lang="en-US" sz="850" dirty="0"/>
          </a:p>
        </p:txBody>
      </p:sp>
      <p:sp>
        <p:nvSpPr>
          <p:cNvPr id="27" name="Shape 25"/>
          <p:cNvSpPr/>
          <p:nvPr/>
        </p:nvSpPr>
        <p:spPr>
          <a:xfrm>
            <a:off x="1371600" y="4700016"/>
            <a:ext cx="1024128" cy="320040"/>
          </a:xfrm>
          <a:prstGeom prst="roundRect">
            <a:avLst>
              <a:gd name="adj" fmla="val 17143"/>
            </a:avLst>
          </a:prstGeom>
          <a:solidFill>
            <a:srgbClr val="F8FAFF"/>
          </a:solidFill>
          <a:ln w="19050">
            <a:solidFill>
              <a:srgbClr val="10B981"/>
            </a:solidFill>
            <a:prstDash val="solid"/>
          </a:ln>
        </p:spPr>
      </p:sp>
      <p:sp>
        <p:nvSpPr>
          <p:cNvPr id="28" name="Text 26"/>
          <p:cNvSpPr/>
          <p:nvPr/>
        </p:nvSpPr>
        <p:spPr>
          <a:xfrm>
            <a:off x="1371600" y="4700016"/>
            <a:ext cx="1024128" cy="320040"/>
          </a:xfrm>
          <a:prstGeom prst="rect">
            <a:avLst/>
          </a:prstGeom>
          <a:noFill/>
          <a:ln/>
        </p:spPr>
        <p:txBody>
          <a:bodyPr wrap="square" lIns="0" tIns="0" rIns="0" bIns="0" rtlCol="0" anchor="ctr"/>
          <a:lstStyle/>
          <a:p>
            <a:pPr marL="0" indent="0" algn="ctr">
              <a:buNone/>
            </a:pPr>
            <a:r>
              <a:rPr lang="en-US" sz="850" b="1" dirty="0">
                <a:solidFill>
                  <a:srgbClr val="10B981"/>
                </a:solidFill>
                <a:latin typeface="Arial" pitchFamily="34" charset="0"/>
                <a:ea typeface="Arial" pitchFamily="34" charset="-122"/>
                <a:cs typeface="Arial" pitchFamily="34" charset="-120"/>
              </a:rPr>
              <a:t>MySQL</a:t>
            </a:r>
            <a:endParaRPr lang="en-US" sz="850" dirty="0"/>
          </a:p>
        </p:txBody>
      </p:sp>
      <p:sp>
        <p:nvSpPr>
          <p:cNvPr id="29" name="Shape 27"/>
          <p:cNvSpPr/>
          <p:nvPr/>
        </p:nvSpPr>
        <p:spPr>
          <a:xfrm>
            <a:off x="2468880" y="4700016"/>
            <a:ext cx="1024128" cy="320040"/>
          </a:xfrm>
          <a:prstGeom prst="roundRect">
            <a:avLst>
              <a:gd name="adj" fmla="val 17143"/>
            </a:avLst>
          </a:prstGeom>
          <a:solidFill>
            <a:srgbClr val="F8FAFF"/>
          </a:solidFill>
          <a:ln w="19050">
            <a:solidFill>
              <a:srgbClr val="4C1D95"/>
            </a:solidFill>
            <a:prstDash val="solid"/>
          </a:ln>
        </p:spPr>
      </p:sp>
      <p:sp>
        <p:nvSpPr>
          <p:cNvPr id="30" name="Text 28"/>
          <p:cNvSpPr/>
          <p:nvPr/>
        </p:nvSpPr>
        <p:spPr>
          <a:xfrm>
            <a:off x="2468880" y="4700016"/>
            <a:ext cx="1024128" cy="320040"/>
          </a:xfrm>
          <a:prstGeom prst="rect">
            <a:avLst/>
          </a:prstGeom>
          <a:noFill/>
          <a:ln/>
        </p:spPr>
        <p:txBody>
          <a:bodyPr wrap="square" lIns="0" tIns="0" rIns="0" bIns="0" rtlCol="0" anchor="ctr"/>
          <a:lstStyle/>
          <a:p>
            <a:pPr marL="0" indent="0" algn="ctr">
              <a:buNone/>
            </a:pPr>
            <a:r>
              <a:rPr lang="en-US" sz="850" b="1" dirty="0">
                <a:solidFill>
                  <a:srgbClr val="4C1D95"/>
                </a:solidFill>
                <a:latin typeface="Arial" pitchFamily="34" charset="0"/>
                <a:ea typeface="Arial" pitchFamily="34" charset="-122"/>
                <a:cs typeface="Arial" pitchFamily="34" charset="-120"/>
              </a:rPr>
              <a:t>API Groq</a:t>
            </a:r>
            <a:endParaRPr lang="en-US" sz="850" dirty="0"/>
          </a:p>
        </p:txBody>
      </p:sp>
      <p:sp>
        <p:nvSpPr>
          <p:cNvPr id="31" name="Shape 29"/>
          <p:cNvSpPr/>
          <p:nvPr/>
        </p:nvSpPr>
        <p:spPr>
          <a:xfrm>
            <a:off x="3566160" y="4700016"/>
            <a:ext cx="1024128" cy="320040"/>
          </a:xfrm>
          <a:prstGeom prst="roundRect">
            <a:avLst>
              <a:gd name="adj" fmla="val 17143"/>
            </a:avLst>
          </a:prstGeom>
          <a:solidFill>
            <a:srgbClr val="F8FAFF"/>
          </a:solidFill>
          <a:ln w="19050">
            <a:solidFill>
              <a:srgbClr val="EF4444"/>
            </a:solidFill>
            <a:prstDash val="solid"/>
          </a:ln>
        </p:spPr>
      </p:sp>
      <p:sp>
        <p:nvSpPr>
          <p:cNvPr id="32" name="Text 30"/>
          <p:cNvSpPr/>
          <p:nvPr/>
        </p:nvSpPr>
        <p:spPr>
          <a:xfrm>
            <a:off x="3566160" y="4700016"/>
            <a:ext cx="1024128" cy="320040"/>
          </a:xfrm>
          <a:prstGeom prst="rect">
            <a:avLst/>
          </a:prstGeom>
          <a:noFill/>
          <a:ln/>
        </p:spPr>
        <p:txBody>
          <a:bodyPr wrap="square" lIns="0" tIns="0" rIns="0" bIns="0" rtlCol="0" anchor="ctr"/>
          <a:lstStyle/>
          <a:p>
            <a:pPr marL="0" indent="0" algn="ctr">
              <a:buNone/>
            </a:pPr>
            <a:r>
              <a:rPr lang="en-US" sz="850" b="1" dirty="0">
                <a:solidFill>
                  <a:srgbClr val="EF4444"/>
                </a:solidFill>
                <a:latin typeface="Arial" pitchFamily="34" charset="0"/>
                <a:ea typeface="Arial" pitchFamily="34" charset="-122"/>
                <a:cs typeface="Arial" pitchFamily="34" charset="-120"/>
              </a:rPr>
              <a:t>LLaMA 3.1</a:t>
            </a:r>
            <a:endParaRPr lang="en-US" sz="850" dirty="0"/>
          </a:p>
        </p:txBody>
      </p:sp>
      <p:sp>
        <p:nvSpPr>
          <p:cNvPr id="33" name="Shape 31"/>
          <p:cNvSpPr/>
          <p:nvPr/>
        </p:nvSpPr>
        <p:spPr>
          <a:xfrm>
            <a:off x="4663440" y="4700016"/>
            <a:ext cx="1024128" cy="320040"/>
          </a:xfrm>
          <a:prstGeom prst="roundRect">
            <a:avLst>
              <a:gd name="adj" fmla="val 17143"/>
            </a:avLst>
          </a:prstGeom>
          <a:solidFill>
            <a:srgbClr val="F8FAFF"/>
          </a:solidFill>
          <a:ln w="19050">
            <a:solidFill>
              <a:srgbClr val="0EA5E9"/>
            </a:solidFill>
            <a:prstDash val="solid"/>
          </a:ln>
        </p:spPr>
      </p:sp>
      <p:sp>
        <p:nvSpPr>
          <p:cNvPr id="34" name="Text 32"/>
          <p:cNvSpPr/>
          <p:nvPr/>
        </p:nvSpPr>
        <p:spPr>
          <a:xfrm>
            <a:off x="4663440" y="4700016"/>
            <a:ext cx="1024128" cy="320040"/>
          </a:xfrm>
          <a:prstGeom prst="rect">
            <a:avLst/>
          </a:prstGeom>
          <a:noFill/>
          <a:ln/>
        </p:spPr>
        <p:txBody>
          <a:bodyPr wrap="square" lIns="0" tIns="0" rIns="0" bIns="0" rtlCol="0" anchor="ctr"/>
          <a:lstStyle/>
          <a:p>
            <a:pPr marL="0" indent="0" algn="ctr">
              <a:buNone/>
            </a:pPr>
            <a:r>
              <a:rPr lang="en-US" sz="850" b="1" dirty="0">
                <a:solidFill>
                  <a:srgbClr val="0EA5E9"/>
                </a:solidFill>
                <a:latin typeface="Arial" pitchFamily="34" charset="0"/>
                <a:ea typeface="Arial" pitchFamily="34" charset="-122"/>
                <a:cs typeface="Arial" pitchFamily="34" charset="-120"/>
              </a:rPr>
              <a:t>Tavily</a:t>
            </a:r>
            <a:endParaRPr lang="en-US" sz="850" dirty="0"/>
          </a:p>
        </p:txBody>
      </p:sp>
      <p:sp>
        <p:nvSpPr>
          <p:cNvPr id="35" name="Shape 33"/>
          <p:cNvSpPr/>
          <p:nvPr/>
        </p:nvSpPr>
        <p:spPr>
          <a:xfrm>
            <a:off x="5760720" y="4700016"/>
            <a:ext cx="1024128" cy="320040"/>
          </a:xfrm>
          <a:prstGeom prst="roundRect">
            <a:avLst>
              <a:gd name="adj" fmla="val 17143"/>
            </a:avLst>
          </a:prstGeom>
          <a:solidFill>
            <a:srgbClr val="F8FAFF"/>
          </a:solidFill>
          <a:ln w="19050">
            <a:solidFill>
              <a:srgbClr val="F59E0B"/>
            </a:solidFill>
            <a:prstDash val="solid"/>
          </a:ln>
        </p:spPr>
      </p:sp>
      <p:sp>
        <p:nvSpPr>
          <p:cNvPr id="36" name="Text 34"/>
          <p:cNvSpPr/>
          <p:nvPr/>
        </p:nvSpPr>
        <p:spPr>
          <a:xfrm>
            <a:off x="5760720" y="4700016"/>
            <a:ext cx="1024128" cy="320040"/>
          </a:xfrm>
          <a:prstGeom prst="rect">
            <a:avLst/>
          </a:prstGeom>
          <a:noFill/>
          <a:ln/>
        </p:spPr>
        <p:txBody>
          <a:bodyPr wrap="square" lIns="0" tIns="0" rIns="0" bIns="0" rtlCol="0" anchor="ctr"/>
          <a:lstStyle/>
          <a:p>
            <a:pPr marL="0" indent="0" algn="ctr">
              <a:buNone/>
            </a:pPr>
            <a:r>
              <a:rPr lang="en-US" sz="850" b="1" dirty="0">
                <a:solidFill>
                  <a:srgbClr val="F59E0B"/>
                </a:solidFill>
                <a:latin typeface="Arial" pitchFamily="34" charset="0"/>
                <a:ea typeface="Arial" pitchFamily="34" charset="-122"/>
                <a:cs typeface="Arial" pitchFamily="34" charset="-120"/>
              </a:rPr>
              <a:t>JavaScript ES6</a:t>
            </a:r>
            <a:endParaRPr lang="en-US" sz="850" dirty="0"/>
          </a:p>
        </p:txBody>
      </p:sp>
      <p:sp>
        <p:nvSpPr>
          <p:cNvPr id="37" name="Shape 35"/>
          <p:cNvSpPr/>
          <p:nvPr/>
        </p:nvSpPr>
        <p:spPr>
          <a:xfrm>
            <a:off x="6858000" y="4700016"/>
            <a:ext cx="1024128" cy="320040"/>
          </a:xfrm>
          <a:prstGeom prst="roundRect">
            <a:avLst>
              <a:gd name="adj" fmla="val 17143"/>
            </a:avLst>
          </a:prstGeom>
          <a:solidFill>
            <a:srgbClr val="F8FAFF"/>
          </a:solidFill>
          <a:ln w="19050">
            <a:solidFill>
              <a:srgbClr val="475569"/>
            </a:solidFill>
            <a:prstDash val="solid"/>
          </a:ln>
        </p:spPr>
      </p:sp>
      <p:sp>
        <p:nvSpPr>
          <p:cNvPr id="38" name="Text 36"/>
          <p:cNvSpPr/>
          <p:nvPr/>
        </p:nvSpPr>
        <p:spPr>
          <a:xfrm>
            <a:off x="6858000" y="4700016"/>
            <a:ext cx="1024128" cy="320040"/>
          </a:xfrm>
          <a:prstGeom prst="rect">
            <a:avLst/>
          </a:prstGeom>
          <a:noFill/>
          <a:ln/>
        </p:spPr>
        <p:txBody>
          <a:bodyPr wrap="square" lIns="0" tIns="0" rIns="0" bIns="0" rtlCol="0" anchor="ctr"/>
          <a:lstStyle/>
          <a:p>
            <a:pPr marL="0" indent="0" algn="ctr">
              <a:buNone/>
            </a:pPr>
            <a:r>
              <a:rPr lang="en-US" sz="850" b="1" dirty="0">
                <a:solidFill>
                  <a:srgbClr val="475569"/>
                </a:solidFill>
                <a:latin typeface="Arial" pitchFamily="34" charset="0"/>
                <a:ea typeface="Arial" pitchFamily="34" charset="-122"/>
                <a:cs typeface="Arial" pitchFamily="34" charset="-120"/>
              </a:rPr>
              <a:t>Blade Templates</a:t>
            </a:r>
            <a:endParaRPr lang="en-US" sz="850" dirty="0"/>
          </a:p>
        </p:txBody>
      </p:sp>
      <p:sp>
        <p:nvSpPr>
          <p:cNvPr id="39" name="Shape 37"/>
          <p:cNvSpPr/>
          <p:nvPr/>
        </p:nvSpPr>
        <p:spPr>
          <a:xfrm>
            <a:off x="7955280" y="4700016"/>
            <a:ext cx="1024128" cy="320040"/>
          </a:xfrm>
          <a:prstGeom prst="roundRect">
            <a:avLst>
              <a:gd name="adj" fmla="val 17143"/>
            </a:avLst>
          </a:prstGeom>
          <a:solidFill>
            <a:srgbClr val="F8FAFF"/>
          </a:solidFill>
          <a:ln w="19050">
            <a:solidFill>
              <a:srgbClr val="EA580C"/>
            </a:solidFill>
            <a:prstDash val="solid"/>
          </a:ln>
        </p:spPr>
      </p:sp>
      <p:sp>
        <p:nvSpPr>
          <p:cNvPr id="40" name="Text 38"/>
          <p:cNvSpPr/>
          <p:nvPr/>
        </p:nvSpPr>
        <p:spPr>
          <a:xfrm>
            <a:off x="7955280" y="4700016"/>
            <a:ext cx="1024128" cy="320040"/>
          </a:xfrm>
          <a:prstGeom prst="rect">
            <a:avLst/>
          </a:prstGeom>
          <a:noFill/>
          <a:ln/>
        </p:spPr>
        <p:txBody>
          <a:bodyPr wrap="square" lIns="0" tIns="0" rIns="0" bIns="0" rtlCol="0" anchor="ctr"/>
          <a:lstStyle/>
          <a:p>
            <a:pPr marL="0" indent="0" algn="ctr">
              <a:buNone/>
            </a:pPr>
            <a:r>
              <a:rPr lang="en-US" sz="850" b="1" dirty="0">
                <a:solidFill>
                  <a:srgbClr val="EA580C"/>
                </a:solidFill>
                <a:latin typeface="Arial" pitchFamily="34" charset="0"/>
                <a:ea typeface="Arial" pitchFamily="34" charset="-122"/>
                <a:cs typeface="Arial" pitchFamily="34" charset="-120"/>
              </a:rPr>
              <a:t>Bootstrap/CSS</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0D1B2A"/>
          </a:solidFill>
          <a:ln w="12700">
            <a:solidFill>
              <a:srgbClr val="0D1B2A"/>
            </a:solidFill>
            <a:prstDash val="solid"/>
          </a:ln>
        </p:spPr>
      </p:sp>
      <p:sp>
        <p:nvSpPr>
          <p:cNvPr id="3" name="Text 1"/>
          <p:cNvSpPr/>
          <p:nvPr/>
        </p:nvSpPr>
        <p:spPr>
          <a:xfrm>
            <a:off x="457200" y="64008"/>
            <a:ext cx="8229600" cy="329184"/>
          </a:xfrm>
          <a:prstGeom prst="rect">
            <a:avLst/>
          </a:prstGeom>
          <a:noFill/>
          <a:ln/>
        </p:spPr>
        <p:txBody>
          <a:bodyPr wrap="square" lIns="0" tIns="0" rIns="0" bIns="0" rtlCol="0" anchor="ctr"/>
          <a:lstStyle/>
          <a:p>
            <a:pPr marL="0" indent="0">
              <a:buNone/>
            </a:pPr>
            <a:r>
              <a:rPr lang="en-US" sz="1000" b="1" kern="0" spc="400" dirty="0">
                <a:solidFill>
                  <a:srgbClr val="0EA5E9"/>
                </a:solidFill>
                <a:latin typeface="Arial" pitchFamily="34" charset="0"/>
                <a:ea typeface="Arial" pitchFamily="34" charset="-122"/>
                <a:cs typeface="Arial" pitchFamily="34" charset="-120"/>
              </a:rPr>
              <a:t>SECTION 2 — PROBLÉMATIQUE</a:t>
            </a:r>
            <a:endParaRPr lang="en-US" sz="1000" dirty="0"/>
          </a:p>
        </p:txBody>
      </p:sp>
      <p:sp>
        <p:nvSpPr>
          <p:cNvPr id="4" name="Text 2"/>
          <p:cNvSpPr/>
          <p:nvPr/>
        </p:nvSpPr>
        <p:spPr>
          <a:xfrm>
            <a:off x="457200" y="402336"/>
            <a:ext cx="6217920" cy="493776"/>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Pourquoi intégrer une IA dans l'EDT ?</a:t>
            </a:r>
            <a:endParaRPr lang="en-US" sz="2000" dirty="0"/>
          </a:p>
        </p:txBody>
      </p:sp>
      <p:sp>
        <p:nvSpPr>
          <p:cNvPr id="5" name="Text 3"/>
          <p:cNvSpPr/>
          <p:nvPr/>
        </p:nvSpPr>
        <p:spPr>
          <a:xfrm>
            <a:off x="6400800" y="457200"/>
            <a:ext cx="2560320" cy="384048"/>
          </a:xfrm>
          <a:prstGeom prst="rect">
            <a:avLst/>
          </a:prstGeom>
          <a:noFill/>
          <a:ln/>
        </p:spPr>
        <p:txBody>
          <a:bodyPr wrap="square" lIns="0" tIns="0" rIns="0" bIns="0" rtlCol="0" anchor="ctr"/>
          <a:lstStyle/>
          <a:p>
            <a:pPr marL="0" indent="0" algn="r">
              <a:buNone/>
            </a:pPr>
            <a:r>
              <a:rPr lang="en-US" sz="1100" dirty="0">
                <a:solidFill>
                  <a:srgbClr val="0EA5E9"/>
                </a:solidFill>
                <a:latin typeface="Arial" pitchFamily="34" charset="0"/>
                <a:ea typeface="Arial" pitchFamily="34" charset="-122"/>
                <a:cs typeface="Arial" pitchFamily="34" charset="-120"/>
              </a:rPr>
              <a:t>Sans IA vs Avec IA</a:t>
            </a:r>
            <a:endParaRPr lang="en-US" sz="1100" dirty="0"/>
          </a:p>
        </p:txBody>
      </p:sp>
      <p:sp>
        <p:nvSpPr>
          <p:cNvPr id="6" name="Shape 4"/>
          <p:cNvSpPr/>
          <p:nvPr/>
        </p:nvSpPr>
        <p:spPr>
          <a:xfrm>
            <a:off x="274320" y="1051560"/>
            <a:ext cx="4114800" cy="4041648"/>
          </a:xfrm>
          <a:prstGeom prst="roundRect">
            <a:avLst>
              <a:gd name="adj" fmla="val 3167"/>
            </a:avLst>
          </a:prstGeom>
          <a:solidFill>
            <a:srgbClr val="FEE2E2"/>
          </a:solidFill>
          <a:ln w="19050">
            <a:solidFill>
              <a:srgbClr val="EF4444"/>
            </a:solidFill>
            <a:prstDash val="solid"/>
          </a:ln>
          <a:effectLst>
            <a:outerShdw blurRad="88900" dist="25400" dir="2700000" algn="bl" rotWithShape="0">
              <a:srgbClr val="000000">
                <a:alpha val="13000"/>
              </a:srgbClr>
            </a:outerShdw>
          </a:effectLst>
        </p:spPr>
      </p:sp>
      <p:sp>
        <p:nvSpPr>
          <p:cNvPr id="7" name="Text 5"/>
          <p:cNvSpPr/>
          <p:nvPr/>
        </p:nvSpPr>
        <p:spPr>
          <a:xfrm>
            <a:off x="411480" y="1115568"/>
            <a:ext cx="3840480" cy="365760"/>
          </a:xfrm>
          <a:prstGeom prst="rect">
            <a:avLst/>
          </a:prstGeom>
          <a:noFill/>
          <a:ln/>
        </p:spPr>
        <p:txBody>
          <a:bodyPr wrap="square" lIns="0" tIns="0" rIns="0" bIns="0" rtlCol="0" anchor="ctr"/>
          <a:lstStyle/>
          <a:p>
            <a:pPr marL="0" indent="0">
              <a:buNone/>
            </a:pPr>
            <a:r>
              <a:rPr lang="en-US" sz="1300" b="1" dirty="0">
                <a:solidFill>
                  <a:srgbClr val="EF4444"/>
                </a:solidFill>
                <a:latin typeface="Arial" pitchFamily="34" charset="0"/>
                <a:ea typeface="Arial" pitchFamily="34" charset="-122"/>
                <a:cs typeface="Arial" pitchFamily="34" charset="-120"/>
              </a:rPr>
              <a:t>❌  Sans Intelligence Artificielle</a:t>
            </a:r>
            <a:endParaRPr lang="en-US" sz="1300" dirty="0"/>
          </a:p>
        </p:txBody>
      </p:sp>
      <p:sp>
        <p:nvSpPr>
          <p:cNvPr id="8" name="Shape 6"/>
          <p:cNvSpPr/>
          <p:nvPr/>
        </p:nvSpPr>
        <p:spPr>
          <a:xfrm>
            <a:off x="411480" y="1481328"/>
            <a:ext cx="3840480" cy="18288"/>
          </a:xfrm>
          <a:prstGeom prst="rect">
            <a:avLst/>
          </a:prstGeom>
          <a:solidFill>
            <a:srgbClr val="EF4444">
              <a:alpha val="40000"/>
            </a:srgbClr>
          </a:solidFill>
          <a:ln w="12700">
            <a:solidFill>
              <a:srgbClr val="EF4444"/>
            </a:solidFill>
            <a:prstDash val="solid"/>
          </a:ln>
        </p:spPr>
      </p:sp>
      <p:sp>
        <p:nvSpPr>
          <p:cNvPr id="9" name="Text 7"/>
          <p:cNvSpPr/>
          <p:nvPr/>
        </p:nvSpPr>
        <p:spPr>
          <a:xfrm>
            <a:off x="411480" y="1572768"/>
            <a:ext cx="3840480" cy="402336"/>
          </a:xfrm>
          <a:prstGeom prst="rect">
            <a:avLst/>
          </a:prstGeom>
          <a:noFill/>
          <a:ln/>
        </p:spPr>
        <p:txBody>
          <a:bodyPr wrap="square" lIns="0" tIns="0" rIns="0" bIns="0" rtlCol="0" anchor="ctr"/>
          <a:lstStyle/>
          <a:p>
            <a:pPr marL="0" indent="0">
              <a:buNone/>
            </a:pPr>
            <a:r>
              <a:rPr lang="en-US" sz="1050" dirty="0">
                <a:solidFill>
                  <a:srgbClr val="1E293B"/>
                </a:solidFill>
                <a:latin typeface="Arial" pitchFamily="34" charset="0"/>
                <a:ea typeface="Arial" pitchFamily="34" charset="-122"/>
                <a:cs typeface="Arial" pitchFamily="34" charset="-120"/>
              </a:rPr>
              <a:t>✗  Navigation manuelle dans des menus</a:t>
            </a:r>
            <a:endParaRPr lang="en-US" sz="1050" dirty="0"/>
          </a:p>
        </p:txBody>
      </p:sp>
      <p:sp>
        <p:nvSpPr>
          <p:cNvPr id="10" name="Text 8"/>
          <p:cNvSpPr/>
          <p:nvPr/>
        </p:nvSpPr>
        <p:spPr>
          <a:xfrm>
            <a:off x="411480" y="2011680"/>
            <a:ext cx="3840480" cy="402336"/>
          </a:xfrm>
          <a:prstGeom prst="rect">
            <a:avLst/>
          </a:prstGeom>
          <a:noFill/>
          <a:ln/>
        </p:spPr>
        <p:txBody>
          <a:bodyPr wrap="square" lIns="0" tIns="0" rIns="0" bIns="0" rtlCol="0" anchor="ctr"/>
          <a:lstStyle/>
          <a:p>
            <a:pPr marL="0" indent="0">
              <a:buNone/>
            </a:pPr>
            <a:r>
              <a:rPr lang="en-US" sz="1050" dirty="0">
                <a:solidFill>
                  <a:srgbClr val="1E293B"/>
                </a:solidFill>
                <a:latin typeface="Arial" pitchFamily="34" charset="0"/>
                <a:ea typeface="Arial" pitchFamily="34" charset="-122"/>
                <a:cs typeface="Arial" pitchFamily="34" charset="-120"/>
              </a:rPr>
              <a:t>✗  L'utilisateur doit cliquer : Filière → Niveau → Jour</a:t>
            </a:r>
            <a:endParaRPr lang="en-US" sz="1050" dirty="0"/>
          </a:p>
        </p:txBody>
      </p:sp>
      <p:sp>
        <p:nvSpPr>
          <p:cNvPr id="11" name="Text 9"/>
          <p:cNvSpPr/>
          <p:nvPr/>
        </p:nvSpPr>
        <p:spPr>
          <a:xfrm>
            <a:off x="411480" y="2450592"/>
            <a:ext cx="3840480" cy="402336"/>
          </a:xfrm>
          <a:prstGeom prst="rect">
            <a:avLst/>
          </a:prstGeom>
          <a:noFill/>
          <a:ln/>
        </p:spPr>
        <p:txBody>
          <a:bodyPr wrap="square" lIns="0" tIns="0" rIns="0" bIns="0" rtlCol="0" anchor="ctr"/>
          <a:lstStyle/>
          <a:p>
            <a:pPr marL="0" indent="0">
              <a:buNone/>
            </a:pPr>
            <a:r>
              <a:rPr lang="en-US" sz="1050" dirty="0">
                <a:solidFill>
                  <a:srgbClr val="1E293B"/>
                </a:solidFill>
                <a:latin typeface="Arial" pitchFamily="34" charset="0"/>
                <a:ea typeface="Arial" pitchFamily="34" charset="-122"/>
                <a:cs typeface="Arial" pitchFamily="34" charset="-120"/>
              </a:rPr>
              <a:t>✗  Application rigide et peu intuitive</a:t>
            </a:r>
            <a:endParaRPr lang="en-US" sz="1050" dirty="0"/>
          </a:p>
        </p:txBody>
      </p:sp>
      <p:sp>
        <p:nvSpPr>
          <p:cNvPr id="12" name="Text 10"/>
          <p:cNvSpPr/>
          <p:nvPr/>
        </p:nvSpPr>
        <p:spPr>
          <a:xfrm>
            <a:off x="411480" y="2889504"/>
            <a:ext cx="3840480" cy="402336"/>
          </a:xfrm>
          <a:prstGeom prst="rect">
            <a:avLst/>
          </a:prstGeom>
          <a:noFill/>
          <a:ln/>
        </p:spPr>
        <p:txBody>
          <a:bodyPr wrap="square" lIns="0" tIns="0" rIns="0" bIns="0" rtlCol="0" anchor="ctr"/>
          <a:lstStyle/>
          <a:p>
            <a:pPr marL="0" indent="0">
              <a:buNone/>
            </a:pPr>
            <a:r>
              <a:rPr lang="en-US" sz="1050" dirty="0">
                <a:solidFill>
                  <a:srgbClr val="1E293B"/>
                </a:solidFill>
                <a:latin typeface="Arial" pitchFamily="34" charset="0"/>
                <a:ea typeface="Arial" pitchFamily="34" charset="-122"/>
                <a:cs typeface="Arial" pitchFamily="34" charset="-120"/>
              </a:rPr>
              <a:t>✗  Impossible de poser une question en français</a:t>
            </a:r>
            <a:endParaRPr lang="en-US" sz="1050" dirty="0"/>
          </a:p>
        </p:txBody>
      </p:sp>
      <p:sp>
        <p:nvSpPr>
          <p:cNvPr id="13" name="Text 11"/>
          <p:cNvSpPr/>
          <p:nvPr/>
        </p:nvSpPr>
        <p:spPr>
          <a:xfrm>
            <a:off x="411480" y="3328416"/>
            <a:ext cx="3840480" cy="402336"/>
          </a:xfrm>
          <a:prstGeom prst="rect">
            <a:avLst/>
          </a:prstGeom>
          <a:noFill/>
          <a:ln/>
        </p:spPr>
        <p:txBody>
          <a:bodyPr wrap="square" lIns="0" tIns="0" rIns="0" bIns="0" rtlCol="0" anchor="ctr"/>
          <a:lstStyle/>
          <a:p>
            <a:pPr marL="0" indent="0">
              <a:buNone/>
            </a:pPr>
            <a:r>
              <a:rPr lang="en-US" sz="1050" dirty="0">
                <a:solidFill>
                  <a:srgbClr val="1E293B"/>
                </a:solidFill>
                <a:latin typeface="Arial" pitchFamily="34" charset="0"/>
                <a:ea typeface="Arial" pitchFamily="34" charset="-122"/>
                <a:cs typeface="Arial" pitchFamily="34" charset="-120"/>
              </a:rPr>
              <a:t>✗  Aucune compréhension du contexte</a:t>
            </a:r>
            <a:endParaRPr lang="en-US" sz="1050" dirty="0"/>
          </a:p>
        </p:txBody>
      </p:sp>
      <p:sp>
        <p:nvSpPr>
          <p:cNvPr id="14" name="Text 12"/>
          <p:cNvSpPr/>
          <p:nvPr/>
        </p:nvSpPr>
        <p:spPr>
          <a:xfrm>
            <a:off x="411480" y="3767328"/>
            <a:ext cx="3840480" cy="402336"/>
          </a:xfrm>
          <a:prstGeom prst="rect">
            <a:avLst/>
          </a:prstGeom>
          <a:noFill/>
          <a:ln/>
        </p:spPr>
        <p:txBody>
          <a:bodyPr wrap="square" lIns="0" tIns="0" rIns="0" bIns="0" rtlCol="0" anchor="ctr"/>
          <a:lstStyle/>
          <a:p>
            <a:pPr marL="0" indent="0">
              <a:buNone/>
            </a:pPr>
            <a:r>
              <a:rPr lang="en-US" sz="1050" dirty="0">
                <a:solidFill>
                  <a:srgbClr val="1E293B"/>
                </a:solidFill>
                <a:latin typeface="Arial" pitchFamily="34" charset="0"/>
                <a:ea typeface="Arial" pitchFamily="34" charset="-122"/>
                <a:cs typeface="Arial" pitchFamily="34" charset="-120"/>
              </a:rPr>
              <a:t>✗  Recherche impossible pour des infos générales</a:t>
            </a:r>
            <a:endParaRPr lang="en-US" sz="1050" dirty="0"/>
          </a:p>
        </p:txBody>
      </p:sp>
      <p:sp>
        <p:nvSpPr>
          <p:cNvPr id="15" name="Text 13"/>
          <p:cNvSpPr/>
          <p:nvPr/>
        </p:nvSpPr>
        <p:spPr>
          <a:xfrm>
            <a:off x="411480" y="4206240"/>
            <a:ext cx="3840480" cy="402336"/>
          </a:xfrm>
          <a:prstGeom prst="rect">
            <a:avLst/>
          </a:prstGeom>
          <a:noFill/>
          <a:ln/>
        </p:spPr>
        <p:txBody>
          <a:bodyPr wrap="square" lIns="0" tIns="0" rIns="0" bIns="0" rtlCol="0" anchor="ctr"/>
          <a:lstStyle/>
          <a:p>
            <a:pPr marL="0" indent="0">
              <a:buNone/>
            </a:pPr>
            <a:r>
              <a:rPr lang="en-US" sz="1050" dirty="0">
                <a:solidFill>
                  <a:srgbClr val="1E293B"/>
                </a:solidFill>
                <a:latin typeface="Arial" pitchFamily="34" charset="0"/>
                <a:ea typeface="Arial" pitchFamily="34" charset="-122"/>
                <a:cs typeface="Arial" pitchFamily="34" charset="-120"/>
              </a:rPr>
              <a:t>✗  Pas de mémoire des échanges précédents</a:t>
            </a:r>
            <a:endParaRPr lang="en-US" sz="1050" dirty="0"/>
          </a:p>
        </p:txBody>
      </p:sp>
      <p:sp>
        <p:nvSpPr>
          <p:cNvPr id="16" name="Shape 14"/>
          <p:cNvSpPr/>
          <p:nvPr/>
        </p:nvSpPr>
        <p:spPr>
          <a:xfrm>
            <a:off x="4754880" y="1051560"/>
            <a:ext cx="4114800" cy="4041648"/>
          </a:xfrm>
          <a:prstGeom prst="roundRect">
            <a:avLst>
              <a:gd name="adj" fmla="val 3167"/>
            </a:avLst>
          </a:prstGeom>
          <a:solidFill>
            <a:srgbClr val="D1FAE5"/>
          </a:solidFill>
          <a:ln w="19050">
            <a:solidFill>
              <a:srgbClr val="10B981"/>
            </a:solidFill>
            <a:prstDash val="solid"/>
          </a:ln>
          <a:effectLst>
            <a:outerShdw blurRad="88900" dist="25400" dir="2700000" algn="bl" rotWithShape="0">
              <a:srgbClr val="000000">
                <a:alpha val="13000"/>
              </a:srgbClr>
            </a:outerShdw>
          </a:effectLst>
        </p:spPr>
      </p:sp>
      <p:sp>
        <p:nvSpPr>
          <p:cNvPr id="17" name="Text 15"/>
          <p:cNvSpPr/>
          <p:nvPr/>
        </p:nvSpPr>
        <p:spPr>
          <a:xfrm>
            <a:off x="4892040" y="1115568"/>
            <a:ext cx="3840480" cy="365760"/>
          </a:xfrm>
          <a:prstGeom prst="rect">
            <a:avLst/>
          </a:prstGeom>
          <a:noFill/>
          <a:ln/>
        </p:spPr>
        <p:txBody>
          <a:bodyPr wrap="square" lIns="0" tIns="0" rIns="0" bIns="0" rtlCol="0" anchor="ctr"/>
          <a:lstStyle/>
          <a:p>
            <a:pPr marL="0" indent="0">
              <a:buNone/>
            </a:pPr>
            <a:r>
              <a:rPr lang="en-US" sz="1300" b="1" dirty="0">
                <a:solidFill>
                  <a:srgbClr val="10B981"/>
                </a:solidFill>
                <a:latin typeface="Arial" pitchFamily="34" charset="0"/>
                <a:ea typeface="Arial" pitchFamily="34" charset="-122"/>
                <a:cs typeface="Arial" pitchFamily="34" charset="-120"/>
              </a:rPr>
              <a:t>✅  Avec Intelligence Artificielle</a:t>
            </a:r>
            <a:endParaRPr lang="en-US" sz="1300" dirty="0"/>
          </a:p>
        </p:txBody>
      </p:sp>
      <p:sp>
        <p:nvSpPr>
          <p:cNvPr id="18" name="Shape 16"/>
          <p:cNvSpPr/>
          <p:nvPr/>
        </p:nvSpPr>
        <p:spPr>
          <a:xfrm>
            <a:off x="4892040" y="1481328"/>
            <a:ext cx="3840480" cy="18288"/>
          </a:xfrm>
          <a:prstGeom prst="rect">
            <a:avLst/>
          </a:prstGeom>
          <a:solidFill>
            <a:srgbClr val="10B981">
              <a:alpha val="40000"/>
            </a:srgbClr>
          </a:solidFill>
          <a:ln w="12700">
            <a:solidFill>
              <a:srgbClr val="10B981"/>
            </a:solidFill>
            <a:prstDash val="solid"/>
          </a:ln>
        </p:spPr>
      </p:sp>
      <p:sp>
        <p:nvSpPr>
          <p:cNvPr id="19" name="Text 17"/>
          <p:cNvSpPr/>
          <p:nvPr/>
        </p:nvSpPr>
        <p:spPr>
          <a:xfrm>
            <a:off x="4892040" y="1572768"/>
            <a:ext cx="3840480" cy="402336"/>
          </a:xfrm>
          <a:prstGeom prst="rect">
            <a:avLst/>
          </a:prstGeom>
          <a:noFill/>
          <a:ln/>
        </p:spPr>
        <p:txBody>
          <a:bodyPr wrap="square" lIns="0" tIns="0" rIns="0" bIns="0" rtlCol="0" anchor="ctr"/>
          <a:lstStyle/>
          <a:p>
            <a:pPr marL="0" indent="0">
              <a:buNone/>
            </a:pPr>
            <a:r>
              <a:rPr lang="en-US" sz="1050" dirty="0">
                <a:solidFill>
                  <a:srgbClr val="1E293B"/>
                </a:solidFill>
                <a:latin typeface="Arial" pitchFamily="34" charset="0"/>
                <a:ea typeface="Arial" pitchFamily="34" charset="-122"/>
                <a:cs typeface="Arial" pitchFamily="34" charset="-120"/>
              </a:rPr>
              <a:t>✓  Réponse en langage naturel (FR/EN)</a:t>
            </a:r>
            <a:endParaRPr lang="en-US" sz="1050" dirty="0"/>
          </a:p>
        </p:txBody>
      </p:sp>
      <p:sp>
        <p:nvSpPr>
          <p:cNvPr id="20" name="Text 18"/>
          <p:cNvSpPr/>
          <p:nvPr/>
        </p:nvSpPr>
        <p:spPr>
          <a:xfrm>
            <a:off x="4892040" y="2011680"/>
            <a:ext cx="3840480" cy="402336"/>
          </a:xfrm>
          <a:prstGeom prst="rect">
            <a:avLst/>
          </a:prstGeom>
          <a:noFill/>
          <a:ln/>
        </p:spPr>
        <p:txBody>
          <a:bodyPr wrap="square" lIns="0" tIns="0" rIns="0" bIns="0" rtlCol="0" anchor="ctr"/>
          <a:lstStyle/>
          <a:p>
            <a:pPr marL="0" indent="0">
              <a:buNone/>
            </a:pPr>
            <a:r>
              <a:rPr lang="en-US" sz="1050" dirty="0">
                <a:solidFill>
                  <a:srgbClr val="1E293B"/>
                </a:solidFill>
                <a:latin typeface="Arial" pitchFamily="34" charset="0"/>
                <a:ea typeface="Arial" pitchFamily="34" charset="-122"/>
                <a:cs typeface="Arial" pitchFamily="34" charset="-120"/>
              </a:rPr>
              <a:t>✓  Accès temps réel à toute la base de données</a:t>
            </a:r>
            <a:endParaRPr lang="en-US" sz="1050" dirty="0"/>
          </a:p>
        </p:txBody>
      </p:sp>
      <p:sp>
        <p:nvSpPr>
          <p:cNvPr id="21" name="Text 19"/>
          <p:cNvSpPr/>
          <p:nvPr/>
        </p:nvSpPr>
        <p:spPr>
          <a:xfrm>
            <a:off x="4892040" y="2450592"/>
            <a:ext cx="3840480" cy="402336"/>
          </a:xfrm>
          <a:prstGeom prst="rect">
            <a:avLst/>
          </a:prstGeom>
          <a:noFill/>
          <a:ln/>
        </p:spPr>
        <p:txBody>
          <a:bodyPr wrap="square" lIns="0" tIns="0" rIns="0" bIns="0" rtlCol="0" anchor="ctr"/>
          <a:lstStyle/>
          <a:p>
            <a:pPr marL="0" indent="0">
              <a:buNone/>
            </a:pPr>
            <a:r>
              <a:rPr lang="en-US" sz="1050" dirty="0">
                <a:solidFill>
                  <a:srgbClr val="1E293B"/>
                </a:solidFill>
                <a:latin typeface="Arial" pitchFamily="34" charset="0"/>
                <a:ea typeface="Arial" pitchFamily="34" charset="-122"/>
                <a:cs typeface="Arial" pitchFamily="34" charset="-120"/>
              </a:rPr>
              <a:t>✓  Déclenche automatiquement les vues de l'interface</a:t>
            </a:r>
            <a:endParaRPr lang="en-US" sz="1050" dirty="0"/>
          </a:p>
        </p:txBody>
      </p:sp>
      <p:sp>
        <p:nvSpPr>
          <p:cNvPr id="22" name="Text 20"/>
          <p:cNvSpPr/>
          <p:nvPr/>
        </p:nvSpPr>
        <p:spPr>
          <a:xfrm>
            <a:off x="4892040" y="2889504"/>
            <a:ext cx="3840480" cy="402336"/>
          </a:xfrm>
          <a:prstGeom prst="rect">
            <a:avLst/>
          </a:prstGeom>
          <a:noFill/>
          <a:ln/>
        </p:spPr>
        <p:txBody>
          <a:bodyPr wrap="square" lIns="0" tIns="0" rIns="0" bIns="0" rtlCol="0" anchor="ctr"/>
          <a:lstStyle/>
          <a:p>
            <a:pPr marL="0" indent="0">
              <a:buNone/>
            </a:pPr>
            <a:r>
              <a:rPr lang="en-US" sz="1050" dirty="0">
                <a:solidFill>
                  <a:srgbClr val="1E293B"/>
                </a:solidFill>
                <a:latin typeface="Arial" pitchFamily="34" charset="0"/>
                <a:ea typeface="Arial" pitchFamily="34" charset="-122"/>
                <a:cs typeface="Arial" pitchFamily="34" charset="-120"/>
              </a:rPr>
              <a:t>✓  Recherche web pour les infos récentes/mondiales</a:t>
            </a:r>
            <a:endParaRPr lang="en-US" sz="1050" dirty="0"/>
          </a:p>
        </p:txBody>
      </p:sp>
      <p:sp>
        <p:nvSpPr>
          <p:cNvPr id="23" name="Text 21"/>
          <p:cNvSpPr/>
          <p:nvPr/>
        </p:nvSpPr>
        <p:spPr>
          <a:xfrm>
            <a:off x="4892040" y="3328416"/>
            <a:ext cx="3840480" cy="402336"/>
          </a:xfrm>
          <a:prstGeom prst="rect">
            <a:avLst/>
          </a:prstGeom>
          <a:noFill/>
          <a:ln/>
        </p:spPr>
        <p:txBody>
          <a:bodyPr wrap="square" lIns="0" tIns="0" rIns="0" bIns="0" rtlCol="0" anchor="ctr"/>
          <a:lstStyle/>
          <a:p>
            <a:pPr marL="0" indent="0">
              <a:buNone/>
            </a:pPr>
            <a:r>
              <a:rPr lang="en-US" sz="1050" dirty="0">
                <a:solidFill>
                  <a:srgbClr val="1E293B"/>
                </a:solidFill>
                <a:latin typeface="Arial" pitchFamily="34" charset="0"/>
                <a:ea typeface="Arial" pitchFamily="34" charset="-122"/>
                <a:cs typeface="Arial" pitchFamily="34" charset="-120"/>
              </a:rPr>
              <a:t>✓  Comprend le contexte de la conversation</a:t>
            </a:r>
            <a:endParaRPr lang="en-US" sz="1050" dirty="0"/>
          </a:p>
        </p:txBody>
      </p:sp>
      <p:sp>
        <p:nvSpPr>
          <p:cNvPr id="24" name="Text 22"/>
          <p:cNvSpPr/>
          <p:nvPr/>
        </p:nvSpPr>
        <p:spPr>
          <a:xfrm>
            <a:off x="4892040" y="3767328"/>
            <a:ext cx="3840480" cy="402336"/>
          </a:xfrm>
          <a:prstGeom prst="rect">
            <a:avLst/>
          </a:prstGeom>
          <a:noFill/>
          <a:ln/>
        </p:spPr>
        <p:txBody>
          <a:bodyPr wrap="square" lIns="0" tIns="0" rIns="0" bIns="0" rtlCol="0" anchor="ctr"/>
          <a:lstStyle/>
          <a:p>
            <a:pPr marL="0" indent="0">
              <a:buNone/>
            </a:pPr>
            <a:r>
              <a:rPr lang="en-US" sz="1050" dirty="0">
                <a:solidFill>
                  <a:srgbClr val="1E293B"/>
                </a:solidFill>
                <a:latin typeface="Arial" pitchFamily="34" charset="0"/>
                <a:ea typeface="Arial" pitchFamily="34" charset="-122"/>
                <a:cs typeface="Arial" pitchFamily="34" charset="-120"/>
              </a:rPr>
              <a:t>✓  Exemple : 'Qui donne cours lundi matin ?' → EDT affiché</a:t>
            </a:r>
            <a:endParaRPr lang="en-US" sz="1050" dirty="0"/>
          </a:p>
        </p:txBody>
      </p:sp>
      <p:sp>
        <p:nvSpPr>
          <p:cNvPr id="25" name="Text 23"/>
          <p:cNvSpPr/>
          <p:nvPr/>
        </p:nvSpPr>
        <p:spPr>
          <a:xfrm>
            <a:off x="4892040" y="4206240"/>
            <a:ext cx="3840480" cy="402336"/>
          </a:xfrm>
          <a:prstGeom prst="rect">
            <a:avLst/>
          </a:prstGeom>
          <a:noFill/>
          <a:ln/>
        </p:spPr>
        <p:txBody>
          <a:bodyPr wrap="square" lIns="0" tIns="0" rIns="0" bIns="0" rtlCol="0" anchor="ctr"/>
          <a:lstStyle/>
          <a:p>
            <a:pPr marL="0" indent="0">
              <a:buNone/>
            </a:pPr>
            <a:r>
              <a:rPr lang="en-US" sz="1050" dirty="0">
                <a:solidFill>
                  <a:srgbClr val="1E293B"/>
                </a:solidFill>
                <a:latin typeface="Arial" pitchFamily="34" charset="0"/>
                <a:ea typeface="Arial" pitchFamily="34" charset="-122"/>
                <a:cs typeface="Arial" pitchFamily="34" charset="-120"/>
              </a:rPr>
              <a:t>✓  "Et le jeudi ?" → L'IA comprend la continuité</a:t>
            </a:r>
            <a:endParaRPr lang="en-US" sz="1050" dirty="0"/>
          </a:p>
        </p:txBody>
      </p:sp>
      <p:sp>
        <p:nvSpPr>
          <p:cNvPr id="26" name="Shape 24"/>
          <p:cNvSpPr/>
          <p:nvPr/>
        </p:nvSpPr>
        <p:spPr>
          <a:xfrm>
            <a:off x="4206240" y="2743200"/>
            <a:ext cx="731520" cy="566928"/>
          </a:xfrm>
          <a:prstGeom prst="roundRect">
            <a:avLst>
              <a:gd name="adj" fmla="val 16129"/>
            </a:avLst>
          </a:prstGeom>
          <a:solidFill>
            <a:srgbClr val="0D1B2A"/>
          </a:solidFill>
          <a:ln w="12700">
            <a:solidFill>
              <a:srgbClr val="0EA5E9"/>
            </a:solidFill>
            <a:prstDash val="solid"/>
          </a:ln>
        </p:spPr>
      </p:sp>
      <p:sp>
        <p:nvSpPr>
          <p:cNvPr id="27" name="Text 25"/>
          <p:cNvSpPr/>
          <p:nvPr/>
        </p:nvSpPr>
        <p:spPr>
          <a:xfrm>
            <a:off x="4206240" y="2743200"/>
            <a:ext cx="731520" cy="566928"/>
          </a:xfrm>
          <a:prstGeom prst="rect">
            <a:avLst/>
          </a:prstGeom>
          <a:noFill/>
          <a:ln/>
        </p:spPr>
        <p:txBody>
          <a:bodyPr wrap="square" lIns="0" tIns="0" rIns="0" bIns="0" rtlCol="0" anchor="ctr"/>
          <a:lstStyle/>
          <a:p>
            <a:pPr marL="0" indent="0" algn="ctr">
              <a:buNone/>
            </a:pPr>
            <a:r>
              <a:rPr lang="en-US" sz="1400" b="1" dirty="0">
                <a:solidFill>
                  <a:srgbClr val="0EA5E9"/>
                </a:solidFill>
                <a:latin typeface="Arial" pitchFamily="34" charset="0"/>
                <a:ea typeface="Arial" pitchFamily="34" charset="-122"/>
                <a:cs typeface="Arial" pitchFamily="34" charset="-120"/>
              </a:rPr>
              <a:t>IA →</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0D1B2A"/>
          </a:solidFill>
          <a:ln w="12700">
            <a:solidFill>
              <a:srgbClr val="0D1B2A"/>
            </a:solidFill>
            <a:prstDash val="solid"/>
          </a:ln>
        </p:spPr>
      </p:sp>
      <p:sp>
        <p:nvSpPr>
          <p:cNvPr id="3" name="Text 1"/>
          <p:cNvSpPr/>
          <p:nvPr/>
        </p:nvSpPr>
        <p:spPr>
          <a:xfrm>
            <a:off x="457200" y="64008"/>
            <a:ext cx="8229600" cy="329184"/>
          </a:xfrm>
          <a:prstGeom prst="rect">
            <a:avLst/>
          </a:prstGeom>
          <a:noFill/>
          <a:ln/>
        </p:spPr>
        <p:txBody>
          <a:bodyPr wrap="square" lIns="0" tIns="0" rIns="0" bIns="0" rtlCol="0" anchor="ctr"/>
          <a:lstStyle/>
          <a:p>
            <a:pPr marL="0" indent="0">
              <a:buNone/>
            </a:pPr>
            <a:r>
              <a:rPr lang="en-US" sz="1000" b="1" kern="0" spc="400" dirty="0">
                <a:solidFill>
                  <a:srgbClr val="0EA5E9"/>
                </a:solidFill>
                <a:latin typeface="Arial" pitchFamily="34" charset="0"/>
                <a:ea typeface="Arial" pitchFamily="34" charset="-122"/>
                <a:cs typeface="Arial" pitchFamily="34" charset="-120"/>
              </a:rPr>
              <a:t>SECTION 3 — CHOIX DU LLM</a:t>
            </a:r>
            <a:endParaRPr lang="en-US" sz="1000" dirty="0"/>
          </a:p>
        </p:txBody>
      </p:sp>
      <p:sp>
        <p:nvSpPr>
          <p:cNvPr id="4" name="Text 2"/>
          <p:cNvSpPr/>
          <p:nvPr/>
        </p:nvSpPr>
        <p:spPr>
          <a:xfrm>
            <a:off x="457200" y="402336"/>
            <a:ext cx="6217920" cy="493776"/>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Analyse des modèles de langage disponibles</a:t>
            </a:r>
            <a:endParaRPr lang="en-US" sz="2000" dirty="0"/>
          </a:p>
        </p:txBody>
      </p:sp>
      <p:sp>
        <p:nvSpPr>
          <p:cNvPr id="5" name="Text 3"/>
          <p:cNvSpPr/>
          <p:nvPr/>
        </p:nvSpPr>
        <p:spPr>
          <a:xfrm>
            <a:off x="6400800" y="457200"/>
            <a:ext cx="2560320" cy="384048"/>
          </a:xfrm>
          <a:prstGeom prst="rect">
            <a:avLst/>
          </a:prstGeom>
          <a:noFill/>
          <a:ln/>
        </p:spPr>
        <p:txBody>
          <a:bodyPr wrap="square" lIns="0" tIns="0" rIns="0" bIns="0" rtlCol="0" anchor="ctr"/>
          <a:lstStyle/>
          <a:p>
            <a:pPr marL="0" indent="0" algn="r">
              <a:buNone/>
            </a:pPr>
            <a:r>
              <a:rPr lang="en-US" sz="1100" dirty="0">
                <a:solidFill>
                  <a:srgbClr val="0EA5E9"/>
                </a:solidFill>
                <a:latin typeface="Arial" pitchFamily="34" charset="0"/>
                <a:ea typeface="Arial" pitchFamily="34" charset="-122"/>
                <a:cs typeface="Arial" pitchFamily="34" charset="-120"/>
              </a:rPr>
              <a:t>Comparaison &amp; décision finale</a:t>
            </a:r>
            <a:endParaRPr lang="en-US" sz="1100" dirty="0"/>
          </a:p>
        </p:txBody>
      </p:sp>
      <p:sp>
        <p:nvSpPr>
          <p:cNvPr id="6" name="Shape 4"/>
          <p:cNvSpPr/>
          <p:nvPr/>
        </p:nvSpPr>
        <p:spPr>
          <a:xfrm>
            <a:off x="274320" y="1051560"/>
            <a:ext cx="8595360" cy="384048"/>
          </a:xfrm>
          <a:prstGeom prst="roundRect">
            <a:avLst>
              <a:gd name="adj" fmla="val 19048"/>
            </a:avLst>
          </a:prstGeom>
          <a:solidFill>
            <a:srgbClr val="0D1B2A"/>
          </a:solidFill>
          <a:ln w="12700">
            <a:solidFill>
              <a:srgbClr val="0D1B2A"/>
            </a:solidFill>
            <a:prstDash val="solid"/>
          </a:ln>
        </p:spPr>
      </p:sp>
      <p:sp>
        <p:nvSpPr>
          <p:cNvPr id="7" name="Text 5"/>
          <p:cNvSpPr/>
          <p:nvPr/>
        </p:nvSpPr>
        <p:spPr>
          <a:xfrm>
            <a:off x="320040" y="1078992"/>
            <a:ext cx="1737360" cy="347472"/>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Solution</a:t>
            </a:r>
            <a:endParaRPr lang="en-US" sz="1100" dirty="0"/>
          </a:p>
        </p:txBody>
      </p:sp>
      <p:sp>
        <p:nvSpPr>
          <p:cNvPr id="8" name="Text 6"/>
          <p:cNvSpPr/>
          <p:nvPr/>
        </p:nvSpPr>
        <p:spPr>
          <a:xfrm>
            <a:off x="2240280" y="1078992"/>
            <a:ext cx="2286000" cy="347472"/>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Avantages</a:t>
            </a:r>
            <a:endParaRPr lang="en-US" sz="1100" dirty="0"/>
          </a:p>
        </p:txBody>
      </p:sp>
      <p:sp>
        <p:nvSpPr>
          <p:cNvPr id="9" name="Text 7"/>
          <p:cNvSpPr/>
          <p:nvPr/>
        </p:nvSpPr>
        <p:spPr>
          <a:xfrm>
            <a:off x="4709160" y="1078992"/>
            <a:ext cx="2560320" cy="347472"/>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Inconvénients</a:t>
            </a:r>
            <a:endParaRPr lang="en-US" sz="1100" dirty="0"/>
          </a:p>
        </p:txBody>
      </p:sp>
      <p:sp>
        <p:nvSpPr>
          <p:cNvPr id="10" name="Text 8"/>
          <p:cNvSpPr/>
          <p:nvPr/>
        </p:nvSpPr>
        <p:spPr>
          <a:xfrm>
            <a:off x="7452360" y="1078992"/>
            <a:ext cx="1280160" cy="347472"/>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Verdict</a:t>
            </a:r>
            <a:endParaRPr lang="en-US" sz="1100" dirty="0"/>
          </a:p>
        </p:txBody>
      </p:sp>
      <p:sp>
        <p:nvSpPr>
          <p:cNvPr id="11" name="Shape 9"/>
          <p:cNvSpPr/>
          <p:nvPr/>
        </p:nvSpPr>
        <p:spPr>
          <a:xfrm>
            <a:off x="274320" y="1481328"/>
            <a:ext cx="8595360" cy="621792"/>
          </a:xfrm>
          <a:prstGeom prst="roundRect">
            <a:avLst>
              <a:gd name="adj" fmla="val 11765"/>
            </a:avLst>
          </a:prstGeom>
          <a:solidFill>
            <a:srgbClr val="FEE2E2"/>
          </a:solidFill>
          <a:ln w="12700">
            <a:solidFill>
              <a:srgbClr val="EF4444"/>
            </a:solidFill>
            <a:prstDash val="solid"/>
          </a:ln>
          <a:effectLst>
            <a:outerShdw blurRad="88900" dist="25400" dir="2700000" algn="bl" rotWithShape="0">
              <a:srgbClr val="000000">
                <a:alpha val="13000"/>
              </a:srgbClr>
            </a:outerShdw>
          </a:effectLst>
        </p:spPr>
      </p:sp>
      <p:sp>
        <p:nvSpPr>
          <p:cNvPr id="12" name="Text 10"/>
          <p:cNvSpPr/>
          <p:nvPr/>
        </p:nvSpPr>
        <p:spPr>
          <a:xfrm>
            <a:off x="384048" y="1517904"/>
            <a:ext cx="1691640" cy="548640"/>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Google Gemini</a:t>
            </a:r>
            <a:endParaRPr lang="en-US" sz="1100" dirty="0"/>
          </a:p>
        </p:txBody>
      </p:sp>
      <p:sp>
        <p:nvSpPr>
          <p:cNvPr id="13" name="Text 11"/>
          <p:cNvSpPr/>
          <p:nvPr/>
        </p:nvSpPr>
        <p:spPr>
          <a:xfrm>
            <a:off x="2304288" y="1517904"/>
            <a:ext cx="2194560" cy="548640"/>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Gratuit, API simple</a:t>
            </a:r>
            <a:endParaRPr lang="en-US" sz="1000" dirty="0"/>
          </a:p>
        </p:txBody>
      </p:sp>
      <p:sp>
        <p:nvSpPr>
          <p:cNvPr id="14" name="Text 12"/>
          <p:cNvSpPr/>
          <p:nvPr/>
        </p:nvSpPr>
        <p:spPr>
          <a:xfrm>
            <a:off x="4773168" y="1517904"/>
            <a:ext cx="2542032" cy="548640"/>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Quota = 0 sur compte testé, clé invalide</a:t>
            </a:r>
            <a:endParaRPr lang="en-US" sz="1000" dirty="0"/>
          </a:p>
        </p:txBody>
      </p:sp>
      <p:sp>
        <p:nvSpPr>
          <p:cNvPr id="15" name="Text 13"/>
          <p:cNvSpPr/>
          <p:nvPr/>
        </p:nvSpPr>
        <p:spPr>
          <a:xfrm>
            <a:off x="7516368" y="1517904"/>
            <a:ext cx="1234440" cy="548640"/>
          </a:xfrm>
          <a:prstGeom prst="rect">
            <a:avLst/>
          </a:prstGeom>
          <a:noFill/>
          <a:ln/>
        </p:spPr>
        <p:txBody>
          <a:bodyPr wrap="square" lIns="0" tIns="0" rIns="0" bIns="0" rtlCol="0" anchor="ctr"/>
          <a:lstStyle/>
          <a:p>
            <a:pPr marL="0" indent="0">
              <a:buNone/>
            </a:pPr>
            <a:r>
              <a:rPr lang="en-US" sz="1000" b="1" dirty="0">
                <a:solidFill>
                  <a:srgbClr val="EF4444"/>
                </a:solidFill>
                <a:latin typeface="Arial" pitchFamily="34" charset="0"/>
                <a:ea typeface="Arial" pitchFamily="34" charset="-122"/>
                <a:cs typeface="Arial" pitchFamily="34" charset="-120"/>
              </a:rPr>
              <a:t>❌ Abandonné</a:t>
            </a:r>
            <a:endParaRPr lang="en-US" sz="1000" dirty="0"/>
          </a:p>
        </p:txBody>
      </p:sp>
      <p:sp>
        <p:nvSpPr>
          <p:cNvPr id="16" name="Shape 14"/>
          <p:cNvSpPr/>
          <p:nvPr/>
        </p:nvSpPr>
        <p:spPr>
          <a:xfrm>
            <a:off x="274320" y="2139696"/>
            <a:ext cx="8595360" cy="621792"/>
          </a:xfrm>
          <a:prstGeom prst="roundRect">
            <a:avLst>
              <a:gd name="adj" fmla="val 11765"/>
            </a:avLst>
          </a:prstGeom>
          <a:solidFill>
            <a:srgbClr val="FEE2E2"/>
          </a:solidFill>
          <a:ln w="12700">
            <a:solidFill>
              <a:srgbClr val="EF4444"/>
            </a:solidFill>
            <a:prstDash val="solid"/>
          </a:ln>
          <a:effectLst>
            <a:outerShdw blurRad="88900" dist="25400" dir="2700000" algn="bl" rotWithShape="0">
              <a:srgbClr val="000000">
                <a:alpha val="13000"/>
              </a:srgbClr>
            </a:outerShdw>
          </a:effectLst>
        </p:spPr>
      </p:sp>
      <p:sp>
        <p:nvSpPr>
          <p:cNvPr id="17" name="Text 15"/>
          <p:cNvSpPr/>
          <p:nvPr/>
        </p:nvSpPr>
        <p:spPr>
          <a:xfrm>
            <a:off x="384048" y="2176272"/>
            <a:ext cx="1691640" cy="548640"/>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OpenAI GPT-4</a:t>
            </a:r>
            <a:endParaRPr lang="en-US" sz="1100" dirty="0"/>
          </a:p>
        </p:txBody>
      </p:sp>
      <p:sp>
        <p:nvSpPr>
          <p:cNvPr id="18" name="Text 16"/>
          <p:cNvSpPr/>
          <p:nvPr/>
        </p:nvSpPr>
        <p:spPr>
          <a:xfrm>
            <a:off x="2304288" y="2176272"/>
            <a:ext cx="2194560" cy="548640"/>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Très performant</a:t>
            </a:r>
            <a:endParaRPr lang="en-US" sz="1000" dirty="0"/>
          </a:p>
        </p:txBody>
      </p:sp>
      <p:sp>
        <p:nvSpPr>
          <p:cNvPr id="19" name="Text 17"/>
          <p:cNvSpPr/>
          <p:nvPr/>
        </p:nvSpPr>
        <p:spPr>
          <a:xfrm>
            <a:off x="4773168" y="2176272"/>
            <a:ext cx="2542032" cy="548640"/>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Payant, inaccessible sans carte bancaire</a:t>
            </a:r>
            <a:endParaRPr lang="en-US" sz="1000" dirty="0"/>
          </a:p>
        </p:txBody>
      </p:sp>
      <p:sp>
        <p:nvSpPr>
          <p:cNvPr id="20" name="Text 18"/>
          <p:cNvSpPr/>
          <p:nvPr/>
        </p:nvSpPr>
        <p:spPr>
          <a:xfrm>
            <a:off x="7516368" y="2176272"/>
            <a:ext cx="1234440" cy="548640"/>
          </a:xfrm>
          <a:prstGeom prst="rect">
            <a:avLst/>
          </a:prstGeom>
          <a:noFill/>
          <a:ln/>
        </p:spPr>
        <p:txBody>
          <a:bodyPr wrap="square" lIns="0" tIns="0" rIns="0" bIns="0" rtlCol="0" anchor="ctr"/>
          <a:lstStyle/>
          <a:p>
            <a:pPr marL="0" indent="0">
              <a:buNone/>
            </a:pPr>
            <a:r>
              <a:rPr lang="en-US" sz="1000" b="1" dirty="0">
                <a:solidFill>
                  <a:srgbClr val="EF4444"/>
                </a:solidFill>
                <a:latin typeface="Arial" pitchFamily="34" charset="0"/>
                <a:ea typeface="Arial" pitchFamily="34" charset="-122"/>
                <a:cs typeface="Arial" pitchFamily="34" charset="-120"/>
              </a:rPr>
              <a:t>❌ Impossible</a:t>
            </a:r>
            <a:endParaRPr lang="en-US" sz="1000" dirty="0"/>
          </a:p>
        </p:txBody>
      </p:sp>
      <p:sp>
        <p:nvSpPr>
          <p:cNvPr id="21" name="Shape 19"/>
          <p:cNvSpPr/>
          <p:nvPr/>
        </p:nvSpPr>
        <p:spPr>
          <a:xfrm>
            <a:off x="274320" y="2798064"/>
            <a:ext cx="8595360" cy="621792"/>
          </a:xfrm>
          <a:prstGeom prst="roundRect">
            <a:avLst>
              <a:gd name="adj" fmla="val 11765"/>
            </a:avLst>
          </a:prstGeom>
          <a:solidFill>
            <a:srgbClr val="FEE2E2"/>
          </a:solidFill>
          <a:ln w="12700">
            <a:solidFill>
              <a:srgbClr val="EF4444"/>
            </a:solidFill>
            <a:prstDash val="solid"/>
          </a:ln>
          <a:effectLst>
            <a:outerShdw blurRad="88900" dist="25400" dir="2700000" algn="bl" rotWithShape="0">
              <a:srgbClr val="000000">
                <a:alpha val="13000"/>
              </a:srgbClr>
            </a:outerShdw>
          </a:effectLst>
        </p:spPr>
      </p:sp>
      <p:sp>
        <p:nvSpPr>
          <p:cNvPr id="22" name="Text 20"/>
          <p:cNvSpPr/>
          <p:nvPr/>
        </p:nvSpPr>
        <p:spPr>
          <a:xfrm>
            <a:off x="384048" y="2834640"/>
            <a:ext cx="1691640" cy="548640"/>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Ollama (local)</a:t>
            </a:r>
            <a:endParaRPr lang="en-US" sz="1100" dirty="0"/>
          </a:p>
        </p:txBody>
      </p:sp>
      <p:sp>
        <p:nvSpPr>
          <p:cNvPr id="23" name="Text 21"/>
          <p:cNvSpPr/>
          <p:nvPr/>
        </p:nvSpPr>
        <p:spPr>
          <a:xfrm>
            <a:off x="2304288" y="2834640"/>
            <a:ext cx="2194560" cy="548640"/>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Totalement gratuit</a:t>
            </a:r>
            <a:endParaRPr lang="en-US" sz="1000" dirty="0"/>
          </a:p>
        </p:txBody>
      </p:sp>
      <p:sp>
        <p:nvSpPr>
          <p:cNvPr id="24" name="Text 22"/>
          <p:cNvSpPr/>
          <p:nvPr/>
        </p:nvSpPr>
        <p:spPr>
          <a:xfrm>
            <a:off x="4773168" y="2834640"/>
            <a:ext cx="2542032" cy="548640"/>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Nécessite serveur puissant — infra indisponible</a:t>
            </a:r>
            <a:endParaRPr lang="en-US" sz="1000" dirty="0"/>
          </a:p>
        </p:txBody>
      </p:sp>
      <p:sp>
        <p:nvSpPr>
          <p:cNvPr id="25" name="Text 23"/>
          <p:cNvSpPr/>
          <p:nvPr/>
        </p:nvSpPr>
        <p:spPr>
          <a:xfrm>
            <a:off x="7516368" y="2834640"/>
            <a:ext cx="1234440" cy="548640"/>
          </a:xfrm>
          <a:prstGeom prst="rect">
            <a:avLst/>
          </a:prstGeom>
          <a:noFill/>
          <a:ln/>
        </p:spPr>
        <p:txBody>
          <a:bodyPr wrap="square" lIns="0" tIns="0" rIns="0" bIns="0" rtlCol="0" anchor="ctr"/>
          <a:lstStyle/>
          <a:p>
            <a:pPr marL="0" indent="0">
              <a:buNone/>
            </a:pPr>
            <a:r>
              <a:rPr lang="en-US" sz="1000" b="1" dirty="0">
                <a:solidFill>
                  <a:srgbClr val="EF4444"/>
                </a:solidFill>
                <a:latin typeface="Arial" pitchFamily="34" charset="0"/>
                <a:ea typeface="Arial" pitchFamily="34" charset="-122"/>
                <a:cs typeface="Arial" pitchFamily="34" charset="-120"/>
              </a:rPr>
              <a:t>❌ Impossible</a:t>
            </a:r>
            <a:endParaRPr lang="en-US" sz="1000" dirty="0"/>
          </a:p>
        </p:txBody>
      </p:sp>
      <p:sp>
        <p:nvSpPr>
          <p:cNvPr id="26" name="Shape 24"/>
          <p:cNvSpPr/>
          <p:nvPr/>
        </p:nvSpPr>
        <p:spPr>
          <a:xfrm>
            <a:off x="274320" y="3456432"/>
            <a:ext cx="8595360" cy="621792"/>
          </a:xfrm>
          <a:prstGeom prst="roundRect">
            <a:avLst>
              <a:gd name="adj" fmla="val 11765"/>
            </a:avLst>
          </a:prstGeom>
          <a:solidFill>
            <a:srgbClr val="D1FAE5"/>
          </a:solidFill>
          <a:ln w="12700">
            <a:solidFill>
              <a:srgbClr val="10B981"/>
            </a:solidFill>
            <a:prstDash val="solid"/>
          </a:ln>
          <a:effectLst>
            <a:outerShdw blurRad="88900" dist="25400" dir="2700000" algn="bl" rotWithShape="0">
              <a:srgbClr val="000000">
                <a:alpha val="13000"/>
              </a:srgbClr>
            </a:outerShdw>
          </a:effectLst>
        </p:spPr>
      </p:sp>
      <p:sp>
        <p:nvSpPr>
          <p:cNvPr id="27" name="Text 25"/>
          <p:cNvSpPr/>
          <p:nvPr/>
        </p:nvSpPr>
        <p:spPr>
          <a:xfrm>
            <a:off x="384048" y="3493008"/>
            <a:ext cx="1691640" cy="548640"/>
          </a:xfrm>
          <a:prstGeom prst="rect">
            <a:avLst/>
          </a:prstGeom>
          <a:noFill/>
          <a:ln/>
        </p:spPr>
        <p:txBody>
          <a:bodyPr wrap="square" lIns="0" tIns="0" rIns="0" bIns="0" rtlCol="0" anchor="ctr"/>
          <a:lstStyle/>
          <a:p>
            <a:pPr marL="0" indent="0">
              <a:buNone/>
            </a:pPr>
            <a:r>
              <a:rPr lang="en-US" sz="1100" b="1" dirty="0">
                <a:solidFill>
                  <a:srgbClr val="1E293B"/>
                </a:solidFill>
                <a:latin typeface="Arial" pitchFamily="34" charset="0"/>
                <a:ea typeface="Arial" pitchFamily="34" charset="-122"/>
                <a:cs typeface="Arial" pitchFamily="34" charset="-120"/>
              </a:rPr>
              <a:t>Groq API ⭐</a:t>
            </a:r>
            <a:endParaRPr lang="en-US" sz="1100" dirty="0"/>
          </a:p>
        </p:txBody>
      </p:sp>
      <p:sp>
        <p:nvSpPr>
          <p:cNvPr id="28" name="Text 26"/>
          <p:cNvSpPr/>
          <p:nvPr/>
        </p:nvSpPr>
        <p:spPr>
          <a:xfrm>
            <a:off x="2304288" y="3493008"/>
            <a:ext cx="2194560" cy="548640"/>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Gratuit, rapide, compatible OpenAI</a:t>
            </a:r>
            <a:endParaRPr lang="en-US" sz="1000" dirty="0"/>
          </a:p>
        </p:txBody>
      </p:sp>
      <p:sp>
        <p:nvSpPr>
          <p:cNvPr id="29" name="Text 27"/>
          <p:cNvSpPr/>
          <p:nvPr/>
        </p:nvSpPr>
        <p:spPr>
          <a:xfrm>
            <a:off x="4773168" y="3493008"/>
            <a:ext cx="2542032" cy="548640"/>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Limite 6 000 tokens/min (gérable)</a:t>
            </a:r>
            <a:endParaRPr lang="en-US" sz="1000" dirty="0"/>
          </a:p>
        </p:txBody>
      </p:sp>
      <p:sp>
        <p:nvSpPr>
          <p:cNvPr id="30" name="Text 28"/>
          <p:cNvSpPr/>
          <p:nvPr/>
        </p:nvSpPr>
        <p:spPr>
          <a:xfrm>
            <a:off x="7516368" y="3493008"/>
            <a:ext cx="1234440" cy="548640"/>
          </a:xfrm>
          <a:prstGeom prst="rect">
            <a:avLst/>
          </a:prstGeom>
          <a:noFill/>
          <a:ln/>
        </p:spPr>
        <p:txBody>
          <a:bodyPr wrap="square" lIns="0" tIns="0" rIns="0" bIns="0" rtlCol="0" anchor="ctr"/>
          <a:lstStyle/>
          <a:p>
            <a:pPr marL="0" indent="0">
              <a:buNone/>
            </a:pPr>
            <a:r>
              <a:rPr lang="en-US" sz="1000" b="1" dirty="0">
                <a:solidFill>
                  <a:srgbClr val="10B981"/>
                </a:solidFill>
                <a:latin typeface="Arial" pitchFamily="34" charset="0"/>
                <a:ea typeface="Arial" pitchFamily="34" charset="-122"/>
                <a:cs typeface="Arial" pitchFamily="34" charset="-120"/>
              </a:rPr>
              <a:t>✅ Retenu</a:t>
            </a:r>
            <a:endParaRPr lang="en-US" sz="1000" dirty="0"/>
          </a:p>
        </p:txBody>
      </p:sp>
      <p:sp>
        <p:nvSpPr>
          <p:cNvPr id="31" name="Shape 29"/>
          <p:cNvSpPr/>
          <p:nvPr/>
        </p:nvSpPr>
        <p:spPr>
          <a:xfrm>
            <a:off x="274320" y="4160520"/>
            <a:ext cx="8595360" cy="960120"/>
          </a:xfrm>
          <a:prstGeom prst="roundRect">
            <a:avLst>
              <a:gd name="adj" fmla="val 11429"/>
            </a:avLst>
          </a:prstGeom>
          <a:solidFill>
            <a:srgbClr val="EDE9FE"/>
          </a:solidFill>
          <a:ln w="19050">
            <a:solidFill>
              <a:srgbClr val="4C1D95"/>
            </a:solidFill>
            <a:prstDash val="solid"/>
          </a:ln>
          <a:effectLst>
            <a:outerShdw blurRad="88900" dist="25400" dir="2700000" algn="bl" rotWithShape="0">
              <a:srgbClr val="000000">
                <a:alpha val="13000"/>
              </a:srgbClr>
            </a:outerShdw>
          </a:effectLst>
        </p:spPr>
      </p:sp>
      <p:sp>
        <p:nvSpPr>
          <p:cNvPr id="32" name="Text 30"/>
          <p:cNvSpPr/>
          <p:nvPr/>
        </p:nvSpPr>
        <p:spPr>
          <a:xfrm>
            <a:off x="411480" y="4206240"/>
            <a:ext cx="8229600" cy="329184"/>
          </a:xfrm>
          <a:prstGeom prst="rect">
            <a:avLst/>
          </a:prstGeom>
          <a:noFill/>
          <a:ln/>
        </p:spPr>
        <p:txBody>
          <a:bodyPr wrap="square" lIns="0" tIns="0" rIns="0" bIns="0" rtlCol="0" anchor="ctr"/>
          <a:lstStyle/>
          <a:p>
            <a:pPr marL="0" indent="0">
              <a:buNone/>
            </a:pPr>
            <a:r>
              <a:rPr lang="en-US" sz="1300" b="1" dirty="0">
                <a:solidFill>
                  <a:srgbClr val="4C1D95"/>
                </a:solidFill>
                <a:latin typeface="Arial" pitchFamily="34" charset="0"/>
                <a:ea typeface="Arial" pitchFamily="34" charset="-122"/>
                <a:cs typeface="Arial" pitchFamily="34" charset="-120"/>
              </a:rPr>
              <a:t>⚡  Pourquoi Groq ? — Détails techniques</a:t>
            </a:r>
            <a:endParaRPr lang="en-US" sz="1300" dirty="0"/>
          </a:p>
        </p:txBody>
      </p:sp>
      <p:sp>
        <p:nvSpPr>
          <p:cNvPr id="33" name="Text 31"/>
          <p:cNvSpPr/>
          <p:nvPr/>
        </p:nvSpPr>
        <p:spPr>
          <a:xfrm>
            <a:off x="411480" y="4535424"/>
            <a:ext cx="4206240" cy="201168"/>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  14 400 requêtes/jour (largement suffisant usage académique)</a:t>
            </a:r>
            <a:endParaRPr lang="en-US" sz="950" dirty="0"/>
          </a:p>
        </p:txBody>
      </p:sp>
      <p:sp>
        <p:nvSpPr>
          <p:cNvPr id="34" name="Text 32"/>
          <p:cNvSpPr/>
          <p:nvPr/>
        </p:nvSpPr>
        <p:spPr>
          <a:xfrm>
            <a:off x="411480" y="4736592"/>
            <a:ext cx="4206240" cy="201168"/>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  6 000 tokens/minute (limite principale à gérer par optimisation)</a:t>
            </a:r>
            <a:endParaRPr lang="en-US" sz="950" dirty="0"/>
          </a:p>
        </p:txBody>
      </p:sp>
      <p:sp>
        <p:nvSpPr>
          <p:cNvPr id="35" name="Text 33"/>
          <p:cNvSpPr/>
          <p:nvPr/>
        </p:nvSpPr>
        <p:spPr>
          <a:xfrm>
            <a:off x="411480" y="4937760"/>
            <a:ext cx="4206240" cy="201168"/>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  API au format identique OpenAI (facilité d'intégration)</a:t>
            </a:r>
            <a:endParaRPr lang="en-US" sz="950" dirty="0"/>
          </a:p>
        </p:txBody>
      </p:sp>
      <p:sp>
        <p:nvSpPr>
          <p:cNvPr id="36" name="Text 34"/>
          <p:cNvSpPr/>
          <p:nvPr/>
        </p:nvSpPr>
        <p:spPr>
          <a:xfrm>
            <a:off x="4709160" y="4224528"/>
            <a:ext cx="4206240" cy="201168"/>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  LPU (Language Processing Units) = puces spécialisées ultra-rapides</a:t>
            </a:r>
            <a:endParaRPr lang="en-US" sz="950" dirty="0"/>
          </a:p>
        </p:txBody>
      </p:sp>
      <p:sp>
        <p:nvSpPr>
          <p:cNvPr id="37" name="Text 35"/>
          <p:cNvSpPr/>
          <p:nvPr/>
        </p:nvSpPr>
        <p:spPr>
          <a:xfrm>
            <a:off x="4709160" y="4425696"/>
            <a:ext cx="4206240" cy="201168"/>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  Modèle : llama-3.1-8b-instant — développé par Meta, multilingue FR/EN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0D1B2A"/>
          </a:solidFill>
          <a:ln w="12700">
            <a:solidFill>
              <a:srgbClr val="0D1B2A"/>
            </a:solidFill>
            <a:prstDash val="solid"/>
          </a:ln>
        </p:spPr>
      </p:sp>
      <p:sp>
        <p:nvSpPr>
          <p:cNvPr id="3" name="Text 1"/>
          <p:cNvSpPr/>
          <p:nvPr/>
        </p:nvSpPr>
        <p:spPr>
          <a:xfrm>
            <a:off x="457200" y="64008"/>
            <a:ext cx="8229600" cy="329184"/>
          </a:xfrm>
          <a:prstGeom prst="rect">
            <a:avLst/>
          </a:prstGeom>
          <a:noFill/>
          <a:ln/>
        </p:spPr>
        <p:txBody>
          <a:bodyPr wrap="square" lIns="0" tIns="0" rIns="0" bIns="0" rtlCol="0" anchor="ctr"/>
          <a:lstStyle/>
          <a:p>
            <a:pPr marL="0" indent="0">
              <a:buNone/>
            </a:pPr>
            <a:r>
              <a:rPr lang="en-US" sz="1000" b="1" kern="0" spc="400" dirty="0">
                <a:solidFill>
                  <a:srgbClr val="0EA5E9"/>
                </a:solidFill>
                <a:latin typeface="Arial" pitchFamily="34" charset="0"/>
                <a:ea typeface="Arial" pitchFamily="34" charset="-122"/>
                <a:cs typeface="Arial" pitchFamily="34" charset="-120"/>
              </a:rPr>
              <a:t>SECTION 4 — ARCHITECTURE</a:t>
            </a:r>
            <a:endParaRPr lang="en-US" sz="1000" dirty="0"/>
          </a:p>
        </p:txBody>
      </p:sp>
      <p:sp>
        <p:nvSpPr>
          <p:cNvPr id="4" name="Text 2"/>
          <p:cNvSpPr/>
          <p:nvPr/>
        </p:nvSpPr>
        <p:spPr>
          <a:xfrm>
            <a:off x="457200" y="402336"/>
            <a:ext cx="6217920" cy="493776"/>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Architecture globale du système IA</a:t>
            </a:r>
            <a:endParaRPr lang="en-US" sz="2000" dirty="0"/>
          </a:p>
        </p:txBody>
      </p:sp>
      <p:sp>
        <p:nvSpPr>
          <p:cNvPr id="5" name="Text 3"/>
          <p:cNvSpPr/>
          <p:nvPr/>
        </p:nvSpPr>
        <p:spPr>
          <a:xfrm>
            <a:off x="6400800" y="457200"/>
            <a:ext cx="2560320" cy="384048"/>
          </a:xfrm>
          <a:prstGeom prst="rect">
            <a:avLst/>
          </a:prstGeom>
          <a:noFill/>
          <a:ln/>
        </p:spPr>
        <p:txBody>
          <a:bodyPr wrap="square" lIns="0" tIns="0" rIns="0" bIns="0" rtlCol="0" anchor="ctr"/>
          <a:lstStyle/>
          <a:p>
            <a:pPr marL="0" indent="0" algn="r">
              <a:buNone/>
            </a:pPr>
            <a:r>
              <a:rPr lang="en-US" sz="1100" dirty="0">
                <a:solidFill>
                  <a:srgbClr val="0EA5E9"/>
                </a:solidFill>
                <a:latin typeface="Arial" pitchFamily="34" charset="0"/>
                <a:ea typeface="Arial" pitchFamily="34" charset="-122"/>
                <a:cs typeface="Arial" pitchFamily="34" charset="-120"/>
              </a:rPr>
              <a:t>Flux complet en &lt; 2 secondes</a:t>
            </a:r>
            <a:endParaRPr lang="en-US" sz="1100" dirty="0"/>
          </a:p>
        </p:txBody>
      </p:sp>
      <p:sp>
        <p:nvSpPr>
          <p:cNvPr id="6" name="Shape 4"/>
          <p:cNvSpPr/>
          <p:nvPr/>
        </p:nvSpPr>
        <p:spPr>
          <a:xfrm>
            <a:off x="274320" y="1051560"/>
            <a:ext cx="8595360" cy="658368"/>
          </a:xfrm>
          <a:prstGeom prst="roundRect">
            <a:avLst>
              <a:gd name="adj" fmla="val 13889"/>
            </a:avLst>
          </a:prstGeom>
          <a:solidFill>
            <a:srgbClr val="DBEAFE"/>
          </a:solidFill>
          <a:ln w="19050">
            <a:solidFill>
              <a:srgbClr val="1B4FD8"/>
            </a:solidFill>
            <a:prstDash val="solid"/>
          </a:ln>
          <a:effectLst>
            <a:outerShdw blurRad="88900" dist="25400" dir="2700000" algn="bl" rotWithShape="0">
              <a:srgbClr val="000000">
                <a:alpha val="13000"/>
              </a:srgbClr>
            </a:outerShdw>
          </a:effectLst>
        </p:spPr>
      </p:sp>
      <p:sp>
        <p:nvSpPr>
          <p:cNvPr id="7" name="Text 5"/>
          <p:cNvSpPr/>
          <p:nvPr/>
        </p:nvSpPr>
        <p:spPr>
          <a:xfrm>
            <a:off x="411480" y="1078992"/>
            <a:ext cx="2743200" cy="347472"/>
          </a:xfrm>
          <a:prstGeom prst="rect">
            <a:avLst/>
          </a:prstGeom>
          <a:noFill/>
          <a:ln/>
        </p:spPr>
        <p:txBody>
          <a:bodyPr wrap="square" lIns="0" tIns="0" rIns="0" bIns="0" rtlCol="0" anchor="ctr"/>
          <a:lstStyle/>
          <a:p>
            <a:pPr marL="0" indent="0">
              <a:buNone/>
            </a:pPr>
            <a:r>
              <a:rPr lang="en-US" sz="1200" b="1" dirty="0">
                <a:solidFill>
                  <a:srgbClr val="1B4FD8"/>
                </a:solidFill>
                <a:latin typeface="Arial" pitchFamily="34" charset="0"/>
                <a:ea typeface="Arial" pitchFamily="34" charset="-122"/>
                <a:cs typeface="Arial" pitchFamily="34" charset="-120"/>
              </a:rPr>
              <a:t>🖥️  NAVIGATEUR (Frontend)</a:t>
            </a:r>
            <a:endParaRPr lang="en-US" sz="1200" dirty="0"/>
          </a:p>
        </p:txBody>
      </p:sp>
      <p:sp>
        <p:nvSpPr>
          <p:cNvPr id="8" name="Text 6"/>
          <p:cNvSpPr/>
          <p:nvPr/>
        </p:nvSpPr>
        <p:spPr>
          <a:xfrm>
            <a:off x="411480" y="1417320"/>
            <a:ext cx="8229600" cy="256032"/>
          </a:xfrm>
          <a:prstGeom prst="rect">
            <a:avLst/>
          </a:prstGeom>
          <a:noFill/>
          <a:ln/>
        </p:spPr>
        <p:txBody>
          <a:bodyPr wrap="square" lIns="0" tIns="0" rIns="0" bIns="0" rtlCol="0" anchor="ctr"/>
          <a:lstStyle/>
          <a:p>
            <a:pPr marL="0" indent="0">
              <a:buNone/>
            </a:pPr>
            <a:r>
              <a:rPr lang="en-US" sz="1050" dirty="0">
                <a:solidFill>
                  <a:srgbClr val="1E293B"/>
                </a:solidFill>
                <a:latin typeface="Arial" pitchFamily="34" charset="0"/>
                <a:ea typeface="Arial" pitchFamily="34" charset="-122"/>
                <a:cs typeface="Arial" pitchFamily="34" charset="-120"/>
              </a:rPr>
              <a:t>Saisie utilisateur  ·  Historique conversation (10 derniers échanges)  ·  Exécution des actions retournées par l'IA</a:t>
            </a:r>
            <a:endParaRPr lang="en-US" sz="1050" dirty="0"/>
          </a:p>
        </p:txBody>
      </p:sp>
      <p:sp>
        <p:nvSpPr>
          <p:cNvPr id="9" name="Shape 7"/>
          <p:cNvSpPr/>
          <p:nvPr/>
        </p:nvSpPr>
        <p:spPr>
          <a:xfrm>
            <a:off x="4572000" y="1709928"/>
            <a:ext cx="0" cy="274320"/>
          </a:xfrm>
          <a:prstGeom prst="line">
            <a:avLst/>
          </a:prstGeom>
          <a:noFill/>
          <a:ln w="25400">
            <a:solidFill>
              <a:srgbClr val="1B4FD8"/>
            </a:solidFill>
            <a:prstDash val="solid"/>
          </a:ln>
        </p:spPr>
      </p:sp>
      <p:sp>
        <p:nvSpPr>
          <p:cNvPr id="10" name="Shape 8"/>
          <p:cNvSpPr/>
          <p:nvPr/>
        </p:nvSpPr>
        <p:spPr>
          <a:xfrm>
            <a:off x="3474720" y="1984248"/>
            <a:ext cx="2194560" cy="274320"/>
          </a:xfrm>
          <a:prstGeom prst="roundRect">
            <a:avLst>
              <a:gd name="adj" fmla="val 20000"/>
            </a:avLst>
          </a:prstGeom>
          <a:solidFill>
            <a:srgbClr val="0D1B2A"/>
          </a:solidFill>
          <a:ln w="12700">
            <a:solidFill>
              <a:srgbClr val="0EA5E9"/>
            </a:solidFill>
            <a:prstDash val="solid"/>
          </a:ln>
        </p:spPr>
      </p:sp>
      <p:sp>
        <p:nvSpPr>
          <p:cNvPr id="11" name="Text 9"/>
          <p:cNvSpPr/>
          <p:nvPr/>
        </p:nvSpPr>
        <p:spPr>
          <a:xfrm>
            <a:off x="3474720" y="1984248"/>
            <a:ext cx="2194560" cy="274320"/>
          </a:xfrm>
          <a:prstGeom prst="rect">
            <a:avLst/>
          </a:prstGeom>
          <a:noFill/>
          <a:ln/>
        </p:spPr>
        <p:txBody>
          <a:bodyPr wrap="square" lIns="0" tIns="0" rIns="0" bIns="0" rtlCol="0" anchor="ctr"/>
          <a:lstStyle/>
          <a:p>
            <a:pPr marL="0" indent="0" algn="ctr">
              <a:buNone/>
            </a:pPr>
            <a:r>
              <a:rPr lang="en-US" sz="950" b="1" dirty="0">
                <a:solidFill>
                  <a:srgbClr val="0EA5E9"/>
                </a:solidFill>
                <a:latin typeface="Courier New" pitchFamily="34" charset="0"/>
                <a:ea typeface="Courier New" pitchFamily="34" charset="-122"/>
                <a:cs typeface="Courier New" pitchFamily="34" charset="-120"/>
              </a:rPr>
              <a:t>POST /api/chatbot/ai</a:t>
            </a:r>
            <a:endParaRPr lang="en-US" sz="950" dirty="0"/>
          </a:p>
        </p:txBody>
      </p:sp>
      <p:sp>
        <p:nvSpPr>
          <p:cNvPr id="12" name="Shape 10"/>
          <p:cNvSpPr/>
          <p:nvPr/>
        </p:nvSpPr>
        <p:spPr>
          <a:xfrm>
            <a:off x="274320" y="2304288"/>
            <a:ext cx="8595360" cy="1417320"/>
          </a:xfrm>
          <a:prstGeom prst="roundRect">
            <a:avLst>
              <a:gd name="adj" fmla="val 7742"/>
            </a:avLst>
          </a:prstGeom>
          <a:solidFill>
            <a:srgbClr val="D1FAE5"/>
          </a:solidFill>
          <a:ln w="25400">
            <a:solidFill>
              <a:srgbClr val="10B981"/>
            </a:solidFill>
            <a:prstDash val="solid"/>
          </a:ln>
          <a:effectLst>
            <a:outerShdw blurRad="152400" dist="38100" dir="2700000" algn="bl" rotWithShape="0">
              <a:srgbClr val="000000">
                <a:alpha val="20000"/>
              </a:srgbClr>
            </a:outerShdw>
          </a:effectLst>
        </p:spPr>
      </p:sp>
      <p:sp>
        <p:nvSpPr>
          <p:cNvPr id="13" name="Text 11"/>
          <p:cNvSpPr/>
          <p:nvPr/>
        </p:nvSpPr>
        <p:spPr>
          <a:xfrm>
            <a:off x="411480" y="2359152"/>
            <a:ext cx="8229600" cy="347472"/>
          </a:xfrm>
          <a:prstGeom prst="rect">
            <a:avLst/>
          </a:prstGeom>
          <a:noFill/>
          <a:ln/>
        </p:spPr>
        <p:txBody>
          <a:bodyPr wrap="square" lIns="0" tIns="0" rIns="0" bIns="0" rtlCol="0" anchor="ctr"/>
          <a:lstStyle/>
          <a:p>
            <a:pPr marL="0" indent="0">
              <a:buNone/>
            </a:pPr>
            <a:r>
              <a:rPr lang="en-US" sz="1300" b="1" dirty="0">
                <a:solidFill>
                  <a:srgbClr val="10B981"/>
                </a:solidFill>
                <a:latin typeface="Arial" pitchFamily="34" charset="0"/>
                <a:ea typeface="Arial" pitchFamily="34" charset="-122"/>
                <a:cs typeface="Arial" pitchFamily="34" charset="-120"/>
              </a:rPr>
              <a:t>⚙️  ChatbotAIController.php (Laravel)</a:t>
            </a:r>
            <a:endParaRPr lang="en-US" sz="1300" dirty="0"/>
          </a:p>
        </p:txBody>
      </p:sp>
      <p:sp>
        <p:nvSpPr>
          <p:cNvPr id="14" name="Text 12"/>
          <p:cNvSpPr/>
          <p:nvPr/>
        </p:nvSpPr>
        <p:spPr>
          <a:xfrm>
            <a:off x="411480" y="2743200"/>
            <a:ext cx="4114800" cy="274320"/>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1. Récupère message + historique + identifiants</a:t>
            </a:r>
            <a:endParaRPr lang="en-US" sz="1000" dirty="0"/>
          </a:p>
        </p:txBody>
      </p:sp>
      <p:sp>
        <p:nvSpPr>
          <p:cNvPr id="15" name="Text 13"/>
          <p:cNvSpPr/>
          <p:nvPr/>
        </p:nvSpPr>
        <p:spPr>
          <a:xfrm>
            <a:off x="411480" y="3035808"/>
            <a:ext cx="4114800" cy="274320"/>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2. Interroge la BASE DE DONNÉES (EDT, profs, alertes...)</a:t>
            </a:r>
            <a:endParaRPr lang="en-US" sz="1000" dirty="0"/>
          </a:p>
        </p:txBody>
      </p:sp>
      <p:sp>
        <p:nvSpPr>
          <p:cNvPr id="16" name="Text 14"/>
          <p:cNvSpPr/>
          <p:nvPr/>
        </p:nvSpPr>
        <p:spPr>
          <a:xfrm>
            <a:off x="411480" y="3328416"/>
            <a:ext cx="4114800" cy="274320"/>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3. Vérifie si une RECHERCHE WEB est nécessaire</a:t>
            </a:r>
            <a:endParaRPr lang="en-US" sz="1000" dirty="0"/>
          </a:p>
        </p:txBody>
      </p:sp>
      <p:sp>
        <p:nvSpPr>
          <p:cNvPr id="17" name="Text 15"/>
          <p:cNvSpPr/>
          <p:nvPr/>
        </p:nvSpPr>
        <p:spPr>
          <a:xfrm>
            <a:off x="4709160" y="2743200"/>
            <a:ext cx="4114800" cy="274320"/>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4. Construit le PROMPT SYSTÈME avec toutes les données</a:t>
            </a:r>
            <a:endParaRPr lang="en-US" sz="1000" dirty="0"/>
          </a:p>
        </p:txBody>
      </p:sp>
      <p:sp>
        <p:nvSpPr>
          <p:cNvPr id="18" name="Text 16"/>
          <p:cNvSpPr/>
          <p:nvPr/>
        </p:nvSpPr>
        <p:spPr>
          <a:xfrm>
            <a:off x="4709160" y="3035808"/>
            <a:ext cx="4114800" cy="274320"/>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5. Envoie à l'API GROQ</a:t>
            </a:r>
            <a:endParaRPr lang="en-US" sz="1000" dirty="0"/>
          </a:p>
        </p:txBody>
      </p:sp>
      <p:sp>
        <p:nvSpPr>
          <p:cNvPr id="19" name="Text 17"/>
          <p:cNvSpPr/>
          <p:nvPr/>
        </p:nvSpPr>
        <p:spPr>
          <a:xfrm>
            <a:off x="4709160" y="3328416"/>
            <a:ext cx="4114800" cy="274320"/>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6. Retourne JSON { message, action, params }</a:t>
            </a:r>
            <a:endParaRPr lang="en-US" sz="1000" dirty="0"/>
          </a:p>
        </p:txBody>
      </p:sp>
      <p:sp>
        <p:nvSpPr>
          <p:cNvPr id="20" name="Shape 18"/>
          <p:cNvSpPr/>
          <p:nvPr/>
        </p:nvSpPr>
        <p:spPr>
          <a:xfrm>
            <a:off x="274320" y="3794760"/>
            <a:ext cx="2880360" cy="1325880"/>
          </a:xfrm>
          <a:prstGeom prst="roundRect">
            <a:avLst>
              <a:gd name="adj" fmla="val 8276"/>
            </a:avLst>
          </a:prstGeom>
          <a:solidFill>
            <a:srgbClr val="DBEAFE"/>
          </a:solidFill>
          <a:ln w="19050">
            <a:solidFill>
              <a:srgbClr val="1B4FD8"/>
            </a:solidFill>
            <a:prstDash val="solid"/>
          </a:ln>
          <a:effectLst>
            <a:outerShdw blurRad="88900" dist="25400" dir="2700000" algn="bl" rotWithShape="0">
              <a:srgbClr val="000000">
                <a:alpha val="13000"/>
              </a:srgbClr>
            </a:outerShdw>
          </a:effectLst>
        </p:spPr>
      </p:sp>
      <p:sp>
        <p:nvSpPr>
          <p:cNvPr id="21" name="Text 19"/>
          <p:cNvSpPr/>
          <p:nvPr/>
        </p:nvSpPr>
        <p:spPr>
          <a:xfrm>
            <a:off x="365760" y="3840480"/>
            <a:ext cx="2697480" cy="347472"/>
          </a:xfrm>
          <a:prstGeom prst="rect">
            <a:avLst/>
          </a:prstGeom>
          <a:noFill/>
          <a:ln/>
        </p:spPr>
        <p:txBody>
          <a:bodyPr wrap="square" lIns="0" tIns="0" rIns="0" bIns="0" rtlCol="0" anchor="ctr"/>
          <a:lstStyle/>
          <a:p>
            <a:pPr marL="0" indent="0">
              <a:buNone/>
            </a:pPr>
            <a:r>
              <a:rPr lang="en-US" sz="1100" b="1" dirty="0">
                <a:solidFill>
                  <a:srgbClr val="1B4FD8"/>
                </a:solidFill>
                <a:latin typeface="Arial" pitchFamily="34" charset="0"/>
                <a:ea typeface="Arial" pitchFamily="34" charset="-122"/>
                <a:cs typeface="Arial" pitchFamily="34" charset="-120"/>
              </a:rPr>
              <a:t>🗄️ BASE MySQL</a:t>
            </a:r>
            <a:endParaRPr lang="en-US" sz="1100" dirty="0"/>
          </a:p>
        </p:txBody>
      </p:sp>
      <p:sp>
        <p:nvSpPr>
          <p:cNvPr id="22" name="Text 20"/>
          <p:cNvSpPr/>
          <p:nvPr/>
        </p:nvSpPr>
        <p:spPr>
          <a:xfrm>
            <a:off x="365760" y="4224528"/>
            <a:ext cx="2697480" cy="16459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  EDT complet</a:t>
            </a:r>
            <a:endParaRPr lang="en-US" sz="950" dirty="0"/>
          </a:p>
        </p:txBody>
      </p:sp>
      <p:sp>
        <p:nvSpPr>
          <p:cNvPr id="23" name="Text 21"/>
          <p:cNvSpPr/>
          <p:nvPr/>
        </p:nvSpPr>
        <p:spPr>
          <a:xfrm>
            <a:off x="365760" y="4389120"/>
            <a:ext cx="2697480" cy="16459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  Enseignants</a:t>
            </a:r>
            <a:endParaRPr lang="en-US" sz="950" dirty="0"/>
          </a:p>
        </p:txBody>
      </p:sp>
      <p:sp>
        <p:nvSpPr>
          <p:cNvPr id="24" name="Text 22"/>
          <p:cNvSpPr/>
          <p:nvPr/>
        </p:nvSpPr>
        <p:spPr>
          <a:xfrm>
            <a:off x="365760" y="4553712"/>
            <a:ext cx="2697480" cy="16459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  Étudiants</a:t>
            </a:r>
            <a:endParaRPr lang="en-US" sz="950" dirty="0"/>
          </a:p>
        </p:txBody>
      </p:sp>
      <p:sp>
        <p:nvSpPr>
          <p:cNvPr id="25" name="Text 23"/>
          <p:cNvSpPr/>
          <p:nvPr/>
        </p:nvSpPr>
        <p:spPr>
          <a:xfrm>
            <a:off x="365760" y="4718304"/>
            <a:ext cx="2697480" cy="16459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  Filières</a:t>
            </a:r>
            <a:endParaRPr lang="en-US" sz="950" dirty="0"/>
          </a:p>
        </p:txBody>
      </p:sp>
      <p:sp>
        <p:nvSpPr>
          <p:cNvPr id="26" name="Text 24"/>
          <p:cNvSpPr/>
          <p:nvPr/>
        </p:nvSpPr>
        <p:spPr>
          <a:xfrm>
            <a:off x="365760" y="4882896"/>
            <a:ext cx="2697480" cy="16459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  Annonces</a:t>
            </a:r>
            <a:endParaRPr lang="en-US" sz="950" dirty="0"/>
          </a:p>
        </p:txBody>
      </p:sp>
      <p:sp>
        <p:nvSpPr>
          <p:cNvPr id="27" name="Text 25"/>
          <p:cNvSpPr/>
          <p:nvPr/>
        </p:nvSpPr>
        <p:spPr>
          <a:xfrm>
            <a:off x="365760" y="5047488"/>
            <a:ext cx="2697480" cy="16459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  Notifications</a:t>
            </a:r>
            <a:endParaRPr lang="en-US" sz="950" dirty="0"/>
          </a:p>
        </p:txBody>
      </p:sp>
      <p:sp>
        <p:nvSpPr>
          <p:cNvPr id="28" name="Shape 26"/>
          <p:cNvSpPr/>
          <p:nvPr/>
        </p:nvSpPr>
        <p:spPr>
          <a:xfrm>
            <a:off x="3310128" y="3794760"/>
            <a:ext cx="2880360" cy="1325880"/>
          </a:xfrm>
          <a:prstGeom prst="roundRect">
            <a:avLst>
              <a:gd name="adj" fmla="val 8276"/>
            </a:avLst>
          </a:prstGeom>
          <a:solidFill>
            <a:srgbClr val="EDE9FE"/>
          </a:solidFill>
          <a:ln w="19050">
            <a:solidFill>
              <a:srgbClr val="4C1D95"/>
            </a:solidFill>
            <a:prstDash val="solid"/>
          </a:ln>
          <a:effectLst>
            <a:outerShdw blurRad="88900" dist="25400" dir="2700000" algn="bl" rotWithShape="0">
              <a:srgbClr val="000000">
                <a:alpha val="13000"/>
              </a:srgbClr>
            </a:outerShdw>
          </a:effectLst>
        </p:spPr>
      </p:sp>
      <p:sp>
        <p:nvSpPr>
          <p:cNvPr id="29" name="Text 27"/>
          <p:cNvSpPr/>
          <p:nvPr/>
        </p:nvSpPr>
        <p:spPr>
          <a:xfrm>
            <a:off x="3401568" y="3840480"/>
            <a:ext cx="2697480" cy="347472"/>
          </a:xfrm>
          <a:prstGeom prst="rect">
            <a:avLst/>
          </a:prstGeom>
          <a:noFill/>
          <a:ln/>
        </p:spPr>
        <p:txBody>
          <a:bodyPr wrap="square" lIns="0" tIns="0" rIns="0" bIns="0" rtlCol="0" anchor="ctr"/>
          <a:lstStyle/>
          <a:p>
            <a:pPr marL="0" indent="0">
              <a:buNone/>
            </a:pPr>
            <a:r>
              <a:rPr lang="en-US" sz="1100" b="1" dirty="0">
                <a:solidFill>
                  <a:srgbClr val="4C1D95"/>
                </a:solidFill>
                <a:latin typeface="Arial" pitchFamily="34" charset="0"/>
                <a:ea typeface="Arial" pitchFamily="34" charset="-122"/>
                <a:cs typeface="Arial" pitchFamily="34" charset="-120"/>
              </a:rPr>
              <a:t>🧠 API GROQ (LLaMA 3.1)</a:t>
            </a:r>
            <a:endParaRPr lang="en-US" sz="1100" dirty="0"/>
          </a:p>
        </p:txBody>
      </p:sp>
      <p:sp>
        <p:nvSpPr>
          <p:cNvPr id="30" name="Text 28"/>
          <p:cNvSpPr/>
          <p:nvPr/>
        </p:nvSpPr>
        <p:spPr>
          <a:xfrm>
            <a:off x="3401568" y="4224528"/>
            <a:ext cx="2697480" cy="16459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  llama-3.1-8b-instant</a:t>
            </a:r>
            <a:endParaRPr lang="en-US" sz="950" dirty="0"/>
          </a:p>
        </p:txBody>
      </p:sp>
      <p:sp>
        <p:nvSpPr>
          <p:cNvPr id="31" name="Text 29"/>
          <p:cNvSpPr/>
          <p:nvPr/>
        </p:nvSpPr>
        <p:spPr>
          <a:xfrm>
            <a:off x="3401568" y="4389120"/>
            <a:ext cx="2697480" cy="16459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  Multilingue FR/EN</a:t>
            </a:r>
            <a:endParaRPr lang="en-US" sz="950" dirty="0"/>
          </a:p>
        </p:txBody>
      </p:sp>
      <p:sp>
        <p:nvSpPr>
          <p:cNvPr id="32" name="Text 30"/>
          <p:cNvSpPr/>
          <p:nvPr/>
        </p:nvSpPr>
        <p:spPr>
          <a:xfrm>
            <a:off x="3401568" y="4553712"/>
            <a:ext cx="2697480" cy="16459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  Format OpenAI</a:t>
            </a:r>
            <a:endParaRPr lang="en-US" sz="950" dirty="0"/>
          </a:p>
        </p:txBody>
      </p:sp>
      <p:sp>
        <p:nvSpPr>
          <p:cNvPr id="33" name="Text 31"/>
          <p:cNvSpPr/>
          <p:nvPr/>
        </p:nvSpPr>
        <p:spPr>
          <a:xfrm>
            <a:off x="3401568" y="4718304"/>
            <a:ext cx="2697480" cy="16459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  &lt; 2 secondes</a:t>
            </a:r>
            <a:endParaRPr lang="en-US" sz="950" dirty="0"/>
          </a:p>
        </p:txBody>
      </p:sp>
      <p:sp>
        <p:nvSpPr>
          <p:cNvPr id="34" name="Shape 32"/>
          <p:cNvSpPr/>
          <p:nvPr/>
        </p:nvSpPr>
        <p:spPr>
          <a:xfrm>
            <a:off x="6345936" y="3794760"/>
            <a:ext cx="2880360" cy="1325880"/>
          </a:xfrm>
          <a:prstGeom prst="roundRect">
            <a:avLst>
              <a:gd name="adj" fmla="val 8276"/>
            </a:avLst>
          </a:prstGeom>
          <a:solidFill>
            <a:srgbClr val="E0F7FA"/>
          </a:solidFill>
          <a:ln w="19050">
            <a:solidFill>
              <a:srgbClr val="0EA5E9"/>
            </a:solidFill>
            <a:prstDash val="solid"/>
          </a:ln>
          <a:effectLst>
            <a:outerShdw blurRad="88900" dist="25400" dir="2700000" algn="bl" rotWithShape="0">
              <a:srgbClr val="000000">
                <a:alpha val="13000"/>
              </a:srgbClr>
            </a:outerShdw>
          </a:effectLst>
        </p:spPr>
      </p:sp>
      <p:sp>
        <p:nvSpPr>
          <p:cNvPr id="35" name="Text 33"/>
          <p:cNvSpPr/>
          <p:nvPr/>
        </p:nvSpPr>
        <p:spPr>
          <a:xfrm>
            <a:off x="6437376" y="3840480"/>
            <a:ext cx="2697480" cy="347472"/>
          </a:xfrm>
          <a:prstGeom prst="rect">
            <a:avLst/>
          </a:prstGeom>
          <a:noFill/>
          <a:ln/>
        </p:spPr>
        <p:txBody>
          <a:bodyPr wrap="square" lIns="0" tIns="0" rIns="0" bIns="0" rtlCol="0" anchor="ctr"/>
          <a:lstStyle/>
          <a:p>
            <a:pPr marL="0" indent="0">
              <a:buNone/>
            </a:pPr>
            <a:r>
              <a:rPr lang="en-US" sz="1100" b="1" dirty="0">
                <a:solidFill>
                  <a:srgbClr val="0EA5E9"/>
                </a:solidFill>
                <a:latin typeface="Arial" pitchFamily="34" charset="0"/>
                <a:ea typeface="Arial" pitchFamily="34" charset="-122"/>
                <a:cs typeface="Arial" pitchFamily="34" charset="-120"/>
              </a:rPr>
              <a:t>🌐 API TAVILY</a:t>
            </a:r>
            <a:endParaRPr lang="en-US" sz="1100" dirty="0"/>
          </a:p>
        </p:txBody>
      </p:sp>
      <p:sp>
        <p:nvSpPr>
          <p:cNvPr id="36" name="Text 34"/>
          <p:cNvSpPr/>
          <p:nvPr/>
        </p:nvSpPr>
        <p:spPr>
          <a:xfrm>
            <a:off x="6437376" y="4224528"/>
            <a:ext cx="2697480" cy="16459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  Recherche web</a:t>
            </a:r>
            <a:endParaRPr lang="en-US" sz="950" dirty="0"/>
          </a:p>
        </p:txBody>
      </p:sp>
      <p:sp>
        <p:nvSpPr>
          <p:cNvPr id="37" name="Text 35"/>
          <p:cNvSpPr/>
          <p:nvPr/>
        </p:nvSpPr>
        <p:spPr>
          <a:xfrm>
            <a:off x="6437376" y="4389120"/>
            <a:ext cx="2697480" cy="16459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  temps réel</a:t>
            </a:r>
            <a:endParaRPr lang="en-US" sz="950" dirty="0"/>
          </a:p>
        </p:txBody>
      </p:sp>
      <p:sp>
        <p:nvSpPr>
          <p:cNvPr id="38" name="Text 36"/>
          <p:cNvSpPr/>
          <p:nvPr/>
        </p:nvSpPr>
        <p:spPr>
          <a:xfrm>
            <a:off x="6437376" y="4553712"/>
            <a:ext cx="2697480" cy="16459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  1000 req/mois</a:t>
            </a:r>
            <a:endParaRPr lang="en-US" sz="950" dirty="0"/>
          </a:p>
        </p:txBody>
      </p:sp>
      <p:sp>
        <p:nvSpPr>
          <p:cNvPr id="39" name="Text 37"/>
          <p:cNvSpPr/>
          <p:nvPr/>
        </p:nvSpPr>
        <p:spPr>
          <a:xfrm>
            <a:off x="6437376" y="4718304"/>
            <a:ext cx="2697480" cy="16459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  Questions mondiales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0D1B2A"/>
          </a:solidFill>
          <a:ln w="12700">
            <a:solidFill>
              <a:srgbClr val="0D1B2A"/>
            </a:solidFill>
            <a:prstDash val="solid"/>
          </a:ln>
        </p:spPr>
      </p:sp>
      <p:sp>
        <p:nvSpPr>
          <p:cNvPr id="3" name="Text 1"/>
          <p:cNvSpPr/>
          <p:nvPr/>
        </p:nvSpPr>
        <p:spPr>
          <a:xfrm>
            <a:off x="457200" y="64008"/>
            <a:ext cx="8229600" cy="329184"/>
          </a:xfrm>
          <a:prstGeom prst="rect">
            <a:avLst/>
          </a:prstGeom>
          <a:noFill/>
          <a:ln/>
        </p:spPr>
        <p:txBody>
          <a:bodyPr wrap="square" lIns="0" tIns="0" rIns="0" bIns="0" rtlCol="0" anchor="ctr"/>
          <a:lstStyle/>
          <a:p>
            <a:pPr marL="0" indent="0">
              <a:buNone/>
            </a:pPr>
            <a:r>
              <a:rPr lang="en-US" sz="1000" b="1" kern="0" spc="400" dirty="0">
                <a:solidFill>
                  <a:srgbClr val="0EA5E9"/>
                </a:solidFill>
                <a:latin typeface="Arial" pitchFamily="34" charset="0"/>
                <a:ea typeface="Arial" pitchFamily="34" charset="-122"/>
                <a:cs typeface="Arial" pitchFamily="34" charset="-120"/>
              </a:rPr>
              <a:t>SECTION 5 — CONTROLLER</a:t>
            </a:r>
            <a:endParaRPr lang="en-US" sz="1000" dirty="0"/>
          </a:p>
        </p:txBody>
      </p:sp>
      <p:sp>
        <p:nvSpPr>
          <p:cNvPr id="4" name="Text 2"/>
          <p:cNvSpPr/>
          <p:nvPr/>
        </p:nvSpPr>
        <p:spPr>
          <a:xfrm>
            <a:off x="457200" y="402336"/>
            <a:ext cx="6217920" cy="493776"/>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ChatbotAIController — Méthode ask()</a:t>
            </a:r>
            <a:endParaRPr lang="en-US" sz="2000" dirty="0"/>
          </a:p>
        </p:txBody>
      </p:sp>
      <p:sp>
        <p:nvSpPr>
          <p:cNvPr id="5" name="Text 3"/>
          <p:cNvSpPr/>
          <p:nvPr/>
        </p:nvSpPr>
        <p:spPr>
          <a:xfrm>
            <a:off x="6400800" y="457200"/>
            <a:ext cx="2560320" cy="384048"/>
          </a:xfrm>
          <a:prstGeom prst="rect">
            <a:avLst/>
          </a:prstGeom>
          <a:noFill/>
          <a:ln/>
        </p:spPr>
        <p:txBody>
          <a:bodyPr wrap="square" lIns="0" tIns="0" rIns="0" bIns="0" rtlCol="0" anchor="ctr"/>
          <a:lstStyle/>
          <a:p>
            <a:pPr marL="0" indent="0" algn="r">
              <a:buNone/>
            </a:pPr>
            <a:r>
              <a:rPr lang="en-US" sz="1100" dirty="0">
                <a:solidFill>
                  <a:srgbClr val="0EA5E9"/>
                </a:solidFill>
                <a:latin typeface="Arial" pitchFamily="34" charset="0"/>
                <a:ea typeface="Arial" pitchFamily="34" charset="-122"/>
                <a:cs typeface="Arial" pitchFamily="34" charset="-120"/>
              </a:rPr>
              <a:t>Orchestration complète</a:t>
            </a:r>
            <a:endParaRPr lang="en-US" sz="1100" dirty="0"/>
          </a:p>
        </p:txBody>
      </p:sp>
      <p:sp>
        <p:nvSpPr>
          <p:cNvPr id="6" name="Shape 4"/>
          <p:cNvSpPr/>
          <p:nvPr/>
        </p:nvSpPr>
        <p:spPr>
          <a:xfrm>
            <a:off x="274320" y="1051560"/>
            <a:ext cx="4160520" cy="896112"/>
          </a:xfrm>
          <a:prstGeom prst="roundRect">
            <a:avLst>
              <a:gd name="adj" fmla="val 10204"/>
            </a:avLst>
          </a:prstGeom>
          <a:solidFill>
            <a:srgbClr val="DBEAFE"/>
          </a:solidFill>
          <a:ln w="15240">
            <a:solidFill>
              <a:srgbClr val="1B4FD8"/>
            </a:solidFill>
            <a:prstDash val="solid"/>
          </a:ln>
          <a:effectLst>
            <a:outerShdw blurRad="88900" dist="25400" dir="2700000" algn="bl" rotWithShape="0">
              <a:srgbClr val="000000">
                <a:alpha val="13000"/>
              </a:srgbClr>
            </a:outerShdw>
          </a:effectLst>
        </p:spPr>
      </p:sp>
      <p:sp>
        <p:nvSpPr>
          <p:cNvPr id="7" name="Shape 5"/>
          <p:cNvSpPr/>
          <p:nvPr/>
        </p:nvSpPr>
        <p:spPr>
          <a:xfrm>
            <a:off x="365760" y="1143000"/>
            <a:ext cx="457200" cy="457200"/>
          </a:xfrm>
          <a:prstGeom prst="ellipse">
            <a:avLst/>
          </a:prstGeom>
          <a:solidFill>
            <a:srgbClr val="1B4FD8"/>
          </a:solidFill>
          <a:ln w="12700">
            <a:solidFill>
              <a:srgbClr val="1B4FD8"/>
            </a:solidFill>
            <a:prstDash val="solid"/>
          </a:ln>
        </p:spPr>
      </p:sp>
      <p:sp>
        <p:nvSpPr>
          <p:cNvPr id="8" name="Text 6"/>
          <p:cNvSpPr/>
          <p:nvPr/>
        </p:nvSpPr>
        <p:spPr>
          <a:xfrm>
            <a:off x="365760" y="11430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9" name="Text 7"/>
          <p:cNvSpPr/>
          <p:nvPr/>
        </p:nvSpPr>
        <p:spPr>
          <a:xfrm>
            <a:off x="914400" y="1161288"/>
            <a:ext cx="3429000" cy="274320"/>
          </a:xfrm>
          <a:prstGeom prst="rect">
            <a:avLst/>
          </a:prstGeom>
          <a:noFill/>
          <a:ln/>
        </p:spPr>
        <p:txBody>
          <a:bodyPr wrap="square" lIns="0" tIns="0" rIns="0" bIns="0" rtlCol="0" anchor="ctr"/>
          <a:lstStyle/>
          <a:p>
            <a:pPr marL="0" indent="0">
              <a:buNone/>
            </a:pPr>
            <a:r>
              <a:rPr lang="en-US" sz="1150" b="1" dirty="0">
                <a:solidFill>
                  <a:srgbClr val="1B4FD8"/>
                </a:solidFill>
                <a:latin typeface="Arial" pitchFamily="34" charset="0"/>
                <a:ea typeface="Arial" pitchFamily="34" charset="-122"/>
                <a:cs typeface="Arial" pitchFamily="34" charset="-120"/>
              </a:rPr>
              <a:t>Récupération des paramètres</a:t>
            </a:r>
            <a:endParaRPr lang="en-US" sz="1150" dirty="0"/>
          </a:p>
        </p:txBody>
      </p:sp>
      <p:sp>
        <p:nvSpPr>
          <p:cNvPr id="10" name="Text 8"/>
          <p:cNvSpPr/>
          <p:nvPr/>
        </p:nvSpPr>
        <p:spPr>
          <a:xfrm>
            <a:off x="914400" y="1453896"/>
            <a:ext cx="3429000" cy="420624"/>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message, history[], filiere_id, niveau_id, enseignant_id depuis la requête HTTP POST</a:t>
            </a:r>
            <a:endParaRPr lang="en-US" sz="950" dirty="0"/>
          </a:p>
        </p:txBody>
      </p:sp>
      <p:sp>
        <p:nvSpPr>
          <p:cNvPr id="11" name="Shape 9"/>
          <p:cNvSpPr/>
          <p:nvPr/>
        </p:nvSpPr>
        <p:spPr>
          <a:xfrm>
            <a:off x="2560320" y="1947672"/>
            <a:ext cx="0" cy="91440"/>
          </a:xfrm>
          <a:prstGeom prst="line">
            <a:avLst/>
          </a:prstGeom>
          <a:noFill/>
          <a:ln w="12700">
            <a:solidFill>
              <a:srgbClr val="1B4FD8"/>
            </a:solidFill>
            <a:prstDash val="dash"/>
          </a:ln>
        </p:spPr>
      </p:sp>
      <p:sp>
        <p:nvSpPr>
          <p:cNvPr id="12" name="Shape 10"/>
          <p:cNvSpPr/>
          <p:nvPr/>
        </p:nvSpPr>
        <p:spPr>
          <a:xfrm>
            <a:off x="274320" y="2039112"/>
            <a:ext cx="4160520" cy="896112"/>
          </a:xfrm>
          <a:prstGeom prst="roundRect">
            <a:avLst>
              <a:gd name="adj" fmla="val 10204"/>
            </a:avLst>
          </a:prstGeom>
          <a:solidFill>
            <a:srgbClr val="D1FAE5"/>
          </a:solidFill>
          <a:ln w="15240">
            <a:solidFill>
              <a:srgbClr val="10B981"/>
            </a:solidFill>
            <a:prstDash val="solid"/>
          </a:ln>
          <a:effectLst>
            <a:outerShdw blurRad="88900" dist="25400" dir="2700000" algn="bl" rotWithShape="0">
              <a:srgbClr val="000000">
                <a:alpha val="13000"/>
              </a:srgbClr>
            </a:outerShdw>
          </a:effectLst>
        </p:spPr>
      </p:sp>
      <p:sp>
        <p:nvSpPr>
          <p:cNvPr id="13" name="Shape 11"/>
          <p:cNvSpPr/>
          <p:nvPr/>
        </p:nvSpPr>
        <p:spPr>
          <a:xfrm>
            <a:off x="365760" y="2130552"/>
            <a:ext cx="457200" cy="457200"/>
          </a:xfrm>
          <a:prstGeom prst="ellipse">
            <a:avLst/>
          </a:prstGeom>
          <a:solidFill>
            <a:srgbClr val="10B981"/>
          </a:solidFill>
          <a:ln w="12700">
            <a:solidFill>
              <a:srgbClr val="10B981"/>
            </a:solidFill>
            <a:prstDash val="solid"/>
          </a:ln>
        </p:spPr>
      </p:sp>
      <p:sp>
        <p:nvSpPr>
          <p:cNvPr id="14" name="Text 12"/>
          <p:cNvSpPr/>
          <p:nvPr/>
        </p:nvSpPr>
        <p:spPr>
          <a:xfrm>
            <a:off x="365760" y="213055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5" name="Text 13"/>
          <p:cNvSpPr/>
          <p:nvPr/>
        </p:nvSpPr>
        <p:spPr>
          <a:xfrm>
            <a:off x="914400" y="2148840"/>
            <a:ext cx="3429000" cy="274320"/>
          </a:xfrm>
          <a:prstGeom prst="rect">
            <a:avLst/>
          </a:prstGeom>
          <a:noFill/>
          <a:ln/>
        </p:spPr>
        <p:txBody>
          <a:bodyPr wrap="square" lIns="0" tIns="0" rIns="0" bIns="0" rtlCol="0" anchor="ctr"/>
          <a:lstStyle/>
          <a:p>
            <a:pPr marL="0" indent="0">
              <a:buNone/>
            </a:pPr>
            <a:r>
              <a:rPr lang="en-US" sz="1150" b="1" dirty="0">
                <a:solidFill>
                  <a:srgbClr val="10B981"/>
                </a:solidFill>
                <a:latin typeface="Arial" pitchFamily="34" charset="0"/>
                <a:ea typeface="Arial" pitchFamily="34" charset="-122"/>
                <a:cs typeface="Arial" pitchFamily="34" charset="-120"/>
              </a:rPr>
              <a:t>Identification utilisateur</a:t>
            </a:r>
            <a:endParaRPr lang="en-US" sz="1150" dirty="0"/>
          </a:p>
        </p:txBody>
      </p:sp>
      <p:sp>
        <p:nvSpPr>
          <p:cNvPr id="16" name="Text 14"/>
          <p:cNvSpPr/>
          <p:nvPr/>
        </p:nvSpPr>
        <p:spPr>
          <a:xfrm>
            <a:off x="914400" y="2441448"/>
            <a:ext cx="3429000" cy="420624"/>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Si authentifié → filière, niveau, rôle auto-injectés dans le contexte IA</a:t>
            </a:r>
            <a:endParaRPr lang="en-US" sz="950" dirty="0"/>
          </a:p>
        </p:txBody>
      </p:sp>
      <p:sp>
        <p:nvSpPr>
          <p:cNvPr id="17" name="Shape 15"/>
          <p:cNvSpPr/>
          <p:nvPr/>
        </p:nvSpPr>
        <p:spPr>
          <a:xfrm>
            <a:off x="2560320" y="2935224"/>
            <a:ext cx="0" cy="91440"/>
          </a:xfrm>
          <a:prstGeom prst="line">
            <a:avLst/>
          </a:prstGeom>
          <a:noFill/>
          <a:ln w="12700">
            <a:solidFill>
              <a:srgbClr val="10B981"/>
            </a:solidFill>
            <a:prstDash val="dash"/>
          </a:ln>
        </p:spPr>
      </p:sp>
      <p:sp>
        <p:nvSpPr>
          <p:cNvPr id="18" name="Shape 16"/>
          <p:cNvSpPr/>
          <p:nvPr/>
        </p:nvSpPr>
        <p:spPr>
          <a:xfrm>
            <a:off x="274320" y="3026664"/>
            <a:ext cx="4160520" cy="896112"/>
          </a:xfrm>
          <a:prstGeom prst="roundRect">
            <a:avLst>
              <a:gd name="adj" fmla="val 10204"/>
            </a:avLst>
          </a:prstGeom>
          <a:solidFill>
            <a:srgbClr val="EDE9FE"/>
          </a:solidFill>
          <a:ln w="15240">
            <a:solidFill>
              <a:srgbClr val="4C1D95"/>
            </a:solidFill>
            <a:prstDash val="solid"/>
          </a:ln>
          <a:effectLst>
            <a:outerShdw blurRad="88900" dist="25400" dir="2700000" algn="bl" rotWithShape="0">
              <a:srgbClr val="000000">
                <a:alpha val="13000"/>
              </a:srgbClr>
            </a:outerShdw>
          </a:effectLst>
        </p:spPr>
      </p:sp>
      <p:sp>
        <p:nvSpPr>
          <p:cNvPr id="19" name="Shape 17"/>
          <p:cNvSpPr/>
          <p:nvPr/>
        </p:nvSpPr>
        <p:spPr>
          <a:xfrm>
            <a:off x="365760" y="3118104"/>
            <a:ext cx="457200" cy="457200"/>
          </a:xfrm>
          <a:prstGeom prst="ellipse">
            <a:avLst/>
          </a:prstGeom>
          <a:solidFill>
            <a:srgbClr val="4C1D95"/>
          </a:solidFill>
          <a:ln w="12700">
            <a:solidFill>
              <a:srgbClr val="4C1D95"/>
            </a:solidFill>
            <a:prstDash val="solid"/>
          </a:ln>
        </p:spPr>
      </p:sp>
      <p:sp>
        <p:nvSpPr>
          <p:cNvPr id="20" name="Text 18"/>
          <p:cNvSpPr/>
          <p:nvPr/>
        </p:nvSpPr>
        <p:spPr>
          <a:xfrm>
            <a:off x="365760" y="311810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21" name="Text 19"/>
          <p:cNvSpPr/>
          <p:nvPr/>
        </p:nvSpPr>
        <p:spPr>
          <a:xfrm>
            <a:off x="914400" y="3136392"/>
            <a:ext cx="3429000" cy="274320"/>
          </a:xfrm>
          <a:prstGeom prst="rect">
            <a:avLst/>
          </a:prstGeom>
          <a:noFill/>
          <a:ln/>
        </p:spPr>
        <p:txBody>
          <a:bodyPr wrap="square" lIns="0" tIns="0" rIns="0" bIns="0" rtlCol="0" anchor="ctr"/>
          <a:lstStyle/>
          <a:p>
            <a:pPr marL="0" indent="0">
              <a:buNone/>
            </a:pPr>
            <a:r>
              <a:rPr lang="en-US" sz="1150" b="1" dirty="0">
                <a:solidFill>
                  <a:srgbClr val="4C1D95"/>
                </a:solidFill>
                <a:latin typeface="Arial" pitchFamily="34" charset="0"/>
                <a:ea typeface="Arial" pitchFamily="34" charset="-122"/>
                <a:cs typeface="Arial" pitchFamily="34" charset="-120"/>
              </a:rPr>
              <a:t>Collecte données BDD</a:t>
            </a:r>
            <a:endParaRPr lang="en-US" sz="1150" dirty="0"/>
          </a:p>
        </p:txBody>
      </p:sp>
      <p:sp>
        <p:nvSpPr>
          <p:cNvPr id="22" name="Text 20"/>
          <p:cNvSpPr/>
          <p:nvPr/>
        </p:nvSpPr>
        <p:spPr>
          <a:xfrm>
            <a:off x="914400" y="3429000"/>
            <a:ext cx="3429000" cy="420624"/>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8 méthodes de collecte en parallèle : EDT, alertes, annonces, filières, niveaux, stats, enseignants, étudiants</a:t>
            </a:r>
            <a:endParaRPr lang="en-US" sz="950" dirty="0"/>
          </a:p>
        </p:txBody>
      </p:sp>
      <p:sp>
        <p:nvSpPr>
          <p:cNvPr id="23" name="Shape 21"/>
          <p:cNvSpPr/>
          <p:nvPr/>
        </p:nvSpPr>
        <p:spPr>
          <a:xfrm>
            <a:off x="2560320" y="3922776"/>
            <a:ext cx="0" cy="91440"/>
          </a:xfrm>
          <a:prstGeom prst="line">
            <a:avLst/>
          </a:prstGeom>
          <a:noFill/>
          <a:ln w="12700">
            <a:solidFill>
              <a:srgbClr val="4C1D95"/>
            </a:solidFill>
            <a:prstDash val="dash"/>
          </a:ln>
        </p:spPr>
      </p:sp>
      <p:sp>
        <p:nvSpPr>
          <p:cNvPr id="24" name="Shape 22"/>
          <p:cNvSpPr/>
          <p:nvPr/>
        </p:nvSpPr>
        <p:spPr>
          <a:xfrm>
            <a:off x="274320" y="4014216"/>
            <a:ext cx="4160520" cy="896112"/>
          </a:xfrm>
          <a:prstGeom prst="roundRect">
            <a:avLst>
              <a:gd name="adj" fmla="val 10204"/>
            </a:avLst>
          </a:prstGeom>
          <a:solidFill>
            <a:srgbClr val="E0F7FA"/>
          </a:solidFill>
          <a:ln w="15240">
            <a:solidFill>
              <a:srgbClr val="0EA5E9"/>
            </a:solidFill>
            <a:prstDash val="solid"/>
          </a:ln>
          <a:effectLst>
            <a:outerShdw blurRad="88900" dist="25400" dir="2700000" algn="bl" rotWithShape="0">
              <a:srgbClr val="000000">
                <a:alpha val="13000"/>
              </a:srgbClr>
            </a:outerShdw>
          </a:effectLst>
        </p:spPr>
      </p:sp>
      <p:sp>
        <p:nvSpPr>
          <p:cNvPr id="25" name="Shape 23"/>
          <p:cNvSpPr/>
          <p:nvPr/>
        </p:nvSpPr>
        <p:spPr>
          <a:xfrm>
            <a:off x="365760" y="4105656"/>
            <a:ext cx="457200" cy="457200"/>
          </a:xfrm>
          <a:prstGeom prst="ellipse">
            <a:avLst/>
          </a:prstGeom>
          <a:solidFill>
            <a:srgbClr val="0EA5E9"/>
          </a:solidFill>
          <a:ln w="12700">
            <a:solidFill>
              <a:srgbClr val="0EA5E9"/>
            </a:solidFill>
            <a:prstDash val="solid"/>
          </a:ln>
        </p:spPr>
      </p:sp>
      <p:sp>
        <p:nvSpPr>
          <p:cNvPr id="26" name="Text 24"/>
          <p:cNvSpPr/>
          <p:nvPr/>
        </p:nvSpPr>
        <p:spPr>
          <a:xfrm>
            <a:off x="365760" y="410565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7" name="Text 25"/>
          <p:cNvSpPr/>
          <p:nvPr/>
        </p:nvSpPr>
        <p:spPr>
          <a:xfrm>
            <a:off x="914400" y="4123944"/>
            <a:ext cx="3429000" cy="274320"/>
          </a:xfrm>
          <a:prstGeom prst="rect">
            <a:avLst/>
          </a:prstGeom>
          <a:noFill/>
          <a:ln/>
        </p:spPr>
        <p:txBody>
          <a:bodyPr wrap="square" lIns="0" tIns="0" rIns="0" bIns="0" rtlCol="0" anchor="ctr"/>
          <a:lstStyle/>
          <a:p>
            <a:pPr marL="0" indent="0">
              <a:buNone/>
            </a:pPr>
            <a:r>
              <a:rPr lang="en-US" sz="1150" b="1" dirty="0">
                <a:solidFill>
                  <a:srgbClr val="0EA5E9"/>
                </a:solidFill>
                <a:latin typeface="Arial" pitchFamily="34" charset="0"/>
                <a:ea typeface="Arial" pitchFamily="34" charset="-122"/>
                <a:cs typeface="Arial" pitchFamily="34" charset="-120"/>
              </a:rPr>
              <a:t>Décision recherche web</a:t>
            </a:r>
            <a:endParaRPr lang="en-US" sz="1150" dirty="0"/>
          </a:p>
        </p:txBody>
      </p:sp>
      <p:sp>
        <p:nvSpPr>
          <p:cNvPr id="28" name="Text 26"/>
          <p:cNvSpPr/>
          <p:nvPr/>
        </p:nvSpPr>
        <p:spPr>
          <a:xfrm>
            <a:off x="914400" y="4416552"/>
            <a:ext cx="3429000" cy="420624"/>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needsWebSearch() analyse la question → si hors application → Tavily lancé</a:t>
            </a:r>
            <a:endParaRPr lang="en-US" sz="950" dirty="0"/>
          </a:p>
        </p:txBody>
      </p:sp>
      <p:sp>
        <p:nvSpPr>
          <p:cNvPr id="29" name="Shape 27"/>
          <p:cNvSpPr/>
          <p:nvPr/>
        </p:nvSpPr>
        <p:spPr>
          <a:xfrm>
            <a:off x="2560320" y="4910328"/>
            <a:ext cx="4023360" cy="0"/>
          </a:xfrm>
          <a:prstGeom prst="line">
            <a:avLst/>
          </a:prstGeom>
          <a:noFill/>
          <a:ln w="12700">
            <a:solidFill>
              <a:srgbClr val="94A3B8"/>
            </a:solidFill>
            <a:prstDash val="dash"/>
          </a:ln>
        </p:spPr>
      </p:sp>
      <p:sp>
        <p:nvSpPr>
          <p:cNvPr id="30" name="Shape 28"/>
          <p:cNvSpPr/>
          <p:nvPr/>
        </p:nvSpPr>
        <p:spPr>
          <a:xfrm>
            <a:off x="4572000" y="1051560"/>
            <a:ext cx="4160520" cy="896112"/>
          </a:xfrm>
          <a:prstGeom prst="roundRect">
            <a:avLst>
              <a:gd name="adj" fmla="val 10204"/>
            </a:avLst>
          </a:prstGeom>
          <a:solidFill>
            <a:srgbClr val="FEF3C7"/>
          </a:solidFill>
          <a:ln w="15240">
            <a:solidFill>
              <a:srgbClr val="F59E0B"/>
            </a:solidFill>
            <a:prstDash val="solid"/>
          </a:ln>
          <a:effectLst>
            <a:outerShdw blurRad="88900" dist="25400" dir="2700000" algn="bl" rotWithShape="0">
              <a:srgbClr val="000000">
                <a:alpha val="13000"/>
              </a:srgbClr>
            </a:outerShdw>
          </a:effectLst>
        </p:spPr>
      </p:sp>
      <p:sp>
        <p:nvSpPr>
          <p:cNvPr id="31" name="Shape 29"/>
          <p:cNvSpPr/>
          <p:nvPr/>
        </p:nvSpPr>
        <p:spPr>
          <a:xfrm>
            <a:off x="4663440" y="1143000"/>
            <a:ext cx="457200" cy="457200"/>
          </a:xfrm>
          <a:prstGeom prst="ellipse">
            <a:avLst/>
          </a:prstGeom>
          <a:solidFill>
            <a:srgbClr val="F59E0B"/>
          </a:solidFill>
          <a:ln w="12700">
            <a:solidFill>
              <a:srgbClr val="F59E0B"/>
            </a:solidFill>
            <a:prstDash val="solid"/>
          </a:ln>
        </p:spPr>
      </p:sp>
      <p:sp>
        <p:nvSpPr>
          <p:cNvPr id="32" name="Text 30"/>
          <p:cNvSpPr/>
          <p:nvPr/>
        </p:nvSpPr>
        <p:spPr>
          <a:xfrm>
            <a:off x="4663440" y="11430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33" name="Text 31"/>
          <p:cNvSpPr/>
          <p:nvPr/>
        </p:nvSpPr>
        <p:spPr>
          <a:xfrm>
            <a:off x="5212080" y="1161288"/>
            <a:ext cx="3429000" cy="274320"/>
          </a:xfrm>
          <a:prstGeom prst="rect">
            <a:avLst/>
          </a:prstGeom>
          <a:noFill/>
          <a:ln/>
        </p:spPr>
        <p:txBody>
          <a:bodyPr wrap="square" lIns="0" tIns="0" rIns="0" bIns="0" rtlCol="0" anchor="ctr"/>
          <a:lstStyle/>
          <a:p>
            <a:pPr marL="0" indent="0">
              <a:buNone/>
            </a:pPr>
            <a:r>
              <a:rPr lang="en-US" sz="1150" b="1" dirty="0">
                <a:solidFill>
                  <a:srgbClr val="F59E0B"/>
                </a:solidFill>
                <a:latin typeface="Arial" pitchFamily="34" charset="0"/>
                <a:ea typeface="Arial" pitchFamily="34" charset="-122"/>
                <a:cs typeface="Arial" pitchFamily="34" charset="-120"/>
              </a:rPr>
              <a:t>Construction prompt système</a:t>
            </a:r>
            <a:endParaRPr lang="en-US" sz="1150" dirty="0"/>
          </a:p>
        </p:txBody>
      </p:sp>
      <p:sp>
        <p:nvSpPr>
          <p:cNvPr id="34" name="Text 32"/>
          <p:cNvSpPr/>
          <p:nvPr/>
        </p:nvSpPr>
        <p:spPr>
          <a:xfrm>
            <a:off x="5212080" y="1453896"/>
            <a:ext cx="3429000" cy="420624"/>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buildSystemPrompt() intègre toutes les données dans un texte structuré d'instructions</a:t>
            </a:r>
            <a:endParaRPr lang="en-US" sz="950" dirty="0"/>
          </a:p>
        </p:txBody>
      </p:sp>
      <p:sp>
        <p:nvSpPr>
          <p:cNvPr id="35" name="Shape 33"/>
          <p:cNvSpPr/>
          <p:nvPr/>
        </p:nvSpPr>
        <p:spPr>
          <a:xfrm>
            <a:off x="4572000" y="2039112"/>
            <a:ext cx="4160520" cy="896112"/>
          </a:xfrm>
          <a:prstGeom prst="roundRect">
            <a:avLst>
              <a:gd name="adj" fmla="val 10204"/>
            </a:avLst>
          </a:prstGeom>
          <a:solidFill>
            <a:srgbClr val="FED7AA"/>
          </a:solidFill>
          <a:ln w="15240">
            <a:solidFill>
              <a:srgbClr val="EA580C"/>
            </a:solidFill>
            <a:prstDash val="solid"/>
          </a:ln>
          <a:effectLst>
            <a:outerShdw blurRad="88900" dist="25400" dir="2700000" algn="bl" rotWithShape="0">
              <a:srgbClr val="000000">
                <a:alpha val="13000"/>
              </a:srgbClr>
            </a:outerShdw>
          </a:effectLst>
        </p:spPr>
      </p:sp>
      <p:sp>
        <p:nvSpPr>
          <p:cNvPr id="36" name="Shape 34"/>
          <p:cNvSpPr/>
          <p:nvPr/>
        </p:nvSpPr>
        <p:spPr>
          <a:xfrm>
            <a:off x="4663440" y="2130552"/>
            <a:ext cx="457200" cy="457200"/>
          </a:xfrm>
          <a:prstGeom prst="ellipse">
            <a:avLst/>
          </a:prstGeom>
          <a:solidFill>
            <a:srgbClr val="EA580C"/>
          </a:solidFill>
          <a:ln w="12700">
            <a:solidFill>
              <a:srgbClr val="EA580C"/>
            </a:solidFill>
            <a:prstDash val="solid"/>
          </a:ln>
        </p:spPr>
      </p:sp>
      <p:sp>
        <p:nvSpPr>
          <p:cNvPr id="37" name="Text 35"/>
          <p:cNvSpPr/>
          <p:nvPr/>
        </p:nvSpPr>
        <p:spPr>
          <a:xfrm>
            <a:off x="4663440" y="213055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38" name="Text 36"/>
          <p:cNvSpPr/>
          <p:nvPr/>
        </p:nvSpPr>
        <p:spPr>
          <a:xfrm>
            <a:off x="5212080" y="2148840"/>
            <a:ext cx="3429000" cy="274320"/>
          </a:xfrm>
          <a:prstGeom prst="rect">
            <a:avLst/>
          </a:prstGeom>
          <a:noFill/>
          <a:ln/>
        </p:spPr>
        <p:txBody>
          <a:bodyPr wrap="square" lIns="0" tIns="0" rIns="0" bIns="0" rtlCol="0" anchor="ctr"/>
          <a:lstStyle/>
          <a:p>
            <a:pPr marL="0" indent="0">
              <a:buNone/>
            </a:pPr>
            <a:r>
              <a:rPr lang="en-US" sz="1150" b="1" dirty="0">
                <a:solidFill>
                  <a:srgbClr val="EA580C"/>
                </a:solidFill>
                <a:latin typeface="Arial" pitchFamily="34" charset="0"/>
                <a:ea typeface="Arial" pitchFamily="34" charset="-122"/>
                <a:cs typeface="Arial" pitchFamily="34" charset="-120"/>
              </a:rPr>
              <a:t>Appel API Groq</a:t>
            </a:r>
            <a:endParaRPr lang="en-US" sz="1150" dirty="0"/>
          </a:p>
        </p:txBody>
      </p:sp>
      <p:sp>
        <p:nvSpPr>
          <p:cNvPr id="39" name="Text 37"/>
          <p:cNvSpPr/>
          <p:nvPr/>
        </p:nvSpPr>
        <p:spPr>
          <a:xfrm>
            <a:off x="5212080" y="2441448"/>
            <a:ext cx="3429000" cy="420624"/>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HTTP POST vers api.groq.com avec model=llama-3.1-8b-instant et messages[]</a:t>
            </a:r>
            <a:endParaRPr lang="en-US" sz="950" dirty="0"/>
          </a:p>
        </p:txBody>
      </p:sp>
      <p:sp>
        <p:nvSpPr>
          <p:cNvPr id="40" name="Shape 38"/>
          <p:cNvSpPr/>
          <p:nvPr/>
        </p:nvSpPr>
        <p:spPr>
          <a:xfrm>
            <a:off x="4572000" y="3026664"/>
            <a:ext cx="4160520" cy="896112"/>
          </a:xfrm>
          <a:prstGeom prst="roundRect">
            <a:avLst>
              <a:gd name="adj" fmla="val 10204"/>
            </a:avLst>
          </a:prstGeom>
          <a:solidFill>
            <a:srgbClr val="FEE2E2"/>
          </a:solidFill>
          <a:ln w="15240">
            <a:solidFill>
              <a:srgbClr val="EF4444"/>
            </a:solidFill>
            <a:prstDash val="solid"/>
          </a:ln>
          <a:effectLst>
            <a:outerShdw blurRad="88900" dist="25400" dir="2700000" algn="bl" rotWithShape="0">
              <a:srgbClr val="000000">
                <a:alpha val="13000"/>
              </a:srgbClr>
            </a:outerShdw>
          </a:effectLst>
        </p:spPr>
      </p:sp>
      <p:sp>
        <p:nvSpPr>
          <p:cNvPr id="41" name="Shape 39"/>
          <p:cNvSpPr/>
          <p:nvPr/>
        </p:nvSpPr>
        <p:spPr>
          <a:xfrm>
            <a:off x="4663440" y="3118104"/>
            <a:ext cx="457200" cy="457200"/>
          </a:xfrm>
          <a:prstGeom prst="ellipse">
            <a:avLst/>
          </a:prstGeom>
          <a:solidFill>
            <a:srgbClr val="EF4444"/>
          </a:solidFill>
          <a:ln w="12700">
            <a:solidFill>
              <a:srgbClr val="EF4444"/>
            </a:solidFill>
            <a:prstDash val="solid"/>
          </a:ln>
        </p:spPr>
      </p:sp>
      <p:sp>
        <p:nvSpPr>
          <p:cNvPr id="42" name="Text 40"/>
          <p:cNvSpPr/>
          <p:nvPr/>
        </p:nvSpPr>
        <p:spPr>
          <a:xfrm>
            <a:off x="4663440" y="311810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7</a:t>
            </a:r>
            <a:endParaRPr lang="en-US" sz="1600" dirty="0"/>
          </a:p>
        </p:txBody>
      </p:sp>
      <p:sp>
        <p:nvSpPr>
          <p:cNvPr id="43" name="Text 41"/>
          <p:cNvSpPr/>
          <p:nvPr/>
        </p:nvSpPr>
        <p:spPr>
          <a:xfrm>
            <a:off x="5212080" y="3136392"/>
            <a:ext cx="3429000" cy="274320"/>
          </a:xfrm>
          <a:prstGeom prst="rect">
            <a:avLst/>
          </a:prstGeom>
          <a:noFill/>
          <a:ln/>
        </p:spPr>
        <p:txBody>
          <a:bodyPr wrap="square" lIns="0" tIns="0" rIns="0" bIns="0" rtlCol="0" anchor="ctr"/>
          <a:lstStyle/>
          <a:p>
            <a:pPr marL="0" indent="0">
              <a:buNone/>
            </a:pPr>
            <a:r>
              <a:rPr lang="en-US" sz="1150" b="1" dirty="0">
                <a:solidFill>
                  <a:srgbClr val="EF4444"/>
                </a:solidFill>
                <a:latin typeface="Arial" pitchFamily="34" charset="0"/>
                <a:ea typeface="Arial" pitchFamily="34" charset="-122"/>
                <a:cs typeface="Arial" pitchFamily="34" charset="-120"/>
              </a:rPr>
              <a:t>Retour JSON structuré</a:t>
            </a:r>
            <a:endParaRPr lang="en-US" sz="1150" dirty="0"/>
          </a:p>
        </p:txBody>
      </p:sp>
      <p:sp>
        <p:nvSpPr>
          <p:cNvPr id="44" name="Text 42"/>
          <p:cNvSpPr/>
          <p:nvPr/>
        </p:nvSpPr>
        <p:spPr>
          <a:xfrm>
            <a:off x="5212080" y="3429000"/>
            <a:ext cx="3429000" cy="420624"/>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{"message": "...", "action": "show_edt_jour", "params": {filiere_id, niveau_id}}</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0D1B2A"/>
          </a:solidFill>
          <a:ln w="12700">
            <a:solidFill>
              <a:srgbClr val="0D1B2A"/>
            </a:solidFill>
            <a:prstDash val="solid"/>
          </a:ln>
        </p:spPr>
      </p:sp>
      <p:sp>
        <p:nvSpPr>
          <p:cNvPr id="3" name="Text 1"/>
          <p:cNvSpPr/>
          <p:nvPr/>
        </p:nvSpPr>
        <p:spPr>
          <a:xfrm>
            <a:off x="457200" y="64008"/>
            <a:ext cx="8229600" cy="329184"/>
          </a:xfrm>
          <a:prstGeom prst="rect">
            <a:avLst/>
          </a:prstGeom>
          <a:noFill/>
          <a:ln/>
        </p:spPr>
        <p:txBody>
          <a:bodyPr wrap="square" lIns="0" tIns="0" rIns="0" bIns="0" rtlCol="0" anchor="ctr"/>
          <a:lstStyle/>
          <a:p>
            <a:pPr marL="0" indent="0">
              <a:buNone/>
            </a:pPr>
            <a:r>
              <a:rPr lang="en-US" sz="1000" b="1" kern="0" spc="400" dirty="0">
                <a:solidFill>
                  <a:srgbClr val="0EA5E9"/>
                </a:solidFill>
                <a:latin typeface="Arial" pitchFamily="34" charset="0"/>
                <a:ea typeface="Arial" pitchFamily="34" charset="-122"/>
                <a:cs typeface="Arial" pitchFamily="34" charset="-120"/>
              </a:rPr>
              <a:t>SECTION 6 — ACCÈS BDD</a:t>
            </a:r>
            <a:endParaRPr lang="en-US" sz="1000" dirty="0"/>
          </a:p>
        </p:txBody>
      </p:sp>
      <p:sp>
        <p:nvSpPr>
          <p:cNvPr id="4" name="Text 2"/>
          <p:cNvSpPr/>
          <p:nvPr/>
        </p:nvSpPr>
        <p:spPr>
          <a:xfrm>
            <a:off x="457200" y="402336"/>
            <a:ext cx="6217920" cy="493776"/>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Les 8 méthodes de collecte de données</a:t>
            </a:r>
            <a:endParaRPr lang="en-US" sz="2000" dirty="0"/>
          </a:p>
        </p:txBody>
      </p:sp>
      <p:sp>
        <p:nvSpPr>
          <p:cNvPr id="5" name="Text 3"/>
          <p:cNvSpPr/>
          <p:nvPr/>
        </p:nvSpPr>
        <p:spPr>
          <a:xfrm>
            <a:off x="6400800" y="457200"/>
            <a:ext cx="2560320" cy="384048"/>
          </a:xfrm>
          <a:prstGeom prst="rect">
            <a:avLst/>
          </a:prstGeom>
          <a:noFill/>
          <a:ln/>
        </p:spPr>
        <p:txBody>
          <a:bodyPr wrap="square" lIns="0" tIns="0" rIns="0" bIns="0" rtlCol="0" anchor="ctr"/>
          <a:lstStyle/>
          <a:p>
            <a:pPr marL="0" indent="0" algn="r">
              <a:buNone/>
            </a:pPr>
            <a:r>
              <a:rPr lang="en-US" sz="1100" dirty="0">
                <a:solidFill>
                  <a:srgbClr val="0EA5E9"/>
                </a:solidFill>
                <a:latin typeface="Arial" pitchFamily="34" charset="0"/>
                <a:ea typeface="Arial" pitchFamily="34" charset="-122"/>
                <a:cs typeface="Arial" pitchFamily="34" charset="-120"/>
              </a:rPr>
              <a:t>Photographie fraîche à chaque requête</a:t>
            </a:r>
            <a:endParaRPr lang="en-US" sz="1100" dirty="0"/>
          </a:p>
        </p:txBody>
      </p:sp>
      <p:sp>
        <p:nvSpPr>
          <p:cNvPr id="6" name="Shape 4"/>
          <p:cNvSpPr/>
          <p:nvPr/>
        </p:nvSpPr>
        <p:spPr>
          <a:xfrm>
            <a:off x="274320" y="1051560"/>
            <a:ext cx="8595360" cy="530352"/>
          </a:xfrm>
          <a:prstGeom prst="roundRect">
            <a:avLst>
              <a:gd name="adj" fmla="val 17241"/>
            </a:avLst>
          </a:prstGeom>
          <a:solidFill>
            <a:srgbClr val="D1FAE5"/>
          </a:solidFill>
          <a:ln w="19050">
            <a:solidFill>
              <a:srgbClr val="10B981"/>
            </a:solidFill>
            <a:prstDash val="solid"/>
          </a:ln>
        </p:spPr>
      </p:sp>
      <p:sp>
        <p:nvSpPr>
          <p:cNvPr id="7" name="Text 5"/>
          <p:cNvSpPr/>
          <p:nvPr/>
        </p:nvSpPr>
        <p:spPr>
          <a:xfrm>
            <a:off x="411480" y="1078992"/>
            <a:ext cx="8321040" cy="457200"/>
          </a:xfrm>
          <a:prstGeom prst="rect">
            <a:avLst/>
          </a:prstGeom>
          <a:noFill/>
          <a:ln/>
        </p:spPr>
        <p:txBody>
          <a:bodyPr wrap="square" lIns="0" tIns="0" rIns="0" bIns="0" rtlCol="0" anchor="ctr"/>
          <a:lstStyle/>
          <a:p>
            <a:pPr marL="0" indent="0">
              <a:buNone/>
            </a:pPr>
            <a:r>
              <a:rPr lang="en-US" sz="1100" b="1" dirty="0">
                <a:solidFill>
                  <a:srgbClr val="10B981"/>
                </a:solidFill>
                <a:latin typeface="Arial" pitchFamily="34" charset="0"/>
                <a:ea typeface="Arial" pitchFamily="34" charset="-122"/>
                <a:cs typeface="Arial" pitchFamily="34" charset="-120"/>
              </a:rPr>
              <a:t>💡  Principe clé : À chaque message de l'utilisateur, l'IA reçoit une 'photographie' complète et fraîche de la BDD. Si un chef modifie un horaire à 14h00 et qu'un étudiant pose une question à 14h01 → l'IA donne déjà le bon horaire.</a:t>
            </a:r>
            <a:endParaRPr lang="en-US" sz="1100" dirty="0"/>
          </a:p>
        </p:txBody>
      </p:sp>
      <p:sp>
        <p:nvSpPr>
          <p:cNvPr id="8" name="Shape 6"/>
          <p:cNvSpPr/>
          <p:nvPr/>
        </p:nvSpPr>
        <p:spPr>
          <a:xfrm>
            <a:off x="274320" y="1691640"/>
            <a:ext cx="4206240" cy="685800"/>
          </a:xfrm>
          <a:prstGeom prst="roundRect">
            <a:avLst>
              <a:gd name="adj" fmla="val 13333"/>
            </a:avLst>
          </a:prstGeom>
          <a:solidFill>
            <a:srgbClr val="DBEAFE"/>
          </a:solidFill>
          <a:ln w="15240">
            <a:solidFill>
              <a:srgbClr val="1B4FD8"/>
            </a:solidFill>
            <a:prstDash val="solid"/>
          </a:ln>
          <a:effectLst>
            <a:outerShdw blurRad="88900" dist="25400" dir="2700000" algn="bl" rotWithShape="0">
              <a:srgbClr val="000000">
                <a:alpha val="13000"/>
              </a:srgbClr>
            </a:outerShdw>
          </a:effectLst>
        </p:spPr>
      </p:sp>
      <p:sp>
        <p:nvSpPr>
          <p:cNvPr id="9" name="Shape 7"/>
          <p:cNvSpPr/>
          <p:nvPr/>
        </p:nvSpPr>
        <p:spPr>
          <a:xfrm>
            <a:off x="274320" y="1691640"/>
            <a:ext cx="1691640" cy="685800"/>
          </a:xfrm>
          <a:prstGeom prst="roundRect">
            <a:avLst>
              <a:gd name="adj" fmla="val 13333"/>
            </a:avLst>
          </a:prstGeom>
          <a:solidFill>
            <a:srgbClr val="1B4FD8"/>
          </a:solidFill>
          <a:ln w="12700">
            <a:solidFill>
              <a:srgbClr val="1B4FD8"/>
            </a:solidFill>
            <a:prstDash val="solid"/>
          </a:ln>
        </p:spPr>
      </p:sp>
      <p:sp>
        <p:nvSpPr>
          <p:cNvPr id="10" name="Text 8"/>
          <p:cNvSpPr/>
          <p:nvPr/>
        </p:nvSpPr>
        <p:spPr>
          <a:xfrm>
            <a:off x="274320" y="1691640"/>
            <a:ext cx="1691640" cy="685800"/>
          </a:xfrm>
          <a:prstGeom prst="rect">
            <a:avLst/>
          </a:prstGeom>
          <a:noFill/>
          <a:ln/>
        </p:spPr>
        <p:txBody>
          <a:bodyPr wrap="square" lIns="0" tIns="0" rIns="0" bIns="0" rtlCol="0" anchor="ctr"/>
          <a:lstStyle/>
          <a:p>
            <a:pPr marL="0" indent="0" algn="ctr">
              <a:buNone/>
            </a:pPr>
            <a:r>
              <a:rPr lang="en-US" sz="950" b="1" dirty="0">
                <a:solidFill>
                  <a:srgbClr val="FFFFFF"/>
                </a:solidFill>
                <a:latin typeface="Courier New" pitchFamily="34" charset="0"/>
                <a:ea typeface="Courier New" pitchFamily="34" charset="-122"/>
                <a:cs typeface="Courier New" pitchFamily="34" charset="-120"/>
              </a:rPr>
              <a:t>fetchEdt()</a:t>
            </a:r>
            <a:endParaRPr lang="en-US" sz="950" dirty="0"/>
          </a:p>
        </p:txBody>
      </p:sp>
      <p:sp>
        <p:nvSpPr>
          <p:cNvPr id="11" name="Text 9"/>
          <p:cNvSpPr/>
          <p:nvPr/>
        </p:nvSpPr>
        <p:spPr>
          <a:xfrm>
            <a:off x="2029968" y="1746504"/>
            <a:ext cx="2377440" cy="34747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Emplois du temps (jour, heure, matière, enseignant, salle)</a:t>
            </a:r>
            <a:endParaRPr lang="en-US" sz="950" dirty="0"/>
          </a:p>
        </p:txBody>
      </p:sp>
      <p:sp>
        <p:nvSpPr>
          <p:cNvPr id="12" name="Text 10"/>
          <p:cNvSpPr/>
          <p:nvPr/>
        </p:nvSpPr>
        <p:spPr>
          <a:xfrm>
            <a:off x="2029968" y="2112264"/>
            <a:ext cx="2377440" cy="219456"/>
          </a:xfrm>
          <a:prstGeom prst="rect">
            <a:avLst/>
          </a:prstGeom>
          <a:noFill/>
          <a:ln/>
        </p:spPr>
        <p:txBody>
          <a:bodyPr wrap="square" lIns="0" tIns="0" rIns="0" bIns="0" rtlCol="0" anchor="ctr"/>
          <a:lstStyle/>
          <a:p>
            <a:pPr marL="0" indent="0">
              <a:buNone/>
            </a:pPr>
            <a:r>
              <a:rPr lang="en-US" sz="850" dirty="0">
                <a:solidFill>
                  <a:srgbClr val="1B4FD8"/>
                </a:solidFill>
                <a:latin typeface="Arial" pitchFamily="34" charset="0"/>
                <a:ea typeface="Arial" pitchFamily="34" charset="-122"/>
                <a:cs typeface="Arial" pitchFamily="34" charset="-120"/>
              </a:rPr>
              <a:t>Filtre: Par filière + niveau + enseignant</a:t>
            </a:r>
            <a:endParaRPr lang="en-US" sz="850" dirty="0"/>
          </a:p>
        </p:txBody>
      </p:sp>
      <p:sp>
        <p:nvSpPr>
          <p:cNvPr id="13" name="Shape 11"/>
          <p:cNvSpPr/>
          <p:nvPr/>
        </p:nvSpPr>
        <p:spPr>
          <a:xfrm>
            <a:off x="4709160" y="1691640"/>
            <a:ext cx="4206240" cy="685800"/>
          </a:xfrm>
          <a:prstGeom prst="roundRect">
            <a:avLst>
              <a:gd name="adj" fmla="val 13333"/>
            </a:avLst>
          </a:prstGeom>
          <a:solidFill>
            <a:srgbClr val="FEF3C7"/>
          </a:solidFill>
          <a:ln w="15240">
            <a:solidFill>
              <a:srgbClr val="F59E0B"/>
            </a:solidFill>
            <a:prstDash val="solid"/>
          </a:ln>
          <a:effectLst>
            <a:outerShdw blurRad="88900" dist="25400" dir="2700000" algn="bl" rotWithShape="0">
              <a:srgbClr val="000000">
                <a:alpha val="13000"/>
              </a:srgbClr>
            </a:outerShdw>
          </a:effectLst>
        </p:spPr>
      </p:sp>
      <p:sp>
        <p:nvSpPr>
          <p:cNvPr id="14" name="Shape 12"/>
          <p:cNvSpPr/>
          <p:nvPr/>
        </p:nvSpPr>
        <p:spPr>
          <a:xfrm>
            <a:off x="4709160" y="1691640"/>
            <a:ext cx="1691640" cy="685800"/>
          </a:xfrm>
          <a:prstGeom prst="roundRect">
            <a:avLst>
              <a:gd name="adj" fmla="val 13333"/>
            </a:avLst>
          </a:prstGeom>
          <a:solidFill>
            <a:srgbClr val="F59E0B"/>
          </a:solidFill>
          <a:ln w="12700">
            <a:solidFill>
              <a:srgbClr val="F59E0B"/>
            </a:solidFill>
            <a:prstDash val="solid"/>
          </a:ln>
        </p:spPr>
      </p:sp>
      <p:sp>
        <p:nvSpPr>
          <p:cNvPr id="15" name="Text 13"/>
          <p:cNvSpPr/>
          <p:nvPr/>
        </p:nvSpPr>
        <p:spPr>
          <a:xfrm>
            <a:off x="4709160" y="1691640"/>
            <a:ext cx="1691640" cy="685800"/>
          </a:xfrm>
          <a:prstGeom prst="rect">
            <a:avLst/>
          </a:prstGeom>
          <a:noFill/>
          <a:ln/>
        </p:spPr>
        <p:txBody>
          <a:bodyPr wrap="square" lIns="0" tIns="0" rIns="0" bIns="0" rtlCol="0" anchor="ctr"/>
          <a:lstStyle/>
          <a:p>
            <a:pPr marL="0" indent="0" algn="ctr">
              <a:buNone/>
            </a:pPr>
            <a:r>
              <a:rPr lang="en-US" sz="950" b="1" dirty="0">
                <a:solidFill>
                  <a:srgbClr val="FFFFFF"/>
                </a:solidFill>
                <a:latin typeface="Courier New" pitchFamily="34" charset="0"/>
                <a:ea typeface="Courier New" pitchFamily="34" charset="-122"/>
                <a:cs typeface="Courier New" pitchFamily="34" charset="-120"/>
              </a:rPr>
              <a:t>fetchAlertes()</a:t>
            </a:r>
            <a:endParaRPr lang="en-US" sz="950" dirty="0"/>
          </a:p>
        </p:txBody>
      </p:sp>
      <p:sp>
        <p:nvSpPr>
          <p:cNvPr id="16" name="Text 14"/>
          <p:cNvSpPr/>
          <p:nvPr/>
        </p:nvSpPr>
        <p:spPr>
          <a:xfrm>
            <a:off x="6464808" y="1746504"/>
            <a:ext cx="2377440" cy="34747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Modifications d'horaires des 72 dernières heures</a:t>
            </a:r>
            <a:endParaRPr lang="en-US" sz="950" dirty="0"/>
          </a:p>
        </p:txBody>
      </p:sp>
      <p:sp>
        <p:nvSpPr>
          <p:cNvPr id="17" name="Text 15"/>
          <p:cNvSpPr/>
          <p:nvPr/>
        </p:nvSpPr>
        <p:spPr>
          <a:xfrm>
            <a:off x="6464808" y="2112264"/>
            <a:ext cx="2377440" cy="219456"/>
          </a:xfrm>
          <a:prstGeom prst="rect">
            <a:avLst/>
          </a:prstGeom>
          <a:noFill/>
          <a:ln/>
        </p:spPr>
        <p:txBody>
          <a:bodyPr wrap="square" lIns="0" tIns="0" rIns="0" bIns="0" rtlCol="0" anchor="ctr"/>
          <a:lstStyle/>
          <a:p>
            <a:pPr marL="0" indent="0">
              <a:buNone/>
            </a:pPr>
            <a:r>
              <a:rPr lang="en-US" sz="850" dirty="0">
                <a:solidFill>
                  <a:srgbClr val="F59E0B"/>
                </a:solidFill>
                <a:latin typeface="Arial" pitchFamily="34" charset="0"/>
                <a:ea typeface="Arial" pitchFamily="34" charset="-122"/>
                <a:cs typeface="Arial" pitchFamily="34" charset="-120"/>
              </a:rPr>
              <a:t>Filtre: Par filière</a:t>
            </a:r>
            <a:endParaRPr lang="en-US" sz="850" dirty="0"/>
          </a:p>
        </p:txBody>
      </p:sp>
      <p:sp>
        <p:nvSpPr>
          <p:cNvPr id="18" name="Shape 16"/>
          <p:cNvSpPr/>
          <p:nvPr/>
        </p:nvSpPr>
        <p:spPr>
          <a:xfrm>
            <a:off x="274320" y="2468880"/>
            <a:ext cx="4206240" cy="685800"/>
          </a:xfrm>
          <a:prstGeom prst="roundRect">
            <a:avLst>
              <a:gd name="adj" fmla="val 13333"/>
            </a:avLst>
          </a:prstGeom>
          <a:solidFill>
            <a:srgbClr val="FEE2E2"/>
          </a:solidFill>
          <a:ln w="15240">
            <a:solidFill>
              <a:srgbClr val="EF4444"/>
            </a:solidFill>
            <a:prstDash val="solid"/>
          </a:ln>
          <a:effectLst>
            <a:outerShdw blurRad="88900" dist="25400" dir="2700000" algn="bl" rotWithShape="0">
              <a:srgbClr val="000000">
                <a:alpha val="13000"/>
              </a:srgbClr>
            </a:outerShdw>
          </a:effectLst>
        </p:spPr>
      </p:sp>
      <p:sp>
        <p:nvSpPr>
          <p:cNvPr id="19" name="Shape 17"/>
          <p:cNvSpPr/>
          <p:nvPr/>
        </p:nvSpPr>
        <p:spPr>
          <a:xfrm>
            <a:off x="274320" y="2468880"/>
            <a:ext cx="1691640" cy="685800"/>
          </a:xfrm>
          <a:prstGeom prst="roundRect">
            <a:avLst>
              <a:gd name="adj" fmla="val 13333"/>
            </a:avLst>
          </a:prstGeom>
          <a:solidFill>
            <a:srgbClr val="EF4444"/>
          </a:solidFill>
          <a:ln w="12700">
            <a:solidFill>
              <a:srgbClr val="EF4444"/>
            </a:solidFill>
            <a:prstDash val="solid"/>
          </a:ln>
        </p:spPr>
      </p:sp>
      <p:sp>
        <p:nvSpPr>
          <p:cNvPr id="20" name="Text 18"/>
          <p:cNvSpPr/>
          <p:nvPr/>
        </p:nvSpPr>
        <p:spPr>
          <a:xfrm>
            <a:off x="274320" y="2468880"/>
            <a:ext cx="1691640" cy="685800"/>
          </a:xfrm>
          <a:prstGeom prst="rect">
            <a:avLst/>
          </a:prstGeom>
          <a:noFill/>
          <a:ln/>
        </p:spPr>
        <p:txBody>
          <a:bodyPr wrap="square" lIns="0" tIns="0" rIns="0" bIns="0" rtlCol="0" anchor="ctr"/>
          <a:lstStyle/>
          <a:p>
            <a:pPr marL="0" indent="0" algn="ctr">
              <a:buNone/>
            </a:pPr>
            <a:r>
              <a:rPr lang="en-US" sz="950" b="1" dirty="0">
                <a:solidFill>
                  <a:srgbClr val="FFFFFF"/>
                </a:solidFill>
                <a:latin typeface="Courier New" pitchFamily="34" charset="0"/>
                <a:ea typeface="Courier New" pitchFamily="34" charset="-122"/>
                <a:cs typeface="Courier New" pitchFamily="34" charset="-120"/>
              </a:rPr>
              <a:t>fetchAnnonces()</a:t>
            </a:r>
            <a:endParaRPr lang="en-US" sz="950" dirty="0"/>
          </a:p>
        </p:txBody>
      </p:sp>
      <p:sp>
        <p:nvSpPr>
          <p:cNvPr id="21" name="Text 19"/>
          <p:cNvSpPr/>
          <p:nvPr/>
        </p:nvSpPr>
        <p:spPr>
          <a:xfrm>
            <a:off x="2029968" y="2523744"/>
            <a:ext cx="2377440" cy="34747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Annonces du département + annonces globales</a:t>
            </a:r>
            <a:endParaRPr lang="en-US" sz="950" dirty="0"/>
          </a:p>
        </p:txBody>
      </p:sp>
      <p:sp>
        <p:nvSpPr>
          <p:cNvPr id="22" name="Text 20"/>
          <p:cNvSpPr/>
          <p:nvPr/>
        </p:nvSpPr>
        <p:spPr>
          <a:xfrm>
            <a:off x="2029968" y="2889504"/>
            <a:ext cx="2377440" cy="219456"/>
          </a:xfrm>
          <a:prstGeom prst="rect">
            <a:avLst/>
          </a:prstGeom>
          <a:noFill/>
          <a:ln/>
        </p:spPr>
        <p:txBody>
          <a:bodyPr wrap="square" lIns="0" tIns="0" rIns="0" bIns="0" rtlCol="0" anchor="ctr"/>
          <a:lstStyle/>
          <a:p>
            <a:pPr marL="0" indent="0">
              <a:buNone/>
            </a:pPr>
            <a:r>
              <a:rPr lang="en-US" sz="850" dirty="0">
                <a:solidFill>
                  <a:srgbClr val="EF4444"/>
                </a:solidFill>
                <a:latin typeface="Arial" pitchFamily="34" charset="0"/>
                <a:ea typeface="Arial" pitchFamily="34" charset="-122"/>
                <a:cs typeface="Arial" pitchFamily="34" charset="-120"/>
              </a:rPr>
              <a:t>Filtre: Par filière + globales</a:t>
            </a:r>
            <a:endParaRPr lang="en-US" sz="850" dirty="0"/>
          </a:p>
        </p:txBody>
      </p:sp>
      <p:sp>
        <p:nvSpPr>
          <p:cNvPr id="23" name="Shape 21"/>
          <p:cNvSpPr/>
          <p:nvPr/>
        </p:nvSpPr>
        <p:spPr>
          <a:xfrm>
            <a:off x="4709160" y="2468880"/>
            <a:ext cx="4206240" cy="685800"/>
          </a:xfrm>
          <a:prstGeom prst="roundRect">
            <a:avLst>
              <a:gd name="adj" fmla="val 13333"/>
            </a:avLst>
          </a:prstGeom>
          <a:solidFill>
            <a:srgbClr val="EDE9FE"/>
          </a:solidFill>
          <a:ln w="15240">
            <a:solidFill>
              <a:srgbClr val="4C1D95"/>
            </a:solidFill>
            <a:prstDash val="solid"/>
          </a:ln>
          <a:effectLst>
            <a:outerShdw blurRad="88900" dist="25400" dir="2700000" algn="bl" rotWithShape="0">
              <a:srgbClr val="000000">
                <a:alpha val="13000"/>
              </a:srgbClr>
            </a:outerShdw>
          </a:effectLst>
        </p:spPr>
      </p:sp>
      <p:sp>
        <p:nvSpPr>
          <p:cNvPr id="24" name="Shape 22"/>
          <p:cNvSpPr/>
          <p:nvPr/>
        </p:nvSpPr>
        <p:spPr>
          <a:xfrm>
            <a:off x="4709160" y="2468880"/>
            <a:ext cx="1691640" cy="685800"/>
          </a:xfrm>
          <a:prstGeom prst="roundRect">
            <a:avLst>
              <a:gd name="adj" fmla="val 13333"/>
            </a:avLst>
          </a:prstGeom>
          <a:solidFill>
            <a:srgbClr val="4C1D95"/>
          </a:solidFill>
          <a:ln w="12700">
            <a:solidFill>
              <a:srgbClr val="4C1D95"/>
            </a:solidFill>
            <a:prstDash val="solid"/>
          </a:ln>
        </p:spPr>
      </p:sp>
      <p:sp>
        <p:nvSpPr>
          <p:cNvPr id="25" name="Text 23"/>
          <p:cNvSpPr/>
          <p:nvPr/>
        </p:nvSpPr>
        <p:spPr>
          <a:xfrm>
            <a:off x="4709160" y="2468880"/>
            <a:ext cx="1691640" cy="685800"/>
          </a:xfrm>
          <a:prstGeom prst="rect">
            <a:avLst/>
          </a:prstGeom>
          <a:noFill/>
          <a:ln/>
        </p:spPr>
        <p:txBody>
          <a:bodyPr wrap="square" lIns="0" tIns="0" rIns="0" bIns="0" rtlCol="0" anchor="ctr"/>
          <a:lstStyle/>
          <a:p>
            <a:pPr marL="0" indent="0" algn="ctr">
              <a:buNone/>
            </a:pPr>
            <a:r>
              <a:rPr lang="en-US" sz="950" b="1" dirty="0">
                <a:solidFill>
                  <a:srgbClr val="FFFFFF"/>
                </a:solidFill>
                <a:latin typeface="Courier New" pitchFamily="34" charset="0"/>
                <a:ea typeface="Courier New" pitchFamily="34" charset="-122"/>
                <a:cs typeface="Courier New" pitchFamily="34" charset="-120"/>
              </a:rPr>
              <a:t>fetchFilieres()</a:t>
            </a:r>
            <a:endParaRPr lang="en-US" sz="950" dirty="0"/>
          </a:p>
        </p:txBody>
      </p:sp>
      <p:sp>
        <p:nvSpPr>
          <p:cNvPr id="26" name="Text 24"/>
          <p:cNvSpPr/>
          <p:nvPr/>
        </p:nvSpPr>
        <p:spPr>
          <a:xfrm>
            <a:off x="6464808" y="2523744"/>
            <a:ext cx="2377440" cy="34747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Liste de tous les départements (id, nom, code)</a:t>
            </a:r>
            <a:endParaRPr lang="en-US" sz="950" dirty="0"/>
          </a:p>
        </p:txBody>
      </p:sp>
      <p:sp>
        <p:nvSpPr>
          <p:cNvPr id="27" name="Text 25"/>
          <p:cNvSpPr/>
          <p:nvPr/>
        </p:nvSpPr>
        <p:spPr>
          <a:xfrm>
            <a:off x="6464808" y="2889504"/>
            <a:ext cx="2377440" cy="219456"/>
          </a:xfrm>
          <a:prstGeom prst="rect">
            <a:avLst/>
          </a:prstGeom>
          <a:noFill/>
          <a:ln/>
        </p:spPr>
        <p:txBody>
          <a:bodyPr wrap="square" lIns="0" tIns="0" rIns="0" bIns="0" rtlCol="0" anchor="ctr"/>
          <a:lstStyle/>
          <a:p>
            <a:pPr marL="0" indent="0">
              <a:buNone/>
            </a:pPr>
            <a:r>
              <a:rPr lang="en-US" sz="850" dirty="0">
                <a:solidFill>
                  <a:srgbClr val="4C1D95"/>
                </a:solidFill>
                <a:latin typeface="Arial" pitchFamily="34" charset="0"/>
                <a:ea typeface="Arial" pitchFamily="34" charset="-122"/>
                <a:cs typeface="Arial" pitchFamily="34" charset="-120"/>
              </a:rPr>
              <a:t>Filtre: Aucun — toutes les filières</a:t>
            </a:r>
            <a:endParaRPr lang="en-US" sz="850" dirty="0"/>
          </a:p>
        </p:txBody>
      </p:sp>
      <p:sp>
        <p:nvSpPr>
          <p:cNvPr id="28" name="Shape 26"/>
          <p:cNvSpPr/>
          <p:nvPr/>
        </p:nvSpPr>
        <p:spPr>
          <a:xfrm>
            <a:off x="274320" y="3246120"/>
            <a:ext cx="4206240" cy="685800"/>
          </a:xfrm>
          <a:prstGeom prst="roundRect">
            <a:avLst>
              <a:gd name="adj" fmla="val 13333"/>
            </a:avLst>
          </a:prstGeom>
          <a:solidFill>
            <a:srgbClr val="D1FAE5"/>
          </a:solidFill>
          <a:ln w="15240">
            <a:solidFill>
              <a:srgbClr val="10B981"/>
            </a:solidFill>
            <a:prstDash val="solid"/>
          </a:ln>
          <a:effectLst>
            <a:outerShdw blurRad="88900" dist="25400" dir="2700000" algn="bl" rotWithShape="0">
              <a:srgbClr val="000000">
                <a:alpha val="13000"/>
              </a:srgbClr>
            </a:outerShdw>
          </a:effectLst>
        </p:spPr>
      </p:sp>
      <p:sp>
        <p:nvSpPr>
          <p:cNvPr id="29" name="Shape 27"/>
          <p:cNvSpPr/>
          <p:nvPr/>
        </p:nvSpPr>
        <p:spPr>
          <a:xfrm>
            <a:off x="274320" y="3246120"/>
            <a:ext cx="1691640" cy="685800"/>
          </a:xfrm>
          <a:prstGeom prst="roundRect">
            <a:avLst>
              <a:gd name="adj" fmla="val 13333"/>
            </a:avLst>
          </a:prstGeom>
          <a:solidFill>
            <a:srgbClr val="10B981"/>
          </a:solidFill>
          <a:ln w="12700">
            <a:solidFill>
              <a:srgbClr val="10B981"/>
            </a:solidFill>
            <a:prstDash val="solid"/>
          </a:ln>
        </p:spPr>
      </p:sp>
      <p:sp>
        <p:nvSpPr>
          <p:cNvPr id="30" name="Text 28"/>
          <p:cNvSpPr/>
          <p:nvPr/>
        </p:nvSpPr>
        <p:spPr>
          <a:xfrm>
            <a:off x="274320" y="3246120"/>
            <a:ext cx="1691640" cy="685800"/>
          </a:xfrm>
          <a:prstGeom prst="rect">
            <a:avLst/>
          </a:prstGeom>
          <a:noFill/>
          <a:ln/>
        </p:spPr>
        <p:txBody>
          <a:bodyPr wrap="square" lIns="0" tIns="0" rIns="0" bIns="0" rtlCol="0" anchor="ctr"/>
          <a:lstStyle/>
          <a:p>
            <a:pPr marL="0" indent="0" algn="ctr">
              <a:buNone/>
            </a:pPr>
            <a:r>
              <a:rPr lang="en-US" sz="950" b="1" dirty="0">
                <a:solidFill>
                  <a:srgbClr val="FFFFFF"/>
                </a:solidFill>
                <a:latin typeface="Courier New" pitchFamily="34" charset="0"/>
                <a:ea typeface="Courier New" pitchFamily="34" charset="-122"/>
                <a:cs typeface="Courier New" pitchFamily="34" charset="-120"/>
              </a:rPr>
              <a:t>fetchNiveaux()</a:t>
            </a:r>
            <a:endParaRPr lang="en-US" sz="950" dirty="0"/>
          </a:p>
        </p:txBody>
      </p:sp>
      <p:sp>
        <p:nvSpPr>
          <p:cNvPr id="31" name="Text 29"/>
          <p:cNvSpPr/>
          <p:nvPr/>
        </p:nvSpPr>
        <p:spPr>
          <a:xfrm>
            <a:off x="2029968" y="3300984"/>
            <a:ext cx="2377440" cy="34747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Niveaux académiques L1, L2, L3 avec filière associée</a:t>
            </a:r>
            <a:endParaRPr lang="en-US" sz="950" dirty="0"/>
          </a:p>
        </p:txBody>
      </p:sp>
      <p:sp>
        <p:nvSpPr>
          <p:cNvPr id="32" name="Text 30"/>
          <p:cNvSpPr/>
          <p:nvPr/>
        </p:nvSpPr>
        <p:spPr>
          <a:xfrm>
            <a:off x="2029968" y="3666744"/>
            <a:ext cx="2377440" cy="219456"/>
          </a:xfrm>
          <a:prstGeom prst="rect">
            <a:avLst/>
          </a:prstGeom>
          <a:noFill/>
          <a:ln/>
        </p:spPr>
        <p:txBody>
          <a:bodyPr wrap="square" lIns="0" tIns="0" rIns="0" bIns="0" rtlCol="0" anchor="ctr"/>
          <a:lstStyle/>
          <a:p>
            <a:pPr marL="0" indent="0">
              <a:buNone/>
            </a:pPr>
            <a:r>
              <a:rPr lang="en-US" sz="850" dirty="0">
                <a:solidFill>
                  <a:srgbClr val="10B981"/>
                </a:solidFill>
                <a:latin typeface="Arial" pitchFamily="34" charset="0"/>
                <a:ea typeface="Arial" pitchFamily="34" charset="-122"/>
                <a:cs typeface="Arial" pitchFamily="34" charset="-120"/>
              </a:rPr>
              <a:t>Filtre: Aucun — tous les niveaux</a:t>
            </a:r>
            <a:endParaRPr lang="en-US" sz="850" dirty="0"/>
          </a:p>
        </p:txBody>
      </p:sp>
      <p:sp>
        <p:nvSpPr>
          <p:cNvPr id="33" name="Shape 31"/>
          <p:cNvSpPr/>
          <p:nvPr/>
        </p:nvSpPr>
        <p:spPr>
          <a:xfrm>
            <a:off x="4709160" y="3246120"/>
            <a:ext cx="4206240" cy="685800"/>
          </a:xfrm>
          <a:prstGeom prst="roundRect">
            <a:avLst>
              <a:gd name="adj" fmla="val 13333"/>
            </a:avLst>
          </a:prstGeom>
          <a:solidFill>
            <a:srgbClr val="E0F7FA"/>
          </a:solidFill>
          <a:ln w="15240">
            <a:solidFill>
              <a:srgbClr val="0EA5E9"/>
            </a:solidFill>
            <a:prstDash val="solid"/>
          </a:ln>
          <a:effectLst>
            <a:outerShdw blurRad="88900" dist="25400" dir="2700000" algn="bl" rotWithShape="0">
              <a:srgbClr val="000000">
                <a:alpha val="13000"/>
              </a:srgbClr>
            </a:outerShdw>
          </a:effectLst>
        </p:spPr>
      </p:sp>
      <p:sp>
        <p:nvSpPr>
          <p:cNvPr id="34" name="Shape 32"/>
          <p:cNvSpPr/>
          <p:nvPr/>
        </p:nvSpPr>
        <p:spPr>
          <a:xfrm>
            <a:off x="4709160" y="3246120"/>
            <a:ext cx="1691640" cy="685800"/>
          </a:xfrm>
          <a:prstGeom prst="roundRect">
            <a:avLst>
              <a:gd name="adj" fmla="val 13333"/>
            </a:avLst>
          </a:prstGeom>
          <a:solidFill>
            <a:srgbClr val="0EA5E9"/>
          </a:solidFill>
          <a:ln w="12700">
            <a:solidFill>
              <a:srgbClr val="0EA5E9"/>
            </a:solidFill>
            <a:prstDash val="solid"/>
          </a:ln>
        </p:spPr>
      </p:sp>
      <p:sp>
        <p:nvSpPr>
          <p:cNvPr id="35" name="Text 33"/>
          <p:cNvSpPr/>
          <p:nvPr/>
        </p:nvSpPr>
        <p:spPr>
          <a:xfrm>
            <a:off x="4709160" y="3246120"/>
            <a:ext cx="1691640" cy="685800"/>
          </a:xfrm>
          <a:prstGeom prst="rect">
            <a:avLst/>
          </a:prstGeom>
          <a:noFill/>
          <a:ln/>
        </p:spPr>
        <p:txBody>
          <a:bodyPr wrap="square" lIns="0" tIns="0" rIns="0" bIns="0" rtlCol="0" anchor="ctr"/>
          <a:lstStyle/>
          <a:p>
            <a:pPr marL="0" indent="0" algn="ctr">
              <a:buNone/>
            </a:pPr>
            <a:r>
              <a:rPr lang="en-US" sz="950" b="1" dirty="0">
                <a:solidFill>
                  <a:srgbClr val="FFFFFF"/>
                </a:solidFill>
                <a:latin typeface="Courier New" pitchFamily="34" charset="0"/>
                <a:ea typeface="Courier New" pitchFamily="34" charset="-122"/>
                <a:cs typeface="Courier New" pitchFamily="34" charset="-120"/>
              </a:rPr>
              <a:t>fetchStats()</a:t>
            </a:r>
            <a:endParaRPr lang="en-US" sz="950" dirty="0"/>
          </a:p>
        </p:txBody>
      </p:sp>
      <p:sp>
        <p:nvSpPr>
          <p:cNvPr id="36" name="Text 34"/>
          <p:cNvSpPr/>
          <p:nvPr/>
        </p:nvSpPr>
        <p:spPr>
          <a:xfrm>
            <a:off x="6464808" y="3300984"/>
            <a:ext cx="2377440" cy="34747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Compteurs globaux : nb étudiants, profs, cours, filières</a:t>
            </a:r>
            <a:endParaRPr lang="en-US" sz="950" dirty="0"/>
          </a:p>
        </p:txBody>
      </p:sp>
      <p:sp>
        <p:nvSpPr>
          <p:cNvPr id="37" name="Text 35"/>
          <p:cNvSpPr/>
          <p:nvPr/>
        </p:nvSpPr>
        <p:spPr>
          <a:xfrm>
            <a:off x="6464808" y="3666744"/>
            <a:ext cx="2377440" cy="219456"/>
          </a:xfrm>
          <a:prstGeom prst="rect">
            <a:avLst/>
          </a:prstGeom>
          <a:noFill/>
          <a:ln/>
        </p:spPr>
        <p:txBody>
          <a:bodyPr wrap="square" lIns="0" tIns="0" rIns="0" bIns="0" rtlCol="0" anchor="ctr"/>
          <a:lstStyle/>
          <a:p>
            <a:pPr marL="0" indent="0">
              <a:buNone/>
            </a:pPr>
            <a:r>
              <a:rPr lang="en-US" sz="850" dirty="0">
                <a:solidFill>
                  <a:srgbClr val="0EA5E9"/>
                </a:solidFill>
                <a:latin typeface="Arial" pitchFamily="34" charset="0"/>
                <a:ea typeface="Arial" pitchFamily="34" charset="-122"/>
                <a:cs typeface="Arial" pitchFamily="34" charset="-120"/>
              </a:rPr>
              <a:t>Filtre: Aucun — global</a:t>
            </a:r>
            <a:endParaRPr lang="en-US" sz="850" dirty="0"/>
          </a:p>
        </p:txBody>
      </p:sp>
      <p:sp>
        <p:nvSpPr>
          <p:cNvPr id="38" name="Shape 36"/>
          <p:cNvSpPr/>
          <p:nvPr/>
        </p:nvSpPr>
        <p:spPr>
          <a:xfrm>
            <a:off x="274320" y="4023360"/>
            <a:ext cx="4206240" cy="685800"/>
          </a:xfrm>
          <a:prstGeom prst="roundRect">
            <a:avLst>
              <a:gd name="adj" fmla="val 13333"/>
            </a:avLst>
          </a:prstGeom>
          <a:solidFill>
            <a:srgbClr val="FED7AA"/>
          </a:solidFill>
          <a:ln w="15240">
            <a:solidFill>
              <a:srgbClr val="EA580C"/>
            </a:solidFill>
            <a:prstDash val="solid"/>
          </a:ln>
          <a:effectLst>
            <a:outerShdw blurRad="88900" dist="25400" dir="2700000" algn="bl" rotWithShape="0">
              <a:srgbClr val="000000">
                <a:alpha val="13000"/>
              </a:srgbClr>
            </a:outerShdw>
          </a:effectLst>
        </p:spPr>
      </p:sp>
      <p:sp>
        <p:nvSpPr>
          <p:cNvPr id="39" name="Shape 37"/>
          <p:cNvSpPr/>
          <p:nvPr/>
        </p:nvSpPr>
        <p:spPr>
          <a:xfrm>
            <a:off x="274320" y="4023360"/>
            <a:ext cx="1691640" cy="685800"/>
          </a:xfrm>
          <a:prstGeom prst="roundRect">
            <a:avLst>
              <a:gd name="adj" fmla="val 13333"/>
            </a:avLst>
          </a:prstGeom>
          <a:solidFill>
            <a:srgbClr val="EA580C"/>
          </a:solidFill>
          <a:ln w="12700">
            <a:solidFill>
              <a:srgbClr val="EA580C"/>
            </a:solidFill>
            <a:prstDash val="solid"/>
          </a:ln>
        </p:spPr>
      </p:sp>
      <p:sp>
        <p:nvSpPr>
          <p:cNvPr id="40" name="Text 38"/>
          <p:cNvSpPr/>
          <p:nvPr/>
        </p:nvSpPr>
        <p:spPr>
          <a:xfrm>
            <a:off x="274320" y="4023360"/>
            <a:ext cx="1691640" cy="685800"/>
          </a:xfrm>
          <a:prstGeom prst="rect">
            <a:avLst/>
          </a:prstGeom>
          <a:noFill/>
          <a:ln/>
        </p:spPr>
        <p:txBody>
          <a:bodyPr wrap="square" lIns="0" tIns="0" rIns="0" bIns="0" rtlCol="0" anchor="ctr"/>
          <a:lstStyle/>
          <a:p>
            <a:pPr marL="0" indent="0" algn="ctr">
              <a:buNone/>
            </a:pPr>
            <a:r>
              <a:rPr lang="en-US" sz="950" b="1" dirty="0">
                <a:solidFill>
                  <a:srgbClr val="FFFFFF"/>
                </a:solidFill>
                <a:latin typeface="Courier New" pitchFamily="34" charset="0"/>
                <a:ea typeface="Courier New" pitchFamily="34" charset="-122"/>
                <a:cs typeface="Courier New" pitchFamily="34" charset="-120"/>
              </a:rPr>
              <a:t>fetchEnseignants()</a:t>
            </a:r>
            <a:endParaRPr lang="en-US" sz="950" dirty="0"/>
          </a:p>
        </p:txBody>
      </p:sp>
      <p:sp>
        <p:nvSpPr>
          <p:cNvPr id="41" name="Text 39"/>
          <p:cNvSpPr/>
          <p:nvPr/>
        </p:nvSpPr>
        <p:spPr>
          <a:xfrm>
            <a:off x="2029968" y="4078224"/>
            <a:ext cx="2377440" cy="34747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Liste complète des professeurs (nom, prénom)</a:t>
            </a:r>
            <a:endParaRPr lang="en-US" sz="950" dirty="0"/>
          </a:p>
        </p:txBody>
      </p:sp>
      <p:sp>
        <p:nvSpPr>
          <p:cNvPr id="42" name="Text 40"/>
          <p:cNvSpPr/>
          <p:nvPr/>
        </p:nvSpPr>
        <p:spPr>
          <a:xfrm>
            <a:off x="2029968" y="4443984"/>
            <a:ext cx="2377440" cy="219456"/>
          </a:xfrm>
          <a:prstGeom prst="rect">
            <a:avLst/>
          </a:prstGeom>
          <a:noFill/>
          <a:ln/>
        </p:spPr>
        <p:txBody>
          <a:bodyPr wrap="square" lIns="0" tIns="0" rIns="0" bIns="0" rtlCol="0" anchor="ctr"/>
          <a:lstStyle/>
          <a:p>
            <a:pPr marL="0" indent="0">
              <a:buNone/>
            </a:pPr>
            <a:r>
              <a:rPr lang="en-US" sz="850" dirty="0">
                <a:solidFill>
                  <a:srgbClr val="EA580C"/>
                </a:solidFill>
                <a:latin typeface="Arial" pitchFamily="34" charset="0"/>
                <a:ea typeface="Arial" pitchFamily="34" charset="-122"/>
                <a:cs typeface="Arial" pitchFamily="34" charset="-120"/>
              </a:rPr>
              <a:t>Filtre: Par filière si précisé</a:t>
            </a:r>
            <a:endParaRPr lang="en-US" sz="850" dirty="0"/>
          </a:p>
        </p:txBody>
      </p:sp>
      <p:sp>
        <p:nvSpPr>
          <p:cNvPr id="43" name="Shape 41"/>
          <p:cNvSpPr/>
          <p:nvPr/>
        </p:nvSpPr>
        <p:spPr>
          <a:xfrm>
            <a:off x="4709160" y="4023360"/>
            <a:ext cx="4206240" cy="685800"/>
          </a:xfrm>
          <a:prstGeom prst="roundRect">
            <a:avLst>
              <a:gd name="adj" fmla="val 13333"/>
            </a:avLst>
          </a:prstGeom>
          <a:solidFill>
            <a:srgbClr val="F1F5F9"/>
          </a:solidFill>
          <a:ln w="15240">
            <a:solidFill>
              <a:srgbClr val="475569"/>
            </a:solidFill>
            <a:prstDash val="solid"/>
          </a:ln>
          <a:effectLst>
            <a:outerShdw blurRad="88900" dist="25400" dir="2700000" algn="bl" rotWithShape="0">
              <a:srgbClr val="000000">
                <a:alpha val="13000"/>
              </a:srgbClr>
            </a:outerShdw>
          </a:effectLst>
        </p:spPr>
      </p:sp>
      <p:sp>
        <p:nvSpPr>
          <p:cNvPr id="44" name="Shape 42"/>
          <p:cNvSpPr/>
          <p:nvPr/>
        </p:nvSpPr>
        <p:spPr>
          <a:xfrm>
            <a:off x="4709160" y="4023360"/>
            <a:ext cx="1691640" cy="685800"/>
          </a:xfrm>
          <a:prstGeom prst="roundRect">
            <a:avLst>
              <a:gd name="adj" fmla="val 13333"/>
            </a:avLst>
          </a:prstGeom>
          <a:solidFill>
            <a:srgbClr val="475569"/>
          </a:solidFill>
          <a:ln w="12700">
            <a:solidFill>
              <a:srgbClr val="475569"/>
            </a:solidFill>
            <a:prstDash val="solid"/>
          </a:ln>
        </p:spPr>
      </p:sp>
      <p:sp>
        <p:nvSpPr>
          <p:cNvPr id="45" name="Text 43"/>
          <p:cNvSpPr/>
          <p:nvPr/>
        </p:nvSpPr>
        <p:spPr>
          <a:xfrm>
            <a:off x="4709160" y="4023360"/>
            <a:ext cx="1691640" cy="685800"/>
          </a:xfrm>
          <a:prstGeom prst="rect">
            <a:avLst/>
          </a:prstGeom>
          <a:noFill/>
          <a:ln/>
        </p:spPr>
        <p:txBody>
          <a:bodyPr wrap="square" lIns="0" tIns="0" rIns="0" bIns="0" rtlCol="0" anchor="ctr"/>
          <a:lstStyle/>
          <a:p>
            <a:pPr marL="0" indent="0" algn="ctr">
              <a:buNone/>
            </a:pPr>
            <a:r>
              <a:rPr lang="en-US" sz="950" b="1" dirty="0">
                <a:solidFill>
                  <a:srgbClr val="FFFFFF"/>
                </a:solidFill>
                <a:latin typeface="Courier New" pitchFamily="34" charset="0"/>
                <a:ea typeface="Courier New" pitchFamily="34" charset="-122"/>
                <a:cs typeface="Courier New" pitchFamily="34" charset="-120"/>
              </a:rPr>
              <a:t>fetchEtudiants()</a:t>
            </a:r>
            <a:endParaRPr lang="en-US" sz="950" dirty="0"/>
          </a:p>
        </p:txBody>
      </p:sp>
      <p:sp>
        <p:nvSpPr>
          <p:cNvPr id="46" name="Text 44"/>
          <p:cNvSpPr/>
          <p:nvPr/>
        </p:nvSpPr>
        <p:spPr>
          <a:xfrm>
            <a:off x="6464808" y="4078224"/>
            <a:ext cx="2377440" cy="34747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Liste des étudiants avec filière et niveau</a:t>
            </a:r>
            <a:endParaRPr lang="en-US" sz="950" dirty="0"/>
          </a:p>
        </p:txBody>
      </p:sp>
      <p:sp>
        <p:nvSpPr>
          <p:cNvPr id="47" name="Text 45"/>
          <p:cNvSpPr/>
          <p:nvPr/>
        </p:nvSpPr>
        <p:spPr>
          <a:xfrm>
            <a:off x="6464808" y="4443984"/>
            <a:ext cx="2377440" cy="219456"/>
          </a:xfrm>
          <a:prstGeom prst="rect">
            <a:avLst/>
          </a:prstGeom>
          <a:noFill/>
          <a:ln/>
        </p:spPr>
        <p:txBody>
          <a:bodyPr wrap="square" lIns="0" tIns="0" rIns="0" bIns="0" rtlCol="0" anchor="ctr"/>
          <a:lstStyle/>
          <a:p>
            <a:pPr marL="0" indent="0">
              <a:buNone/>
            </a:pPr>
            <a:r>
              <a:rPr lang="en-US" sz="850" dirty="0">
                <a:solidFill>
                  <a:srgbClr val="475569"/>
                </a:solidFill>
                <a:latin typeface="Arial" pitchFamily="34" charset="0"/>
                <a:ea typeface="Arial" pitchFamily="34" charset="-122"/>
                <a:cs typeface="Arial" pitchFamily="34" charset="-120"/>
              </a:rPr>
              <a:t>Filtre: Par filière</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0D1B2A"/>
          </a:solidFill>
          <a:ln w="12700">
            <a:solidFill>
              <a:srgbClr val="0D1B2A"/>
            </a:solidFill>
            <a:prstDash val="solid"/>
          </a:ln>
        </p:spPr>
      </p:sp>
      <p:sp>
        <p:nvSpPr>
          <p:cNvPr id="3" name="Text 1"/>
          <p:cNvSpPr/>
          <p:nvPr/>
        </p:nvSpPr>
        <p:spPr>
          <a:xfrm>
            <a:off x="457200" y="64008"/>
            <a:ext cx="8229600" cy="329184"/>
          </a:xfrm>
          <a:prstGeom prst="rect">
            <a:avLst/>
          </a:prstGeom>
          <a:noFill/>
          <a:ln/>
        </p:spPr>
        <p:txBody>
          <a:bodyPr wrap="square" lIns="0" tIns="0" rIns="0" bIns="0" rtlCol="0" anchor="ctr"/>
          <a:lstStyle/>
          <a:p>
            <a:pPr marL="0" indent="0">
              <a:buNone/>
            </a:pPr>
            <a:r>
              <a:rPr lang="en-US" sz="1000" b="1" kern="0" spc="400" dirty="0">
                <a:solidFill>
                  <a:srgbClr val="0EA5E9"/>
                </a:solidFill>
                <a:latin typeface="Arial" pitchFamily="34" charset="0"/>
                <a:ea typeface="Arial" pitchFamily="34" charset="-122"/>
                <a:cs typeface="Arial" pitchFamily="34" charset="-120"/>
              </a:rPr>
              <a:t>SECTION 7 — PROMPT SYSTÈME</a:t>
            </a:r>
            <a:endParaRPr lang="en-US" sz="1000" dirty="0"/>
          </a:p>
        </p:txBody>
      </p:sp>
      <p:sp>
        <p:nvSpPr>
          <p:cNvPr id="4" name="Text 2"/>
          <p:cNvSpPr/>
          <p:nvPr/>
        </p:nvSpPr>
        <p:spPr>
          <a:xfrm>
            <a:off x="457200" y="402336"/>
            <a:ext cx="6217920" cy="493776"/>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Le cerveau de l'IA — buildSystemPrompt()</a:t>
            </a:r>
            <a:endParaRPr lang="en-US" sz="2000" dirty="0"/>
          </a:p>
        </p:txBody>
      </p:sp>
      <p:sp>
        <p:nvSpPr>
          <p:cNvPr id="5" name="Text 3"/>
          <p:cNvSpPr/>
          <p:nvPr/>
        </p:nvSpPr>
        <p:spPr>
          <a:xfrm>
            <a:off x="6400800" y="457200"/>
            <a:ext cx="2560320" cy="384048"/>
          </a:xfrm>
          <a:prstGeom prst="rect">
            <a:avLst/>
          </a:prstGeom>
          <a:noFill/>
          <a:ln/>
        </p:spPr>
        <p:txBody>
          <a:bodyPr wrap="square" lIns="0" tIns="0" rIns="0" bIns="0" rtlCol="0" anchor="ctr"/>
          <a:lstStyle/>
          <a:p>
            <a:pPr marL="0" indent="0" algn="r">
              <a:buNone/>
            </a:pPr>
            <a:r>
              <a:rPr lang="en-US" sz="1100" dirty="0">
                <a:solidFill>
                  <a:srgbClr val="0EA5E9"/>
                </a:solidFill>
                <a:latin typeface="Arial" pitchFamily="34" charset="0"/>
                <a:ea typeface="Arial" pitchFamily="34" charset="-122"/>
                <a:cs typeface="Arial" pitchFamily="34" charset="-120"/>
              </a:rPr>
              <a:t>7 sections · Instructions dynamiques</a:t>
            </a:r>
            <a:endParaRPr lang="en-US" sz="1100" dirty="0"/>
          </a:p>
        </p:txBody>
      </p:sp>
      <p:sp>
        <p:nvSpPr>
          <p:cNvPr id="6" name="Shape 4"/>
          <p:cNvSpPr/>
          <p:nvPr/>
        </p:nvSpPr>
        <p:spPr>
          <a:xfrm>
            <a:off x="274320" y="1051560"/>
            <a:ext cx="8595360" cy="530352"/>
          </a:xfrm>
          <a:prstGeom prst="roundRect">
            <a:avLst>
              <a:gd name="adj" fmla="val 17241"/>
            </a:avLst>
          </a:prstGeom>
          <a:solidFill>
            <a:srgbClr val="FEF3C7"/>
          </a:solidFill>
          <a:ln w="19050">
            <a:solidFill>
              <a:srgbClr val="F59E0B"/>
            </a:solidFill>
            <a:prstDash val="solid"/>
          </a:ln>
        </p:spPr>
      </p:sp>
      <p:sp>
        <p:nvSpPr>
          <p:cNvPr id="7" name="Text 5"/>
          <p:cNvSpPr/>
          <p:nvPr/>
        </p:nvSpPr>
        <p:spPr>
          <a:xfrm>
            <a:off x="411480" y="1078992"/>
            <a:ext cx="8321040" cy="457200"/>
          </a:xfrm>
          <a:prstGeom prst="rect">
            <a:avLst/>
          </a:prstGeom>
          <a:noFill/>
          <a:ln/>
        </p:spPr>
        <p:txBody>
          <a:bodyPr wrap="square" lIns="0" tIns="0" rIns="0" bIns="0" rtlCol="0" anchor="ctr"/>
          <a:lstStyle/>
          <a:p>
            <a:pPr marL="0" indent="0">
              <a:buNone/>
            </a:pPr>
            <a:r>
              <a:rPr lang="en-US" sz="1100" dirty="0">
                <a:solidFill>
                  <a:srgbClr val="F59E0B"/>
                </a:solidFill>
                <a:latin typeface="Arial" pitchFamily="34" charset="0"/>
                <a:ea typeface="Arial" pitchFamily="34" charset="-122"/>
                <a:cs typeface="Arial" pitchFamily="34" charset="-120"/>
              </a:rPr>
              <a:t>📖  Définition : Le prompt système est un texte d'instructions envoyé au modèle AVANT le message utilisateur. C'est le 'contrat de travail' de l'IA — il définit son rôle, ses règles et les données dont elle dispose.</a:t>
            </a:r>
            <a:endParaRPr lang="en-US" sz="1100" dirty="0"/>
          </a:p>
        </p:txBody>
      </p:sp>
      <p:sp>
        <p:nvSpPr>
          <p:cNvPr id="8" name="Shape 6"/>
          <p:cNvSpPr/>
          <p:nvPr/>
        </p:nvSpPr>
        <p:spPr>
          <a:xfrm>
            <a:off x="274320" y="1719072"/>
            <a:ext cx="4206240" cy="658368"/>
          </a:xfrm>
          <a:prstGeom prst="roundRect">
            <a:avLst>
              <a:gd name="adj" fmla="val 13889"/>
            </a:avLst>
          </a:prstGeom>
          <a:solidFill>
            <a:srgbClr val="DBEAFE"/>
          </a:solidFill>
          <a:ln w="15240">
            <a:solidFill>
              <a:srgbClr val="1B4FD8"/>
            </a:solidFill>
            <a:prstDash val="solid"/>
          </a:ln>
          <a:effectLst>
            <a:outerShdw blurRad="88900" dist="25400" dir="2700000" algn="bl" rotWithShape="0">
              <a:srgbClr val="000000">
                <a:alpha val="13000"/>
              </a:srgbClr>
            </a:outerShdw>
          </a:effectLst>
        </p:spPr>
      </p:sp>
      <p:sp>
        <p:nvSpPr>
          <p:cNvPr id="9" name="Shape 7"/>
          <p:cNvSpPr/>
          <p:nvPr/>
        </p:nvSpPr>
        <p:spPr>
          <a:xfrm>
            <a:off x="347472" y="1828800"/>
            <a:ext cx="365760" cy="365760"/>
          </a:xfrm>
          <a:prstGeom prst="ellipse">
            <a:avLst/>
          </a:prstGeom>
          <a:solidFill>
            <a:srgbClr val="1B4FD8"/>
          </a:solidFill>
          <a:ln w="12700">
            <a:solidFill>
              <a:srgbClr val="1B4FD8"/>
            </a:solidFill>
            <a:prstDash val="solid"/>
          </a:ln>
        </p:spPr>
      </p:sp>
      <p:sp>
        <p:nvSpPr>
          <p:cNvPr id="10" name="Text 8"/>
          <p:cNvSpPr/>
          <p:nvPr/>
        </p:nvSpPr>
        <p:spPr>
          <a:xfrm>
            <a:off x="347472" y="18288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1" name="Text 9"/>
          <p:cNvSpPr/>
          <p:nvPr/>
        </p:nvSpPr>
        <p:spPr>
          <a:xfrm>
            <a:off x="804672" y="1792224"/>
            <a:ext cx="3566160" cy="256032"/>
          </a:xfrm>
          <a:prstGeom prst="rect">
            <a:avLst/>
          </a:prstGeom>
          <a:noFill/>
          <a:ln/>
        </p:spPr>
        <p:txBody>
          <a:bodyPr wrap="square" lIns="0" tIns="0" rIns="0" bIns="0" rtlCol="0" anchor="ctr"/>
          <a:lstStyle/>
          <a:p>
            <a:pPr marL="0" indent="0">
              <a:buNone/>
            </a:pPr>
            <a:r>
              <a:rPr lang="en-US" sz="1100" b="1" dirty="0">
                <a:solidFill>
                  <a:srgbClr val="1B4FD8"/>
                </a:solidFill>
                <a:latin typeface="Arial" pitchFamily="34" charset="0"/>
                <a:ea typeface="Arial" pitchFamily="34" charset="-122"/>
                <a:cs typeface="Arial" pitchFamily="34" charset="-120"/>
              </a:rPr>
              <a:t>Identité &amp; langue</a:t>
            </a:r>
            <a:endParaRPr lang="en-US" sz="1100" dirty="0"/>
          </a:p>
        </p:txBody>
      </p:sp>
      <p:sp>
        <p:nvSpPr>
          <p:cNvPr id="12" name="Text 10"/>
          <p:cNvSpPr/>
          <p:nvPr/>
        </p:nvSpPr>
        <p:spPr>
          <a:xfrm>
            <a:off x="804672" y="2048256"/>
            <a:ext cx="3566160" cy="25603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'Tu es l'assistant IA du système EDT de l'UGANC. Réponds dans la même langue que l'utilisateur (FR/EN)'</a:t>
            </a:r>
            <a:endParaRPr lang="en-US" sz="950" dirty="0"/>
          </a:p>
        </p:txBody>
      </p:sp>
      <p:sp>
        <p:nvSpPr>
          <p:cNvPr id="13" name="Shape 11"/>
          <p:cNvSpPr/>
          <p:nvPr/>
        </p:nvSpPr>
        <p:spPr>
          <a:xfrm>
            <a:off x="4709160" y="1719072"/>
            <a:ext cx="4206240" cy="658368"/>
          </a:xfrm>
          <a:prstGeom prst="roundRect">
            <a:avLst>
              <a:gd name="adj" fmla="val 13889"/>
            </a:avLst>
          </a:prstGeom>
          <a:solidFill>
            <a:srgbClr val="D1FAE5"/>
          </a:solidFill>
          <a:ln w="15240">
            <a:solidFill>
              <a:srgbClr val="10B981"/>
            </a:solidFill>
            <a:prstDash val="solid"/>
          </a:ln>
          <a:effectLst>
            <a:outerShdw blurRad="88900" dist="25400" dir="2700000" algn="bl" rotWithShape="0">
              <a:srgbClr val="000000">
                <a:alpha val="13000"/>
              </a:srgbClr>
            </a:outerShdw>
          </a:effectLst>
        </p:spPr>
      </p:sp>
      <p:sp>
        <p:nvSpPr>
          <p:cNvPr id="14" name="Shape 12"/>
          <p:cNvSpPr/>
          <p:nvPr/>
        </p:nvSpPr>
        <p:spPr>
          <a:xfrm>
            <a:off x="4782312" y="1828800"/>
            <a:ext cx="365760" cy="365760"/>
          </a:xfrm>
          <a:prstGeom prst="ellipse">
            <a:avLst/>
          </a:prstGeom>
          <a:solidFill>
            <a:srgbClr val="10B981"/>
          </a:solidFill>
          <a:ln w="12700">
            <a:solidFill>
              <a:srgbClr val="10B981"/>
            </a:solidFill>
            <a:prstDash val="solid"/>
          </a:ln>
        </p:spPr>
      </p:sp>
      <p:sp>
        <p:nvSpPr>
          <p:cNvPr id="15" name="Text 13"/>
          <p:cNvSpPr/>
          <p:nvPr/>
        </p:nvSpPr>
        <p:spPr>
          <a:xfrm>
            <a:off x="4782312" y="18288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4"/>
          <p:cNvSpPr/>
          <p:nvPr/>
        </p:nvSpPr>
        <p:spPr>
          <a:xfrm>
            <a:off x="5239512" y="1792224"/>
            <a:ext cx="3566160" cy="256032"/>
          </a:xfrm>
          <a:prstGeom prst="rect">
            <a:avLst/>
          </a:prstGeom>
          <a:noFill/>
          <a:ln/>
        </p:spPr>
        <p:txBody>
          <a:bodyPr wrap="square" lIns="0" tIns="0" rIns="0" bIns="0" rtlCol="0" anchor="ctr"/>
          <a:lstStyle/>
          <a:p>
            <a:pPr marL="0" indent="0">
              <a:buNone/>
            </a:pPr>
            <a:r>
              <a:rPr lang="en-US" sz="1100" b="1" dirty="0">
                <a:solidFill>
                  <a:srgbClr val="10B981"/>
                </a:solidFill>
                <a:latin typeface="Arial" pitchFamily="34" charset="0"/>
                <a:ea typeface="Arial" pitchFamily="34" charset="-122"/>
                <a:cs typeface="Arial" pitchFamily="34" charset="-120"/>
              </a:rPr>
              <a:t>Contexte temporel</a:t>
            </a:r>
            <a:endParaRPr lang="en-US" sz="1100" dirty="0"/>
          </a:p>
        </p:txBody>
      </p:sp>
      <p:sp>
        <p:nvSpPr>
          <p:cNvPr id="17" name="Text 15"/>
          <p:cNvSpPr/>
          <p:nvPr/>
        </p:nvSpPr>
        <p:spPr>
          <a:xfrm>
            <a:off x="5239512" y="2048256"/>
            <a:ext cx="3566160" cy="25603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Date actuelle, jour de la semaine, heure exacte → permet de répondre à 'Qui enseigne aujourd'hui ?' correctement</a:t>
            </a:r>
            <a:endParaRPr lang="en-US" sz="950" dirty="0"/>
          </a:p>
        </p:txBody>
      </p:sp>
      <p:sp>
        <p:nvSpPr>
          <p:cNvPr id="18" name="Shape 16"/>
          <p:cNvSpPr/>
          <p:nvPr/>
        </p:nvSpPr>
        <p:spPr>
          <a:xfrm>
            <a:off x="274320" y="2468880"/>
            <a:ext cx="4206240" cy="658368"/>
          </a:xfrm>
          <a:prstGeom prst="roundRect">
            <a:avLst>
              <a:gd name="adj" fmla="val 13889"/>
            </a:avLst>
          </a:prstGeom>
          <a:solidFill>
            <a:srgbClr val="EDE9FE"/>
          </a:solidFill>
          <a:ln w="15240">
            <a:solidFill>
              <a:srgbClr val="4C1D95"/>
            </a:solidFill>
            <a:prstDash val="solid"/>
          </a:ln>
          <a:effectLst>
            <a:outerShdw blurRad="88900" dist="25400" dir="2700000" algn="bl" rotWithShape="0">
              <a:srgbClr val="000000">
                <a:alpha val="13000"/>
              </a:srgbClr>
            </a:outerShdw>
          </a:effectLst>
        </p:spPr>
      </p:sp>
      <p:sp>
        <p:nvSpPr>
          <p:cNvPr id="19" name="Shape 17"/>
          <p:cNvSpPr/>
          <p:nvPr/>
        </p:nvSpPr>
        <p:spPr>
          <a:xfrm>
            <a:off x="347472" y="2578608"/>
            <a:ext cx="365760" cy="365760"/>
          </a:xfrm>
          <a:prstGeom prst="ellipse">
            <a:avLst/>
          </a:prstGeom>
          <a:solidFill>
            <a:srgbClr val="4C1D95"/>
          </a:solidFill>
          <a:ln w="12700">
            <a:solidFill>
              <a:srgbClr val="4C1D95"/>
            </a:solidFill>
            <a:prstDash val="solid"/>
          </a:ln>
        </p:spPr>
      </p:sp>
      <p:sp>
        <p:nvSpPr>
          <p:cNvPr id="20" name="Text 18"/>
          <p:cNvSpPr/>
          <p:nvPr/>
        </p:nvSpPr>
        <p:spPr>
          <a:xfrm>
            <a:off x="347472" y="257860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1" name="Text 19"/>
          <p:cNvSpPr/>
          <p:nvPr/>
        </p:nvSpPr>
        <p:spPr>
          <a:xfrm>
            <a:off x="804672" y="2542032"/>
            <a:ext cx="3566160" cy="256032"/>
          </a:xfrm>
          <a:prstGeom prst="rect">
            <a:avLst/>
          </a:prstGeom>
          <a:noFill/>
          <a:ln/>
        </p:spPr>
        <p:txBody>
          <a:bodyPr wrap="square" lIns="0" tIns="0" rIns="0" bIns="0" rtlCol="0" anchor="ctr"/>
          <a:lstStyle/>
          <a:p>
            <a:pPr marL="0" indent="0">
              <a:buNone/>
            </a:pPr>
            <a:r>
              <a:rPr lang="en-US" sz="1100" b="1" dirty="0">
                <a:solidFill>
                  <a:srgbClr val="4C1D95"/>
                </a:solidFill>
                <a:latin typeface="Arial" pitchFamily="34" charset="0"/>
                <a:ea typeface="Arial" pitchFamily="34" charset="-122"/>
                <a:cs typeface="Arial" pitchFamily="34" charset="-120"/>
              </a:rPr>
              <a:t>Profil utilisateur</a:t>
            </a:r>
            <a:endParaRPr lang="en-US" sz="1100" dirty="0"/>
          </a:p>
        </p:txBody>
      </p:sp>
      <p:sp>
        <p:nvSpPr>
          <p:cNvPr id="22" name="Text 20"/>
          <p:cNvSpPr/>
          <p:nvPr/>
        </p:nvSpPr>
        <p:spPr>
          <a:xfrm>
            <a:off x="804672" y="2798064"/>
            <a:ext cx="3566160" cy="25603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Nom, rôle (chef/prof/étudiant), département, niveau → l'IA sait à qui elle parle</a:t>
            </a:r>
            <a:endParaRPr lang="en-US" sz="950" dirty="0"/>
          </a:p>
        </p:txBody>
      </p:sp>
      <p:sp>
        <p:nvSpPr>
          <p:cNvPr id="23" name="Shape 21"/>
          <p:cNvSpPr/>
          <p:nvPr/>
        </p:nvSpPr>
        <p:spPr>
          <a:xfrm>
            <a:off x="4709160" y="2468880"/>
            <a:ext cx="4206240" cy="658368"/>
          </a:xfrm>
          <a:prstGeom prst="roundRect">
            <a:avLst>
              <a:gd name="adj" fmla="val 13889"/>
            </a:avLst>
          </a:prstGeom>
          <a:solidFill>
            <a:srgbClr val="FEE2E2"/>
          </a:solidFill>
          <a:ln w="15240">
            <a:solidFill>
              <a:srgbClr val="EF4444"/>
            </a:solidFill>
            <a:prstDash val="solid"/>
          </a:ln>
          <a:effectLst>
            <a:outerShdw blurRad="88900" dist="25400" dir="2700000" algn="bl" rotWithShape="0">
              <a:srgbClr val="000000">
                <a:alpha val="13000"/>
              </a:srgbClr>
            </a:outerShdw>
          </a:effectLst>
        </p:spPr>
      </p:sp>
      <p:sp>
        <p:nvSpPr>
          <p:cNvPr id="24" name="Shape 22"/>
          <p:cNvSpPr/>
          <p:nvPr/>
        </p:nvSpPr>
        <p:spPr>
          <a:xfrm>
            <a:off x="4782312" y="2578608"/>
            <a:ext cx="365760" cy="365760"/>
          </a:xfrm>
          <a:prstGeom prst="ellipse">
            <a:avLst/>
          </a:prstGeom>
          <a:solidFill>
            <a:srgbClr val="EF4444"/>
          </a:solidFill>
          <a:ln w="12700">
            <a:solidFill>
              <a:srgbClr val="EF4444"/>
            </a:solidFill>
            <a:prstDash val="solid"/>
          </a:ln>
        </p:spPr>
      </p:sp>
      <p:sp>
        <p:nvSpPr>
          <p:cNvPr id="25" name="Text 23"/>
          <p:cNvSpPr/>
          <p:nvPr/>
        </p:nvSpPr>
        <p:spPr>
          <a:xfrm>
            <a:off x="4782312" y="257860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6" name="Text 24"/>
          <p:cNvSpPr/>
          <p:nvPr/>
        </p:nvSpPr>
        <p:spPr>
          <a:xfrm>
            <a:off x="5239512" y="2542032"/>
            <a:ext cx="3566160" cy="256032"/>
          </a:xfrm>
          <a:prstGeom prst="rect">
            <a:avLst/>
          </a:prstGeom>
          <a:noFill/>
          <a:ln/>
        </p:spPr>
        <p:txBody>
          <a:bodyPr wrap="square" lIns="0" tIns="0" rIns="0" bIns="0" rtlCol="0" anchor="ctr"/>
          <a:lstStyle/>
          <a:p>
            <a:pPr marL="0" indent="0">
              <a:buNone/>
            </a:pPr>
            <a:r>
              <a:rPr lang="en-US" sz="1100" b="1" dirty="0">
                <a:solidFill>
                  <a:srgbClr val="EF4444"/>
                </a:solidFill>
                <a:latin typeface="Arial" pitchFamily="34" charset="0"/>
                <a:ea typeface="Arial" pitchFamily="34" charset="-122"/>
                <a:cs typeface="Arial" pitchFamily="34" charset="-120"/>
              </a:rPr>
              <a:t>Données BDD</a:t>
            </a:r>
            <a:endParaRPr lang="en-US" sz="1100" dirty="0"/>
          </a:p>
        </p:txBody>
      </p:sp>
      <p:sp>
        <p:nvSpPr>
          <p:cNvPr id="27" name="Text 25"/>
          <p:cNvSpPr/>
          <p:nvPr/>
        </p:nvSpPr>
        <p:spPr>
          <a:xfrm>
            <a:off x="5239512" y="2798064"/>
            <a:ext cx="3566160" cy="25603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Filières, niveaux, EDT complet, alertes, enseignants, étudiants, chefs, statistiques — tout en format compact</a:t>
            </a:r>
            <a:endParaRPr lang="en-US" sz="950" dirty="0"/>
          </a:p>
        </p:txBody>
      </p:sp>
      <p:sp>
        <p:nvSpPr>
          <p:cNvPr id="28" name="Shape 26"/>
          <p:cNvSpPr/>
          <p:nvPr/>
        </p:nvSpPr>
        <p:spPr>
          <a:xfrm>
            <a:off x="274320" y="3218688"/>
            <a:ext cx="4206240" cy="658368"/>
          </a:xfrm>
          <a:prstGeom prst="roundRect">
            <a:avLst>
              <a:gd name="adj" fmla="val 13889"/>
            </a:avLst>
          </a:prstGeom>
          <a:solidFill>
            <a:srgbClr val="E0F7FA"/>
          </a:solidFill>
          <a:ln w="15240">
            <a:solidFill>
              <a:srgbClr val="0EA5E9"/>
            </a:solidFill>
            <a:prstDash val="solid"/>
          </a:ln>
          <a:effectLst>
            <a:outerShdw blurRad="88900" dist="25400" dir="2700000" algn="bl" rotWithShape="0">
              <a:srgbClr val="000000">
                <a:alpha val="13000"/>
              </a:srgbClr>
            </a:outerShdw>
          </a:effectLst>
        </p:spPr>
      </p:sp>
      <p:sp>
        <p:nvSpPr>
          <p:cNvPr id="29" name="Shape 27"/>
          <p:cNvSpPr/>
          <p:nvPr/>
        </p:nvSpPr>
        <p:spPr>
          <a:xfrm>
            <a:off x="347472" y="3328416"/>
            <a:ext cx="365760" cy="365760"/>
          </a:xfrm>
          <a:prstGeom prst="ellipse">
            <a:avLst/>
          </a:prstGeom>
          <a:solidFill>
            <a:srgbClr val="0EA5E9"/>
          </a:solidFill>
          <a:ln w="12700">
            <a:solidFill>
              <a:srgbClr val="0EA5E9"/>
            </a:solidFill>
            <a:prstDash val="solid"/>
          </a:ln>
        </p:spPr>
      </p:sp>
      <p:sp>
        <p:nvSpPr>
          <p:cNvPr id="30" name="Text 28"/>
          <p:cNvSpPr/>
          <p:nvPr/>
        </p:nvSpPr>
        <p:spPr>
          <a:xfrm>
            <a:off x="347472" y="332841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1" name="Text 29"/>
          <p:cNvSpPr/>
          <p:nvPr/>
        </p:nvSpPr>
        <p:spPr>
          <a:xfrm>
            <a:off x="804672" y="3291840"/>
            <a:ext cx="3566160" cy="256032"/>
          </a:xfrm>
          <a:prstGeom prst="rect">
            <a:avLst/>
          </a:prstGeom>
          <a:noFill/>
          <a:ln/>
        </p:spPr>
        <p:txBody>
          <a:bodyPr wrap="square" lIns="0" tIns="0" rIns="0" bIns="0" rtlCol="0" anchor="ctr"/>
          <a:lstStyle/>
          <a:p>
            <a:pPr marL="0" indent="0">
              <a:buNone/>
            </a:pPr>
            <a:r>
              <a:rPr lang="en-US" sz="1100" b="1" dirty="0">
                <a:solidFill>
                  <a:srgbClr val="0EA5E9"/>
                </a:solidFill>
                <a:latin typeface="Arial" pitchFamily="34" charset="0"/>
                <a:ea typeface="Arial" pitchFamily="34" charset="-122"/>
                <a:cs typeface="Arial" pitchFamily="34" charset="-120"/>
              </a:rPr>
              <a:t>Résultats web</a:t>
            </a:r>
            <a:endParaRPr lang="en-US" sz="1100" dirty="0"/>
          </a:p>
        </p:txBody>
      </p:sp>
      <p:sp>
        <p:nvSpPr>
          <p:cNvPr id="32" name="Text 30"/>
          <p:cNvSpPr/>
          <p:nvPr/>
        </p:nvSpPr>
        <p:spPr>
          <a:xfrm>
            <a:off x="804672" y="3547872"/>
            <a:ext cx="3566160" cy="25603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Si Tavily a trouvé des informations → intégrées dans le prompt pour que l'IA les utilise</a:t>
            </a:r>
            <a:endParaRPr lang="en-US" sz="950" dirty="0"/>
          </a:p>
        </p:txBody>
      </p:sp>
      <p:sp>
        <p:nvSpPr>
          <p:cNvPr id="33" name="Shape 31"/>
          <p:cNvSpPr/>
          <p:nvPr/>
        </p:nvSpPr>
        <p:spPr>
          <a:xfrm>
            <a:off x="4709160" y="3218688"/>
            <a:ext cx="4206240" cy="658368"/>
          </a:xfrm>
          <a:prstGeom prst="roundRect">
            <a:avLst>
              <a:gd name="adj" fmla="val 13889"/>
            </a:avLst>
          </a:prstGeom>
          <a:solidFill>
            <a:srgbClr val="FEF3C7"/>
          </a:solidFill>
          <a:ln w="15240">
            <a:solidFill>
              <a:srgbClr val="F59E0B"/>
            </a:solidFill>
            <a:prstDash val="solid"/>
          </a:ln>
          <a:effectLst>
            <a:outerShdw blurRad="88900" dist="25400" dir="2700000" algn="bl" rotWithShape="0">
              <a:srgbClr val="000000">
                <a:alpha val="13000"/>
              </a:srgbClr>
            </a:outerShdw>
          </a:effectLst>
        </p:spPr>
      </p:sp>
      <p:sp>
        <p:nvSpPr>
          <p:cNvPr id="34" name="Shape 32"/>
          <p:cNvSpPr/>
          <p:nvPr/>
        </p:nvSpPr>
        <p:spPr>
          <a:xfrm>
            <a:off x="4782312" y="3328416"/>
            <a:ext cx="365760" cy="365760"/>
          </a:xfrm>
          <a:prstGeom prst="ellipse">
            <a:avLst/>
          </a:prstGeom>
          <a:solidFill>
            <a:srgbClr val="F59E0B"/>
          </a:solidFill>
          <a:ln w="12700">
            <a:solidFill>
              <a:srgbClr val="F59E0B"/>
            </a:solidFill>
            <a:prstDash val="solid"/>
          </a:ln>
        </p:spPr>
      </p:sp>
      <p:sp>
        <p:nvSpPr>
          <p:cNvPr id="35" name="Text 33"/>
          <p:cNvSpPr/>
          <p:nvPr/>
        </p:nvSpPr>
        <p:spPr>
          <a:xfrm>
            <a:off x="4782312" y="332841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6" name="Text 34"/>
          <p:cNvSpPr/>
          <p:nvPr/>
        </p:nvSpPr>
        <p:spPr>
          <a:xfrm>
            <a:off x="5239512" y="3291840"/>
            <a:ext cx="3566160" cy="256032"/>
          </a:xfrm>
          <a:prstGeom prst="rect">
            <a:avLst/>
          </a:prstGeom>
          <a:noFill/>
          <a:ln/>
        </p:spPr>
        <p:txBody>
          <a:bodyPr wrap="square" lIns="0" tIns="0" rIns="0" bIns="0" rtlCol="0" anchor="ctr"/>
          <a:lstStyle/>
          <a:p>
            <a:pPr marL="0" indent="0">
              <a:buNone/>
            </a:pPr>
            <a:r>
              <a:rPr lang="en-US" sz="1100" b="1" dirty="0">
                <a:solidFill>
                  <a:srgbClr val="F59E0B"/>
                </a:solidFill>
                <a:latin typeface="Arial" pitchFamily="34" charset="0"/>
                <a:ea typeface="Arial" pitchFamily="34" charset="-122"/>
                <a:cs typeface="Arial" pitchFamily="34" charset="-120"/>
              </a:rPr>
              <a:t>Actions disponibles</a:t>
            </a:r>
            <a:endParaRPr lang="en-US" sz="1100" dirty="0"/>
          </a:p>
        </p:txBody>
      </p:sp>
      <p:sp>
        <p:nvSpPr>
          <p:cNvPr id="37" name="Text 35"/>
          <p:cNvSpPr/>
          <p:nvPr/>
        </p:nvSpPr>
        <p:spPr>
          <a:xfrm>
            <a:off x="5239512" y="3547872"/>
            <a:ext cx="3566160" cy="25603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Liste des actions que l'IA peut déclencher dans l'interface (show_edt_jour, download_pdf, etc.)</a:t>
            </a:r>
            <a:endParaRPr lang="en-US" sz="950" dirty="0"/>
          </a:p>
        </p:txBody>
      </p:sp>
      <p:sp>
        <p:nvSpPr>
          <p:cNvPr id="38" name="Shape 36"/>
          <p:cNvSpPr/>
          <p:nvPr/>
        </p:nvSpPr>
        <p:spPr>
          <a:xfrm>
            <a:off x="274320" y="4681728"/>
            <a:ext cx="8595360" cy="384048"/>
          </a:xfrm>
          <a:prstGeom prst="roundRect">
            <a:avLst>
              <a:gd name="adj" fmla="val 23810"/>
            </a:avLst>
          </a:prstGeom>
          <a:solidFill>
            <a:srgbClr val="FED7AA"/>
          </a:solidFill>
          <a:ln w="19050">
            <a:solidFill>
              <a:srgbClr val="EA580C"/>
            </a:solidFill>
            <a:prstDash val="solid"/>
          </a:ln>
        </p:spPr>
      </p:sp>
      <p:sp>
        <p:nvSpPr>
          <p:cNvPr id="39" name="Shape 37"/>
          <p:cNvSpPr/>
          <p:nvPr/>
        </p:nvSpPr>
        <p:spPr>
          <a:xfrm>
            <a:off x="347472" y="4718304"/>
            <a:ext cx="310896" cy="310896"/>
          </a:xfrm>
          <a:prstGeom prst="ellipse">
            <a:avLst/>
          </a:prstGeom>
          <a:solidFill>
            <a:srgbClr val="EA580C"/>
          </a:solidFill>
          <a:ln w="12700">
            <a:solidFill>
              <a:srgbClr val="EA580C"/>
            </a:solidFill>
            <a:prstDash val="solid"/>
          </a:ln>
        </p:spPr>
      </p:sp>
      <p:sp>
        <p:nvSpPr>
          <p:cNvPr id="40" name="Text 38"/>
          <p:cNvSpPr/>
          <p:nvPr/>
        </p:nvSpPr>
        <p:spPr>
          <a:xfrm>
            <a:off x="347472" y="471830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7</a:t>
            </a:r>
            <a:endParaRPr lang="en-US" sz="1200" dirty="0"/>
          </a:p>
        </p:txBody>
      </p:sp>
      <p:sp>
        <p:nvSpPr>
          <p:cNvPr id="41" name="Text 39"/>
          <p:cNvSpPr/>
          <p:nvPr/>
        </p:nvSpPr>
        <p:spPr>
          <a:xfrm>
            <a:off x="731520" y="4718304"/>
            <a:ext cx="8046720" cy="310896"/>
          </a:xfrm>
          <a:prstGeom prst="rect">
            <a:avLst/>
          </a:prstGeom>
          <a:noFill/>
          <a:ln/>
        </p:spPr>
        <p:txBody>
          <a:bodyPr wrap="square" lIns="0" tIns="0" rIns="0" bIns="0" rtlCol="0" anchor="ctr"/>
          <a:lstStyle/>
          <a:p>
            <a:pPr marL="0" indent="0">
              <a:buNone/>
            </a:pPr>
            <a:r>
              <a:rPr lang="en-US" sz="1050" dirty="0">
                <a:solidFill>
                  <a:srgbClr val="1E293B"/>
                </a:solidFill>
                <a:latin typeface="Arial" pitchFamily="34" charset="0"/>
                <a:ea typeface="Arial" pitchFamily="34" charset="-122"/>
                <a:cs typeface="Arial" pitchFamily="34" charset="-120"/>
              </a:rPr>
              <a:t>9 règles comportementales : Instructions précises pour éviter les hallucinations et garantir des réponses pertinentes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0D1B2A"/>
          </a:solidFill>
          <a:ln w="12700">
            <a:solidFill>
              <a:srgbClr val="0D1B2A"/>
            </a:solidFill>
            <a:prstDash val="solid"/>
          </a:ln>
        </p:spPr>
      </p:sp>
      <p:sp>
        <p:nvSpPr>
          <p:cNvPr id="3" name="Text 1"/>
          <p:cNvSpPr/>
          <p:nvPr/>
        </p:nvSpPr>
        <p:spPr>
          <a:xfrm>
            <a:off x="457200" y="64008"/>
            <a:ext cx="8229600" cy="329184"/>
          </a:xfrm>
          <a:prstGeom prst="rect">
            <a:avLst/>
          </a:prstGeom>
          <a:noFill/>
          <a:ln/>
        </p:spPr>
        <p:txBody>
          <a:bodyPr wrap="square" lIns="0" tIns="0" rIns="0" bIns="0" rtlCol="0" anchor="ctr"/>
          <a:lstStyle/>
          <a:p>
            <a:pPr marL="0" indent="0">
              <a:buNone/>
            </a:pPr>
            <a:r>
              <a:rPr lang="en-US" sz="1000" b="1" kern="0" spc="400" dirty="0">
                <a:solidFill>
                  <a:srgbClr val="0EA5E9"/>
                </a:solidFill>
                <a:latin typeface="Arial" pitchFamily="34" charset="0"/>
                <a:ea typeface="Arial" pitchFamily="34" charset="-122"/>
                <a:cs typeface="Arial" pitchFamily="34" charset="-120"/>
              </a:rPr>
              <a:t>SECTION 7 — RÈGLES COMPORTEMENTALES</a:t>
            </a:r>
            <a:endParaRPr lang="en-US" sz="1000" dirty="0"/>
          </a:p>
        </p:txBody>
      </p:sp>
      <p:sp>
        <p:nvSpPr>
          <p:cNvPr id="4" name="Text 2"/>
          <p:cNvSpPr/>
          <p:nvPr/>
        </p:nvSpPr>
        <p:spPr>
          <a:xfrm>
            <a:off x="457200" y="402336"/>
            <a:ext cx="6217920" cy="493776"/>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Les 9 règles du prompt système</a:t>
            </a:r>
            <a:endParaRPr lang="en-US" sz="2000" dirty="0"/>
          </a:p>
        </p:txBody>
      </p:sp>
      <p:sp>
        <p:nvSpPr>
          <p:cNvPr id="5" name="Text 3"/>
          <p:cNvSpPr/>
          <p:nvPr/>
        </p:nvSpPr>
        <p:spPr>
          <a:xfrm>
            <a:off x="6400800" y="457200"/>
            <a:ext cx="2560320" cy="384048"/>
          </a:xfrm>
          <a:prstGeom prst="rect">
            <a:avLst/>
          </a:prstGeom>
          <a:noFill/>
          <a:ln/>
        </p:spPr>
        <p:txBody>
          <a:bodyPr wrap="square" lIns="0" tIns="0" rIns="0" bIns="0" rtlCol="0" anchor="ctr"/>
          <a:lstStyle/>
          <a:p>
            <a:pPr marL="0" indent="0" algn="r">
              <a:buNone/>
            </a:pPr>
            <a:r>
              <a:rPr lang="en-US" sz="1100" dirty="0">
                <a:solidFill>
                  <a:srgbClr val="0EA5E9"/>
                </a:solidFill>
                <a:latin typeface="Arial" pitchFamily="34" charset="0"/>
                <a:ea typeface="Arial" pitchFamily="34" charset="-122"/>
                <a:cs typeface="Arial" pitchFamily="34" charset="-120"/>
              </a:rPr>
              <a:t>Affinage des comportements IA</a:t>
            </a:r>
            <a:endParaRPr lang="en-US" sz="1100" dirty="0"/>
          </a:p>
        </p:txBody>
      </p:sp>
      <p:sp>
        <p:nvSpPr>
          <p:cNvPr id="6" name="Shape 4"/>
          <p:cNvSpPr/>
          <p:nvPr/>
        </p:nvSpPr>
        <p:spPr>
          <a:xfrm>
            <a:off x="274320" y="1051560"/>
            <a:ext cx="2743200" cy="1234440"/>
          </a:xfrm>
          <a:prstGeom prst="roundRect">
            <a:avLst>
              <a:gd name="adj" fmla="val 8889"/>
            </a:avLst>
          </a:prstGeom>
          <a:solidFill>
            <a:srgbClr val="FEE2E2"/>
          </a:solidFill>
          <a:ln w="19050">
            <a:solidFill>
              <a:srgbClr val="EF4444"/>
            </a:solidFill>
            <a:prstDash val="solid"/>
          </a:ln>
          <a:effectLst>
            <a:outerShdw blurRad="88900" dist="25400" dir="2700000" algn="bl" rotWithShape="0">
              <a:srgbClr val="000000">
                <a:alpha val="13000"/>
              </a:srgbClr>
            </a:outerShdw>
          </a:effectLst>
        </p:spPr>
      </p:sp>
      <p:sp>
        <p:nvSpPr>
          <p:cNvPr id="7" name="Shape 5"/>
          <p:cNvSpPr/>
          <p:nvPr/>
        </p:nvSpPr>
        <p:spPr>
          <a:xfrm>
            <a:off x="365760" y="1143000"/>
            <a:ext cx="548640" cy="292608"/>
          </a:xfrm>
          <a:prstGeom prst="roundRect">
            <a:avLst>
              <a:gd name="adj" fmla="val 18750"/>
            </a:avLst>
          </a:prstGeom>
          <a:solidFill>
            <a:srgbClr val="EF4444"/>
          </a:solidFill>
          <a:ln w="12700">
            <a:solidFill>
              <a:srgbClr val="EF4444"/>
            </a:solidFill>
            <a:prstDash val="solid"/>
          </a:ln>
        </p:spPr>
      </p:sp>
      <p:sp>
        <p:nvSpPr>
          <p:cNvPr id="8" name="Text 6"/>
          <p:cNvSpPr/>
          <p:nvPr/>
        </p:nvSpPr>
        <p:spPr>
          <a:xfrm>
            <a:off x="365760" y="1143000"/>
            <a:ext cx="5486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R1</a:t>
            </a:r>
            <a:endParaRPr lang="en-US" sz="1000" dirty="0"/>
          </a:p>
        </p:txBody>
      </p:sp>
      <p:sp>
        <p:nvSpPr>
          <p:cNvPr id="9" name="Text 7"/>
          <p:cNvSpPr/>
          <p:nvPr/>
        </p:nvSpPr>
        <p:spPr>
          <a:xfrm>
            <a:off x="365760" y="1490472"/>
            <a:ext cx="2560320" cy="320040"/>
          </a:xfrm>
          <a:prstGeom prst="rect">
            <a:avLst/>
          </a:prstGeom>
          <a:noFill/>
          <a:ln/>
        </p:spPr>
        <p:txBody>
          <a:bodyPr wrap="square" lIns="0" tIns="0" rIns="0" bIns="0" rtlCol="0" anchor="ctr"/>
          <a:lstStyle/>
          <a:p>
            <a:pPr marL="0" indent="0">
              <a:buNone/>
            </a:pPr>
            <a:r>
              <a:rPr lang="en-US" sz="1100" b="1" dirty="0">
                <a:solidFill>
                  <a:srgbClr val="EF4444"/>
                </a:solidFill>
                <a:latin typeface="Arial" pitchFamily="34" charset="0"/>
                <a:ea typeface="Arial" pitchFamily="34" charset="-122"/>
                <a:cs typeface="Arial" pitchFamily="34" charset="-120"/>
              </a:rPr>
              <a:t>Questions application → BD uniquement</a:t>
            </a:r>
            <a:endParaRPr lang="en-US" sz="1100" dirty="0"/>
          </a:p>
        </p:txBody>
      </p:sp>
      <p:sp>
        <p:nvSpPr>
          <p:cNvPr id="10" name="Text 8"/>
          <p:cNvSpPr/>
          <p:nvPr/>
        </p:nvSpPr>
        <p:spPr>
          <a:xfrm>
            <a:off x="365760" y="1828800"/>
            <a:ext cx="2560320" cy="34747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Empêche l'IA d'inventer des horaires ou des noms</a:t>
            </a:r>
            <a:endParaRPr lang="en-US" sz="950" dirty="0"/>
          </a:p>
        </p:txBody>
      </p:sp>
      <p:sp>
        <p:nvSpPr>
          <p:cNvPr id="11" name="Shape 9"/>
          <p:cNvSpPr/>
          <p:nvPr/>
        </p:nvSpPr>
        <p:spPr>
          <a:xfrm>
            <a:off x="3200400" y="1051560"/>
            <a:ext cx="2743200" cy="1234440"/>
          </a:xfrm>
          <a:prstGeom prst="roundRect">
            <a:avLst>
              <a:gd name="adj" fmla="val 8889"/>
            </a:avLst>
          </a:prstGeom>
          <a:solidFill>
            <a:srgbClr val="DBEAFE"/>
          </a:solidFill>
          <a:ln w="19050">
            <a:solidFill>
              <a:srgbClr val="1B4FD8"/>
            </a:solidFill>
            <a:prstDash val="solid"/>
          </a:ln>
          <a:effectLst>
            <a:outerShdw blurRad="88900" dist="25400" dir="2700000" algn="bl" rotWithShape="0">
              <a:srgbClr val="000000">
                <a:alpha val="13000"/>
              </a:srgbClr>
            </a:outerShdw>
          </a:effectLst>
        </p:spPr>
      </p:sp>
      <p:sp>
        <p:nvSpPr>
          <p:cNvPr id="12" name="Shape 10"/>
          <p:cNvSpPr/>
          <p:nvPr/>
        </p:nvSpPr>
        <p:spPr>
          <a:xfrm>
            <a:off x="3291840" y="1143000"/>
            <a:ext cx="548640" cy="292608"/>
          </a:xfrm>
          <a:prstGeom prst="roundRect">
            <a:avLst>
              <a:gd name="adj" fmla="val 18750"/>
            </a:avLst>
          </a:prstGeom>
          <a:solidFill>
            <a:srgbClr val="1B4FD8"/>
          </a:solidFill>
          <a:ln w="12700">
            <a:solidFill>
              <a:srgbClr val="1B4FD8"/>
            </a:solidFill>
            <a:prstDash val="solid"/>
          </a:ln>
        </p:spPr>
      </p:sp>
      <p:sp>
        <p:nvSpPr>
          <p:cNvPr id="13" name="Text 11"/>
          <p:cNvSpPr/>
          <p:nvPr/>
        </p:nvSpPr>
        <p:spPr>
          <a:xfrm>
            <a:off x="3291840" y="1143000"/>
            <a:ext cx="5486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R2</a:t>
            </a:r>
            <a:endParaRPr lang="en-US" sz="1000" dirty="0"/>
          </a:p>
        </p:txBody>
      </p:sp>
      <p:sp>
        <p:nvSpPr>
          <p:cNvPr id="14" name="Text 12"/>
          <p:cNvSpPr/>
          <p:nvPr/>
        </p:nvSpPr>
        <p:spPr>
          <a:xfrm>
            <a:off x="3291840" y="1490472"/>
            <a:ext cx="2560320" cy="320040"/>
          </a:xfrm>
          <a:prstGeom prst="rect">
            <a:avLst/>
          </a:prstGeom>
          <a:noFill/>
          <a:ln/>
        </p:spPr>
        <p:txBody>
          <a:bodyPr wrap="square" lIns="0" tIns="0" rIns="0" bIns="0" rtlCol="0" anchor="ctr"/>
          <a:lstStyle/>
          <a:p>
            <a:pPr marL="0" indent="0">
              <a:buNone/>
            </a:pPr>
            <a:r>
              <a:rPr lang="en-US" sz="1100" b="1" dirty="0">
                <a:solidFill>
                  <a:srgbClr val="1B4FD8"/>
                </a:solidFill>
                <a:latin typeface="Arial" pitchFamily="34" charset="0"/>
                <a:ea typeface="Arial" pitchFamily="34" charset="-122"/>
                <a:cs typeface="Arial" pitchFamily="34" charset="-120"/>
              </a:rPr>
              <a:t>Questions générales → connaissances + web</a:t>
            </a:r>
            <a:endParaRPr lang="en-US" sz="1100" dirty="0"/>
          </a:p>
        </p:txBody>
      </p:sp>
      <p:sp>
        <p:nvSpPr>
          <p:cNvPr id="15" name="Text 13"/>
          <p:cNvSpPr/>
          <p:nvPr/>
        </p:nvSpPr>
        <p:spPr>
          <a:xfrm>
            <a:off x="3291840" y="1828800"/>
            <a:ext cx="2560320" cy="34747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Permettre les questions sur la Guinée, universités, monde</a:t>
            </a:r>
            <a:endParaRPr lang="en-US" sz="950" dirty="0"/>
          </a:p>
        </p:txBody>
      </p:sp>
      <p:sp>
        <p:nvSpPr>
          <p:cNvPr id="16" name="Shape 14"/>
          <p:cNvSpPr/>
          <p:nvPr/>
        </p:nvSpPr>
        <p:spPr>
          <a:xfrm>
            <a:off x="6126480" y="1051560"/>
            <a:ext cx="2743200" cy="1234440"/>
          </a:xfrm>
          <a:prstGeom prst="roundRect">
            <a:avLst>
              <a:gd name="adj" fmla="val 8889"/>
            </a:avLst>
          </a:prstGeom>
          <a:solidFill>
            <a:srgbClr val="D1FAE5"/>
          </a:solidFill>
          <a:ln w="19050">
            <a:solidFill>
              <a:srgbClr val="10B981"/>
            </a:solidFill>
            <a:prstDash val="solid"/>
          </a:ln>
          <a:effectLst>
            <a:outerShdw blurRad="88900" dist="25400" dir="2700000" algn="bl" rotWithShape="0">
              <a:srgbClr val="000000">
                <a:alpha val="13000"/>
              </a:srgbClr>
            </a:outerShdw>
          </a:effectLst>
        </p:spPr>
      </p:sp>
      <p:sp>
        <p:nvSpPr>
          <p:cNvPr id="17" name="Shape 15"/>
          <p:cNvSpPr/>
          <p:nvPr/>
        </p:nvSpPr>
        <p:spPr>
          <a:xfrm>
            <a:off x="6217920" y="1143000"/>
            <a:ext cx="548640" cy="292608"/>
          </a:xfrm>
          <a:prstGeom prst="roundRect">
            <a:avLst>
              <a:gd name="adj" fmla="val 18750"/>
            </a:avLst>
          </a:prstGeom>
          <a:solidFill>
            <a:srgbClr val="10B981"/>
          </a:solidFill>
          <a:ln w="12700">
            <a:solidFill>
              <a:srgbClr val="10B981"/>
            </a:solidFill>
            <a:prstDash val="solid"/>
          </a:ln>
        </p:spPr>
      </p:sp>
      <p:sp>
        <p:nvSpPr>
          <p:cNvPr id="18" name="Text 16"/>
          <p:cNvSpPr/>
          <p:nvPr/>
        </p:nvSpPr>
        <p:spPr>
          <a:xfrm>
            <a:off x="6217920" y="1143000"/>
            <a:ext cx="5486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R3</a:t>
            </a:r>
            <a:endParaRPr lang="en-US" sz="1000" dirty="0"/>
          </a:p>
        </p:txBody>
      </p:sp>
      <p:sp>
        <p:nvSpPr>
          <p:cNvPr id="19" name="Text 17"/>
          <p:cNvSpPr/>
          <p:nvPr/>
        </p:nvSpPr>
        <p:spPr>
          <a:xfrm>
            <a:off x="6217920" y="1490472"/>
            <a:ext cx="2560320" cy="320040"/>
          </a:xfrm>
          <a:prstGeom prst="rect">
            <a:avLst/>
          </a:prstGeom>
          <a:noFill/>
          <a:ln/>
        </p:spPr>
        <p:txBody>
          <a:bodyPr wrap="square" lIns="0" tIns="0" rIns="0" bIns="0" rtlCol="0" anchor="ctr"/>
          <a:lstStyle/>
          <a:p>
            <a:pPr marL="0" indent="0">
              <a:buNone/>
            </a:pPr>
            <a:r>
              <a:rPr lang="en-US" sz="1100" b="1" dirty="0">
                <a:solidFill>
                  <a:srgbClr val="10B981"/>
                </a:solidFill>
                <a:latin typeface="Arial" pitchFamily="34" charset="0"/>
                <a:ea typeface="Arial" pitchFamily="34" charset="-122"/>
                <a:cs typeface="Arial" pitchFamily="34" charset="-120"/>
              </a:rPr>
              <a:t>Convertir noms en IDs dans params</a:t>
            </a:r>
            <a:endParaRPr lang="en-US" sz="1100" dirty="0"/>
          </a:p>
        </p:txBody>
      </p:sp>
      <p:sp>
        <p:nvSpPr>
          <p:cNvPr id="20" name="Text 18"/>
          <p:cNvSpPr/>
          <p:nvPr/>
        </p:nvSpPr>
        <p:spPr>
          <a:xfrm>
            <a:off x="6217920" y="1828800"/>
            <a:ext cx="2560320" cy="34747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Permet à l'interface d'exécuter l'action directement</a:t>
            </a:r>
            <a:endParaRPr lang="en-US" sz="950" dirty="0"/>
          </a:p>
        </p:txBody>
      </p:sp>
      <p:sp>
        <p:nvSpPr>
          <p:cNvPr id="21" name="Shape 19"/>
          <p:cNvSpPr/>
          <p:nvPr/>
        </p:nvSpPr>
        <p:spPr>
          <a:xfrm>
            <a:off x="274320" y="2377440"/>
            <a:ext cx="2743200" cy="1234440"/>
          </a:xfrm>
          <a:prstGeom prst="roundRect">
            <a:avLst>
              <a:gd name="adj" fmla="val 8889"/>
            </a:avLst>
          </a:prstGeom>
          <a:solidFill>
            <a:srgbClr val="E0F7FA"/>
          </a:solidFill>
          <a:ln w="19050">
            <a:solidFill>
              <a:srgbClr val="0EA5E9"/>
            </a:solidFill>
            <a:prstDash val="solid"/>
          </a:ln>
          <a:effectLst>
            <a:outerShdw blurRad="88900" dist="25400" dir="2700000" algn="bl" rotWithShape="0">
              <a:srgbClr val="000000">
                <a:alpha val="13000"/>
              </a:srgbClr>
            </a:outerShdw>
          </a:effectLst>
        </p:spPr>
      </p:sp>
      <p:sp>
        <p:nvSpPr>
          <p:cNvPr id="22" name="Shape 20"/>
          <p:cNvSpPr/>
          <p:nvPr/>
        </p:nvSpPr>
        <p:spPr>
          <a:xfrm>
            <a:off x="365760" y="2468880"/>
            <a:ext cx="548640" cy="292608"/>
          </a:xfrm>
          <a:prstGeom prst="roundRect">
            <a:avLst>
              <a:gd name="adj" fmla="val 18750"/>
            </a:avLst>
          </a:prstGeom>
          <a:solidFill>
            <a:srgbClr val="0EA5E9"/>
          </a:solidFill>
          <a:ln w="12700">
            <a:solidFill>
              <a:srgbClr val="0EA5E9"/>
            </a:solidFill>
            <a:prstDash val="solid"/>
          </a:ln>
        </p:spPr>
      </p:sp>
      <p:sp>
        <p:nvSpPr>
          <p:cNvPr id="23" name="Text 21"/>
          <p:cNvSpPr/>
          <p:nvPr/>
        </p:nvSpPr>
        <p:spPr>
          <a:xfrm>
            <a:off x="365760" y="2468880"/>
            <a:ext cx="5486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R4</a:t>
            </a:r>
            <a:endParaRPr lang="en-US" sz="1000" dirty="0"/>
          </a:p>
        </p:txBody>
      </p:sp>
      <p:sp>
        <p:nvSpPr>
          <p:cNvPr id="24" name="Text 22"/>
          <p:cNvSpPr/>
          <p:nvPr/>
        </p:nvSpPr>
        <p:spPr>
          <a:xfrm>
            <a:off x="365760" y="2816352"/>
            <a:ext cx="2560320" cy="320040"/>
          </a:xfrm>
          <a:prstGeom prst="rect">
            <a:avLst/>
          </a:prstGeom>
          <a:noFill/>
          <a:ln/>
        </p:spPr>
        <p:txBody>
          <a:bodyPr wrap="square" lIns="0" tIns="0" rIns="0" bIns="0" rtlCol="0" anchor="ctr"/>
          <a:lstStyle/>
          <a:p>
            <a:pPr marL="0" indent="0">
              <a:buNone/>
            </a:pPr>
            <a:r>
              <a:rPr lang="en-US" sz="1100" b="1" dirty="0">
                <a:solidFill>
                  <a:srgbClr val="0EA5E9"/>
                </a:solidFill>
                <a:latin typeface="Arial" pitchFamily="34" charset="0"/>
                <a:ea typeface="Arial" pitchFamily="34" charset="-122"/>
                <a:cs typeface="Arial" pitchFamily="34" charset="-120"/>
              </a:rPr>
              <a:t>'Qui enseigne aujourd'hui ?' → heure actuelle</a:t>
            </a:r>
            <a:endParaRPr lang="en-US" sz="1100" dirty="0"/>
          </a:p>
        </p:txBody>
      </p:sp>
      <p:sp>
        <p:nvSpPr>
          <p:cNvPr id="25" name="Text 23"/>
          <p:cNvSpPr/>
          <p:nvPr/>
        </p:nvSpPr>
        <p:spPr>
          <a:xfrm>
            <a:off x="365760" y="3154680"/>
            <a:ext cx="2560320" cy="34747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Réponse contextualisée selon le moment de la journée</a:t>
            </a:r>
            <a:endParaRPr lang="en-US" sz="950" dirty="0"/>
          </a:p>
        </p:txBody>
      </p:sp>
      <p:sp>
        <p:nvSpPr>
          <p:cNvPr id="26" name="Shape 24"/>
          <p:cNvSpPr/>
          <p:nvPr/>
        </p:nvSpPr>
        <p:spPr>
          <a:xfrm>
            <a:off x="3200400" y="2377440"/>
            <a:ext cx="2743200" cy="1234440"/>
          </a:xfrm>
          <a:prstGeom prst="roundRect">
            <a:avLst>
              <a:gd name="adj" fmla="val 8889"/>
            </a:avLst>
          </a:prstGeom>
          <a:solidFill>
            <a:srgbClr val="EDE9FE"/>
          </a:solidFill>
          <a:ln w="19050">
            <a:solidFill>
              <a:srgbClr val="4C1D95"/>
            </a:solidFill>
            <a:prstDash val="solid"/>
          </a:ln>
          <a:effectLst>
            <a:outerShdw blurRad="88900" dist="25400" dir="2700000" algn="bl" rotWithShape="0">
              <a:srgbClr val="000000">
                <a:alpha val="13000"/>
              </a:srgbClr>
            </a:outerShdw>
          </a:effectLst>
        </p:spPr>
      </p:sp>
      <p:sp>
        <p:nvSpPr>
          <p:cNvPr id="27" name="Shape 25"/>
          <p:cNvSpPr/>
          <p:nvPr/>
        </p:nvSpPr>
        <p:spPr>
          <a:xfrm>
            <a:off x="3291840" y="2468880"/>
            <a:ext cx="548640" cy="292608"/>
          </a:xfrm>
          <a:prstGeom prst="roundRect">
            <a:avLst>
              <a:gd name="adj" fmla="val 18750"/>
            </a:avLst>
          </a:prstGeom>
          <a:solidFill>
            <a:srgbClr val="4C1D95"/>
          </a:solidFill>
          <a:ln w="12700">
            <a:solidFill>
              <a:srgbClr val="4C1D95"/>
            </a:solidFill>
            <a:prstDash val="solid"/>
          </a:ln>
        </p:spPr>
      </p:sp>
      <p:sp>
        <p:nvSpPr>
          <p:cNvPr id="28" name="Text 26"/>
          <p:cNvSpPr/>
          <p:nvPr/>
        </p:nvSpPr>
        <p:spPr>
          <a:xfrm>
            <a:off x="3291840" y="2468880"/>
            <a:ext cx="5486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R5</a:t>
            </a:r>
            <a:endParaRPr lang="en-US" sz="1000" dirty="0"/>
          </a:p>
        </p:txBody>
      </p:sp>
      <p:sp>
        <p:nvSpPr>
          <p:cNvPr id="29" name="Text 27"/>
          <p:cNvSpPr/>
          <p:nvPr/>
        </p:nvSpPr>
        <p:spPr>
          <a:xfrm>
            <a:off x="3291840" y="2816352"/>
            <a:ext cx="2560320" cy="320040"/>
          </a:xfrm>
          <a:prstGeom prst="rect">
            <a:avLst/>
          </a:prstGeom>
          <a:noFill/>
          <a:ln/>
        </p:spPr>
        <p:txBody>
          <a:bodyPr wrap="square" lIns="0" tIns="0" rIns="0" bIns="0" rtlCol="0" anchor="ctr"/>
          <a:lstStyle/>
          <a:p>
            <a:pPr marL="0" indent="0">
              <a:buNone/>
            </a:pPr>
            <a:r>
              <a:rPr lang="en-US" sz="1100" b="1" dirty="0">
                <a:solidFill>
                  <a:srgbClr val="4C1D95"/>
                </a:solidFill>
                <a:latin typeface="Arial" pitchFamily="34" charset="0"/>
                <a:ea typeface="Arial" pitchFamily="34" charset="-122"/>
                <a:cs typeface="Arial" pitchFamily="34" charset="-120"/>
              </a:rPr>
              <a:t>Ne jamais inventer de données app</a:t>
            </a:r>
            <a:endParaRPr lang="en-US" sz="1100" dirty="0"/>
          </a:p>
        </p:txBody>
      </p:sp>
      <p:sp>
        <p:nvSpPr>
          <p:cNvPr id="30" name="Text 28"/>
          <p:cNvSpPr/>
          <p:nvPr/>
        </p:nvSpPr>
        <p:spPr>
          <a:xfrm>
            <a:off x="3291840" y="3154680"/>
            <a:ext cx="2560320" cy="34747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Correction du bug 'Sophie connectée' (hallucination)</a:t>
            </a:r>
            <a:endParaRPr lang="en-US" sz="950" dirty="0"/>
          </a:p>
        </p:txBody>
      </p:sp>
      <p:sp>
        <p:nvSpPr>
          <p:cNvPr id="31" name="Shape 29"/>
          <p:cNvSpPr/>
          <p:nvPr/>
        </p:nvSpPr>
        <p:spPr>
          <a:xfrm>
            <a:off x="6126480" y="2377440"/>
            <a:ext cx="2743200" cy="1234440"/>
          </a:xfrm>
          <a:prstGeom prst="roundRect">
            <a:avLst>
              <a:gd name="adj" fmla="val 8889"/>
            </a:avLst>
          </a:prstGeom>
          <a:solidFill>
            <a:srgbClr val="FEF3C7"/>
          </a:solidFill>
          <a:ln w="19050">
            <a:solidFill>
              <a:srgbClr val="F59E0B"/>
            </a:solidFill>
            <a:prstDash val="solid"/>
          </a:ln>
          <a:effectLst>
            <a:outerShdw blurRad="88900" dist="25400" dir="2700000" algn="bl" rotWithShape="0">
              <a:srgbClr val="000000">
                <a:alpha val="13000"/>
              </a:srgbClr>
            </a:outerShdw>
          </a:effectLst>
        </p:spPr>
      </p:sp>
      <p:sp>
        <p:nvSpPr>
          <p:cNvPr id="32" name="Shape 30"/>
          <p:cNvSpPr/>
          <p:nvPr/>
        </p:nvSpPr>
        <p:spPr>
          <a:xfrm>
            <a:off x="6217920" y="2468880"/>
            <a:ext cx="548640" cy="292608"/>
          </a:xfrm>
          <a:prstGeom prst="roundRect">
            <a:avLst>
              <a:gd name="adj" fmla="val 18750"/>
            </a:avLst>
          </a:prstGeom>
          <a:solidFill>
            <a:srgbClr val="F59E0B"/>
          </a:solidFill>
          <a:ln w="12700">
            <a:solidFill>
              <a:srgbClr val="F59E0B"/>
            </a:solidFill>
            <a:prstDash val="solid"/>
          </a:ln>
        </p:spPr>
      </p:sp>
      <p:sp>
        <p:nvSpPr>
          <p:cNvPr id="33" name="Text 31"/>
          <p:cNvSpPr/>
          <p:nvPr/>
        </p:nvSpPr>
        <p:spPr>
          <a:xfrm>
            <a:off x="6217920" y="2468880"/>
            <a:ext cx="5486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R6</a:t>
            </a:r>
            <a:endParaRPr lang="en-US" sz="1000" dirty="0"/>
          </a:p>
        </p:txBody>
      </p:sp>
      <p:sp>
        <p:nvSpPr>
          <p:cNvPr id="34" name="Text 32"/>
          <p:cNvSpPr/>
          <p:nvPr/>
        </p:nvSpPr>
        <p:spPr>
          <a:xfrm>
            <a:off x="6217920" y="2816352"/>
            <a:ext cx="2560320" cy="320040"/>
          </a:xfrm>
          <a:prstGeom prst="rect">
            <a:avLst/>
          </a:prstGeom>
          <a:noFill/>
          <a:ln/>
        </p:spPr>
        <p:txBody>
          <a:bodyPr wrap="square" lIns="0" tIns="0" rIns="0" bIns="0" rtlCol="0" anchor="ctr"/>
          <a:lstStyle/>
          <a:p>
            <a:pPr marL="0" indent="0">
              <a:buNone/>
            </a:pPr>
            <a:r>
              <a:rPr lang="en-US" sz="1100" b="1" dirty="0">
                <a:solidFill>
                  <a:srgbClr val="F59E0B"/>
                </a:solidFill>
                <a:latin typeface="Arial" pitchFamily="34" charset="0"/>
                <a:ea typeface="Arial" pitchFamily="34" charset="-122"/>
                <a:cs typeface="Arial" pitchFamily="34" charset="-120"/>
              </a:rPr>
              <a:t>Rôles : chef / prof / étudiant</a:t>
            </a:r>
            <a:endParaRPr lang="en-US" sz="1100" dirty="0"/>
          </a:p>
        </p:txBody>
      </p:sp>
      <p:sp>
        <p:nvSpPr>
          <p:cNvPr id="35" name="Text 33"/>
          <p:cNvSpPr/>
          <p:nvPr/>
        </p:nvSpPr>
        <p:spPr>
          <a:xfrm>
            <a:off x="6217920" y="3154680"/>
            <a:ext cx="2560320" cy="34747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L'IA comprend la hiérarchie universitaire de l'UGANC</a:t>
            </a:r>
            <a:endParaRPr lang="en-US" sz="950" dirty="0"/>
          </a:p>
        </p:txBody>
      </p:sp>
      <p:sp>
        <p:nvSpPr>
          <p:cNvPr id="36" name="Shape 34"/>
          <p:cNvSpPr/>
          <p:nvPr/>
        </p:nvSpPr>
        <p:spPr>
          <a:xfrm>
            <a:off x="274320" y="3703320"/>
            <a:ext cx="2743200" cy="1234440"/>
          </a:xfrm>
          <a:prstGeom prst="roundRect">
            <a:avLst>
              <a:gd name="adj" fmla="val 8889"/>
            </a:avLst>
          </a:prstGeom>
          <a:solidFill>
            <a:srgbClr val="FED7AA"/>
          </a:solidFill>
          <a:ln w="19050">
            <a:solidFill>
              <a:srgbClr val="EA580C"/>
            </a:solidFill>
            <a:prstDash val="solid"/>
          </a:ln>
          <a:effectLst>
            <a:outerShdw blurRad="88900" dist="25400" dir="2700000" algn="bl" rotWithShape="0">
              <a:srgbClr val="000000">
                <a:alpha val="13000"/>
              </a:srgbClr>
            </a:outerShdw>
          </a:effectLst>
        </p:spPr>
      </p:sp>
      <p:sp>
        <p:nvSpPr>
          <p:cNvPr id="37" name="Shape 35"/>
          <p:cNvSpPr/>
          <p:nvPr/>
        </p:nvSpPr>
        <p:spPr>
          <a:xfrm>
            <a:off x="365760" y="3794760"/>
            <a:ext cx="548640" cy="292608"/>
          </a:xfrm>
          <a:prstGeom prst="roundRect">
            <a:avLst>
              <a:gd name="adj" fmla="val 18750"/>
            </a:avLst>
          </a:prstGeom>
          <a:solidFill>
            <a:srgbClr val="EA580C"/>
          </a:solidFill>
          <a:ln w="12700">
            <a:solidFill>
              <a:srgbClr val="EA580C"/>
            </a:solidFill>
            <a:prstDash val="solid"/>
          </a:ln>
        </p:spPr>
      </p:sp>
      <p:sp>
        <p:nvSpPr>
          <p:cNvPr id="38" name="Text 36"/>
          <p:cNvSpPr/>
          <p:nvPr/>
        </p:nvSpPr>
        <p:spPr>
          <a:xfrm>
            <a:off x="365760" y="3794760"/>
            <a:ext cx="5486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R7</a:t>
            </a:r>
            <a:endParaRPr lang="en-US" sz="1000" dirty="0"/>
          </a:p>
        </p:txBody>
      </p:sp>
      <p:sp>
        <p:nvSpPr>
          <p:cNvPr id="39" name="Text 37"/>
          <p:cNvSpPr/>
          <p:nvPr/>
        </p:nvSpPr>
        <p:spPr>
          <a:xfrm>
            <a:off x="365760" y="4142232"/>
            <a:ext cx="2560320" cy="320040"/>
          </a:xfrm>
          <a:prstGeom prst="rect">
            <a:avLst/>
          </a:prstGeom>
          <a:noFill/>
          <a:ln/>
        </p:spPr>
        <p:txBody>
          <a:bodyPr wrap="square" lIns="0" tIns="0" rIns="0" bIns="0" rtlCol="0" anchor="ctr"/>
          <a:lstStyle/>
          <a:p>
            <a:pPr marL="0" indent="0">
              <a:buNone/>
            </a:pPr>
            <a:r>
              <a:rPr lang="en-US" sz="1100" b="1" dirty="0">
                <a:solidFill>
                  <a:srgbClr val="EA580C"/>
                </a:solidFill>
                <a:latin typeface="Arial" pitchFamily="34" charset="0"/>
                <a:ea typeface="Arial" pitchFamily="34" charset="-122"/>
                <a:cs typeface="Arial" pitchFamily="34" charset="-120"/>
              </a:rPr>
              <a:t>'Voir tout ensemble' → show_edt_jour</a:t>
            </a:r>
            <a:endParaRPr lang="en-US" sz="1100" dirty="0"/>
          </a:p>
        </p:txBody>
      </p:sp>
      <p:sp>
        <p:nvSpPr>
          <p:cNvPr id="40" name="Text 38"/>
          <p:cNvSpPr/>
          <p:nvPr/>
        </p:nvSpPr>
        <p:spPr>
          <a:xfrm>
            <a:off x="365760" y="4480560"/>
            <a:ext cx="2560320" cy="34747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Correction de la réponse 'diplopie' hors contexte EDT</a:t>
            </a:r>
            <a:endParaRPr lang="en-US" sz="950" dirty="0"/>
          </a:p>
        </p:txBody>
      </p:sp>
      <p:sp>
        <p:nvSpPr>
          <p:cNvPr id="41" name="Shape 39"/>
          <p:cNvSpPr/>
          <p:nvPr/>
        </p:nvSpPr>
        <p:spPr>
          <a:xfrm>
            <a:off x="3200400" y="3703320"/>
            <a:ext cx="2743200" cy="1234440"/>
          </a:xfrm>
          <a:prstGeom prst="roundRect">
            <a:avLst>
              <a:gd name="adj" fmla="val 8889"/>
            </a:avLst>
          </a:prstGeom>
          <a:solidFill>
            <a:srgbClr val="DBEAFE"/>
          </a:solidFill>
          <a:ln w="19050">
            <a:solidFill>
              <a:srgbClr val="1B4FD8"/>
            </a:solidFill>
            <a:prstDash val="solid"/>
          </a:ln>
          <a:effectLst>
            <a:outerShdw blurRad="88900" dist="25400" dir="2700000" algn="bl" rotWithShape="0">
              <a:srgbClr val="000000">
                <a:alpha val="13000"/>
              </a:srgbClr>
            </a:outerShdw>
          </a:effectLst>
        </p:spPr>
      </p:sp>
      <p:sp>
        <p:nvSpPr>
          <p:cNvPr id="42" name="Shape 40"/>
          <p:cNvSpPr/>
          <p:nvPr/>
        </p:nvSpPr>
        <p:spPr>
          <a:xfrm>
            <a:off x="3291840" y="3794760"/>
            <a:ext cx="548640" cy="292608"/>
          </a:xfrm>
          <a:prstGeom prst="roundRect">
            <a:avLst>
              <a:gd name="adj" fmla="val 18750"/>
            </a:avLst>
          </a:prstGeom>
          <a:solidFill>
            <a:srgbClr val="1B4FD8"/>
          </a:solidFill>
          <a:ln w="12700">
            <a:solidFill>
              <a:srgbClr val="1B4FD8"/>
            </a:solidFill>
            <a:prstDash val="solid"/>
          </a:ln>
        </p:spPr>
      </p:sp>
      <p:sp>
        <p:nvSpPr>
          <p:cNvPr id="43" name="Text 41"/>
          <p:cNvSpPr/>
          <p:nvPr/>
        </p:nvSpPr>
        <p:spPr>
          <a:xfrm>
            <a:off x="3291840" y="3794760"/>
            <a:ext cx="5486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R8</a:t>
            </a:r>
            <a:endParaRPr lang="en-US" sz="1000" dirty="0"/>
          </a:p>
        </p:txBody>
      </p:sp>
      <p:sp>
        <p:nvSpPr>
          <p:cNvPr id="44" name="Text 42"/>
          <p:cNvSpPr/>
          <p:nvPr/>
        </p:nvSpPr>
        <p:spPr>
          <a:xfrm>
            <a:off x="3291840" y="4142232"/>
            <a:ext cx="2560320" cy="320040"/>
          </a:xfrm>
          <a:prstGeom prst="rect">
            <a:avLst/>
          </a:prstGeom>
          <a:noFill/>
          <a:ln/>
        </p:spPr>
        <p:txBody>
          <a:bodyPr wrap="square" lIns="0" tIns="0" rIns="0" bIns="0" rtlCol="0" anchor="ctr"/>
          <a:lstStyle/>
          <a:p>
            <a:pPr marL="0" indent="0">
              <a:buNone/>
            </a:pPr>
            <a:r>
              <a:rPr lang="en-US" sz="1100" b="1" dirty="0">
                <a:solidFill>
                  <a:srgbClr val="1B4FD8"/>
                </a:solidFill>
                <a:latin typeface="Arial" pitchFamily="34" charset="0"/>
                <a:ea typeface="Arial" pitchFamily="34" charset="-122"/>
                <a:cs typeface="Arial" pitchFamily="34" charset="-120"/>
              </a:rPr>
              <a:t>Contexte horaires → rester dans ce contexte</a:t>
            </a:r>
            <a:endParaRPr lang="en-US" sz="1100" dirty="0"/>
          </a:p>
        </p:txBody>
      </p:sp>
      <p:sp>
        <p:nvSpPr>
          <p:cNvPr id="45" name="Text 43"/>
          <p:cNvSpPr/>
          <p:nvPr/>
        </p:nvSpPr>
        <p:spPr>
          <a:xfrm>
            <a:off x="3291840" y="4480560"/>
            <a:ext cx="2560320" cy="34747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Cohérence et continuité de la conversation</a:t>
            </a:r>
            <a:endParaRPr lang="en-US" sz="950" dirty="0"/>
          </a:p>
        </p:txBody>
      </p:sp>
      <p:sp>
        <p:nvSpPr>
          <p:cNvPr id="46" name="Shape 44"/>
          <p:cNvSpPr/>
          <p:nvPr/>
        </p:nvSpPr>
        <p:spPr>
          <a:xfrm>
            <a:off x="6126480" y="3703320"/>
            <a:ext cx="2743200" cy="1234440"/>
          </a:xfrm>
          <a:prstGeom prst="roundRect">
            <a:avLst>
              <a:gd name="adj" fmla="val 8889"/>
            </a:avLst>
          </a:prstGeom>
          <a:solidFill>
            <a:srgbClr val="FEE2E2"/>
          </a:solidFill>
          <a:ln w="19050">
            <a:solidFill>
              <a:srgbClr val="EF4444"/>
            </a:solidFill>
            <a:prstDash val="solid"/>
          </a:ln>
          <a:effectLst>
            <a:outerShdw blurRad="88900" dist="25400" dir="2700000" algn="bl" rotWithShape="0">
              <a:srgbClr val="000000">
                <a:alpha val="13000"/>
              </a:srgbClr>
            </a:outerShdw>
          </a:effectLst>
        </p:spPr>
      </p:sp>
      <p:sp>
        <p:nvSpPr>
          <p:cNvPr id="47" name="Shape 45"/>
          <p:cNvSpPr/>
          <p:nvPr/>
        </p:nvSpPr>
        <p:spPr>
          <a:xfrm>
            <a:off x="6217920" y="3794760"/>
            <a:ext cx="548640" cy="292608"/>
          </a:xfrm>
          <a:prstGeom prst="roundRect">
            <a:avLst>
              <a:gd name="adj" fmla="val 18750"/>
            </a:avLst>
          </a:prstGeom>
          <a:solidFill>
            <a:srgbClr val="EF4444"/>
          </a:solidFill>
          <a:ln w="12700">
            <a:solidFill>
              <a:srgbClr val="EF4444"/>
            </a:solidFill>
            <a:prstDash val="solid"/>
          </a:ln>
        </p:spPr>
      </p:sp>
      <p:sp>
        <p:nvSpPr>
          <p:cNvPr id="48" name="Text 46"/>
          <p:cNvSpPr/>
          <p:nvPr/>
        </p:nvSpPr>
        <p:spPr>
          <a:xfrm>
            <a:off x="6217920" y="3794760"/>
            <a:ext cx="54864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R9</a:t>
            </a:r>
            <a:endParaRPr lang="en-US" sz="1000" dirty="0"/>
          </a:p>
        </p:txBody>
      </p:sp>
      <p:sp>
        <p:nvSpPr>
          <p:cNvPr id="49" name="Text 47"/>
          <p:cNvSpPr/>
          <p:nvPr/>
        </p:nvSpPr>
        <p:spPr>
          <a:xfrm>
            <a:off x="6217920" y="4142232"/>
            <a:ext cx="2560320" cy="320040"/>
          </a:xfrm>
          <a:prstGeom prst="rect">
            <a:avLst/>
          </a:prstGeom>
          <a:noFill/>
          <a:ln/>
        </p:spPr>
        <p:txBody>
          <a:bodyPr wrap="square" lIns="0" tIns="0" rIns="0" bIns="0" rtlCol="0" anchor="ctr"/>
          <a:lstStyle/>
          <a:p>
            <a:pPr marL="0" indent="0">
              <a:buNone/>
            </a:pPr>
            <a:r>
              <a:rPr lang="en-US" sz="1100" b="1" dirty="0">
                <a:solidFill>
                  <a:srgbClr val="EF4444"/>
                </a:solidFill>
                <a:latin typeface="Arial" pitchFamily="34" charset="0"/>
                <a:ea typeface="Arial" pitchFamily="34" charset="-122"/>
                <a:cs typeface="Arial" pitchFamily="34" charset="-120"/>
              </a:rPr>
              <a:t>Jamais de réponse médicale/hors-sujet</a:t>
            </a:r>
            <a:endParaRPr lang="en-US" sz="1100" dirty="0"/>
          </a:p>
        </p:txBody>
      </p:sp>
      <p:sp>
        <p:nvSpPr>
          <p:cNvPr id="50" name="Text 48"/>
          <p:cNvSpPr/>
          <p:nvPr/>
        </p:nvSpPr>
        <p:spPr>
          <a:xfrm>
            <a:off x="6217920" y="4480560"/>
            <a:ext cx="2560320" cy="34747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Correction des hallucinations thématiques dans contexte EDT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0D1B2A"/>
          </a:solidFill>
          <a:ln w="12700">
            <a:solidFill>
              <a:srgbClr val="0D1B2A"/>
            </a:solidFill>
            <a:prstDash val="solid"/>
          </a:ln>
        </p:spPr>
      </p:sp>
      <p:sp>
        <p:nvSpPr>
          <p:cNvPr id="3" name="Text 1"/>
          <p:cNvSpPr/>
          <p:nvPr/>
        </p:nvSpPr>
        <p:spPr>
          <a:xfrm>
            <a:off x="457200" y="64008"/>
            <a:ext cx="8229600" cy="329184"/>
          </a:xfrm>
          <a:prstGeom prst="rect">
            <a:avLst/>
          </a:prstGeom>
          <a:noFill/>
          <a:ln/>
        </p:spPr>
        <p:txBody>
          <a:bodyPr wrap="square" lIns="0" tIns="0" rIns="0" bIns="0" rtlCol="0" anchor="ctr"/>
          <a:lstStyle/>
          <a:p>
            <a:pPr marL="0" indent="0">
              <a:buNone/>
            </a:pPr>
            <a:r>
              <a:rPr lang="en-US" sz="1000" b="1" kern="0" spc="400" dirty="0">
                <a:solidFill>
                  <a:srgbClr val="0EA5E9"/>
                </a:solidFill>
                <a:latin typeface="Arial" pitchFamily="34" charset="0"/>
                <a:ea typeface="Arial" pitchFamily="34" charset="-122"/>
                <a:cs typeface="Arial" pitchFamily="34" charset="-120"/>
              </a:rPr>
              <a:t>SECTION 8 — OPTIMISATION</a:t>
            </a:r>
            <a:endParaRPr lang="en-US" sz="1000" dirty="0"/>
          </a:p>
        </p:txBody>
      </p:sp>
      <p:sp>
        <p:nvSpPr>
          <p:cNvPr id="4" name="Text 2"/>
          <p:cNvSpPr/>
          <p:nvPr/>
        </p:nvSpPr>
        <p:spPr>
          <a:xfrm>
            <a:off x="457200" y="402336"/>
            <a:ext cx="6217920" cy="493776"/>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Réduction des tokens — De 3 400 à 800 (-76%)</a:t>
            </a:r>
            <a:endParaRPr lang="en-US" sz="2000" dirty="0"/>
          </a:p>
        </p:txBody>
      </p:sp>
      <p:sp>
        <p:nvSpPr>
          <p:cNvPr id="5" name="Text 3"/>
          <p:cNvSpPr/>
          <p:nvPr/>
        </p:nvSpPr>
        <p:spPr>
          <a:xfrm>
            <a:off x="6400800" y="457200"/>
            <a:ext cx="2560320" cy="384048"/>
          </a:xfrm>
          <a:prstGeom prst="rect">
            <a:avLst/>
          </a:prstGeom>
          <a:noFill/>
          <a:ln/>
        </p:spPr>
        <p:txBody>
          <a:bodyPr wrap="square" lIns="0" tIns="0" rIns="0" bIns="0" rtlCol="0" anchor="ctr"/>
          <a:lstStyle/>
          <a:p>
            <a:pPr marL="0" indent="0" algn="r">
              <a:buNone/>
            </a:pPr>
            <a:r>
              <a:rPr lang="en-US" sz="1100" dirty="0">
                <a:solidFill>
                  <a:srgbClr val="0EA5E9"/>
                </a:solidFill>
                <a:latin typeface="Arial" pitchFamily="34" charset="0"/>
                <a:ea typeface="Arial" pitchFamily="34" charset="-122"/>
                <a:cs typeface="Arial" pitchFamily="34" charset="-120"/>
              </a:rPr>
              <a:t>Groq : 6 000 tokens/min max</a:t>
            </a:r>
            <a:endParaRPr lang="en-US" sz="1100" dirty="0"/>
          </a:p>
        </p:txBody>
      </p:sp>
      <p:sp>
        <p:nvSpPr>
          <p:cNvPr id="6" name="Shape 4"/>
          <p:cNvSpPr/>
          <p:nvPr/>
        </p:nvSpPr>
        <p:spPr>
          <a:xfrm>
            <a:off x="274320" y="1051560"/>
            <a:ext cx="4114800" cy="1115568"/>
          </a:xfrm>
          <a:prstGeom prst="roundRect">
            <a:avLst>
              <a:gd name="adj" fmla="val 9836"/>
            </a:avLst>
          </a:prstGeom>
          <a:solidFill>
            <a:srgbClr val="FEE2E2"/>
          </a:solidFill>
          <a:ln w="19050">
            <a:solidFill>
              <a:srgbClr val="EF4444"/>
            </a:solidFill>
            <a:prstDash val="solid"/>
          </a:ln>
          <a:effectLst>
            <a:outerShdw blurRad="88900" dist="25400" dir="2700000" algn="bl" rotWithShape="0">
              <a:srgbClr val="000000">
                <a:alpha val="13000"/>
              </a:srgbClr>
            </a:outerShdw>
          </a:effectLst>
        </p:spPr>
      </p:sp>
      <p:sp>
        <p:nvSpPr>
          <p:cNvPr id="7" name="Text 5"/>
          <p:cNvSpPr/>
          <p:nvPr/>
        </p:nvSpPr>
        <p:spPr>
          <a:xfrm>
            <a:off x="411480" y="1115568"/>
            <a:ext cx="3840480" cy="320040"/>
          </a:xfrm>
          <a:prstGeom prst="rect">
            <a:avLst/>
          </a:prstGeom>
          <a:noFill/>
          <a:ln/>
        </p:spPr>
        <p:txBody>
          <a:bodyPr wrap="square" lIns="0" tIns="0" rIns="0" bIns="0" rtlCol="0" anchor="ctr"/>
          <a:lstStyle/>
          <a:p>
            <a:pPr marL="0" indent="0">
              <a:buNone/>
            </a:pPr>
            <a:r>
              <a:rPr lang="en-US" sz="1300" b="1" dirty="0">
                <a:solidFill>
                  <a:srgbClr val="EF4444"/>
                </a:solidFill>
                <a:latin typeface="Arial" pitchFamily="34" charset="0"/>
                <a:ea typeface="Arial" pitchFamily="34" charset="-122"/>
                <a:cs typeface="Arial" pitchFamily="34" charset="-120"/>
              </a:rPr>
              <a:t>❌  Problème initial</a:t>
            </a:r>
            <a:endParaRPr lang="en-US" sz="1300" dirty="0"/>
          </a:p>
        </p:txBody>
      </p:sp>
      <p:sp>
        <p:nvSpPr>
          <p:cNvPr id="8" name="Text 6"/>
          <p:cNvSpPr/>
          <p:nvPr/>
        </p:nvSpPr>
        <p:spPr>
          <a:xfrm>
            <a:off x="411480" y="1444752"/>
            <a:ext cx="3840480" cy="621792"/>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Erreur 'Rate limit exceeded'</a:t>
            </a:r>
            <a:endParaRPr lang="en-US" sz="1100" dirty="0"/>
          </a:p>
          <a:p>
            <a:pPr marL="0" indent="0">
              <a:buNone/>
            </a:pPr>
            <a:r>
              <a:rPr lang="en-US" sz="1100" dirty="0">
                <a:solidFill>
                  <a:srgbClr val="1E293B"/>
                </a:solidFill>
                <a:latin typeface="Arial" pitchFamily="34" charset="0"/>
                <a:ea typeface="Arial" pitchFamily="34" charset="-122"/>
                <a:cs typeface="Arial" pitchFamily="34" charset="-120"/>
              </a:rPr>
              <a:t>Prompt de ~3 400 tokens → dépassait la limite Groq de 6 000 TPM (tokens par minute prompt + réponse)</a:t>
            </a:r>
            <a:endParaRPr lang="en-US" sz="1100" dirty="0"/>
          </a:p>
        </p:txBody>
      </p:sp>
      <p:sp>
        <p:nvSpPr>
          <p:cNvPr id="9" name="Shape 7"/>
          <p:cNvSpPr/>
          <p:nvPr/>
        </p:nvSpPr>
        <p:spPr>
          <a:xfrm>
            <a:off x="4754880" y="1051560"/>
            <a:ext cx="4114800" cy="1115568"/>
          </a:xfrm>
          <a:prstGeom prst="roundRect">
            <a:avLst>
              <a:gd name="adj" fmla="val 9836"/>
            </a:avLst>
          </a:prstGeom>
          <a:solidFill>
            <a:srgbClr val="D1FAE5"/>
          </a:solidFill>
          <a:ln w="19050">
            <a:solidFill>
              <a:srgbClr val="10B981"/>
            </a:solidFill>
            <a:prstDash val="solid"/>
          </a:ln>
          <a:effectLst>
            <a:outerShdw blurRad="88900" dist="25400" dir="2700000" algn="bl" rotWithShape="0">
              <a:srgbClr val="000000">
                <a:alpha val="13000"/>
              </a:srgbClr>
            </a:outerShdw>
          </a:effectLst>
        </p:spPr>
      </p:sp>
      <p:sp>
        <p:nvSpPr>
          <p:cNvPr id="10" name="Text 8"/>
          <p:cNvSpPr/>
          <p:nvPr/>
        </p:nvSpPr>
        <p:spPr>
          <a:xfrm>
            <a:off x="4892040" y="1115568"/>
            <a:ext cx="3840480" cy="320040"/>
          </a:xfrm>
          <a:prstGeom prst="rect">
            <a:avLst/>
          </a:prstGeom>
          <a:noFill/>
          <a:ln/>
        </p:spPr>
        <p:txBody>
          <a:bodyPr wrap="square" lIns="0" tIns="0" rIns="0" bIns="0" rtlCol="0" anchor="ctr"/>
          <a:lstStyle/>
          <a:p>
            <a:pPr marL="0" indent="0">
              <a:buNone/>
            </a:pPr>
            <a:r>
              <a:rPr lang="en-US" sz="1300" b="1" dirty="0">
                <a:solidFill>
                  <a:srgbClr val="10B981"/>
                </a:solidFill>
                <a:latin typeface="Arial" pitchFamily="34" charset="0"/>
                <a:ea typeface="Arial" pitchFamily="34" charset="-122"/>
                <a:cs typeface="Arial" pitchFamily="34" charset="-120"/>
              </a:rPr>
              <a:t>✅  Résultat après optimisation</a:t>
            </a:r>
            <a:endParaRPr lang="en-US" sz="1300" dirty="0"/>
          </a:p>
        </p:txBody>
      </p:sp>
      <p:sp>
        <p:nvSpPr>
          <p:cNvPr id="11" name="Text 9"/>
          <p:cNvSpPr/>
          <p:nvPr/>
        </p:nvSpPr>
        <p:spPr>
          <a:xfrm>
            <a:off x="4892040" y="1444752"/>
            <a:ext cx="3840480" cy="621792"/>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~800 tokens en moyenne (–76%)</a:t>
            </a:r>
            <a:endParaRPr lang="en-US" sz="1100" dirty="0"/>
          </a:p>
          <a:p>
            <a:pPr marL="0" indent="0">
              <a:buNone/>
            </a:pPr>
            <a:r>
              <a:rPr lang="en-US" sz="1100" dirty="0">
                <a:solidFill>
                  <a:srgbClr val="1E293B"/>
                </a:solidFill>
                <a:latin typeface="Arial" pitchFamily="34" charset="0"/>
                <a:ea typeface="Arial" pitchFamily="34" charset="-122"/>
                <a:cs typeface="Arial" pitchFamily="34" charset="-120"/>
              </a:rPr>
              <a:t>Zéro erreur de limite depuis l'optimisation</a:t>
            </a:r>
            <a:endParaRPr lang="en-US" sz="1100" dirty="0"/>
          </a:p>
          <a:p>
            <a:pPr marL="0" indent="0">
              <a:buNone/>
            </a:pPr>
            <a:r>
              <a:rPr lang="en-US" sz="1100" dirty="0">
                <a:solidFill>
                  <a:srgbClr val="1E293B"/>
                </a:solidFill>
                <a:latin typeface="Arial" pitchFamily="34" charset="0"/>
                <a:ea typeface="Arial" pitchFamily="34" charset="-122"/>
                <a:cs typeface="Arial" pitchFamily="34" charset="-120"/>
              </a:rPr>
              <a:t>Performances identiques, coût divisé par 4</a:t>
            </a:r>
            <a:endParaRPr lang="en-US" sz="1100" dirty="0"/>
          </a:p>
        </p:txBody>
      </p:sp>
      <p:sp>
        <p:nvSpPr>
          <p:cNvPr id="12" name="Shape 10"/>
          <p:cNvSpPr/>
          <p:nvPr/>
        </p:nvSpPr>
        <p:spPr>
          <a:xfrm>
            <a:off x="274320" y="2304288"/>
            <a:ext cx="8595360" cy="685800"/>
          </a:xfrm>
          <a:prstGeom prst="roundRect">
            <a:avLst>
              <a:gd name="adj" fmla="val 13333"/>
            </a:avLst>
          </a:prstGeom>
          <a:solidFill>
            <a:srgbClr val="DBEAFE"/>
          </a:solidFill>
          <a:ln w="15240">
            <a:solidFill>
              <a:srgbClr val="1B4FD8"/>
            </a:solidFill>
            <a:prstDash val="solid"/>
          </a:ln>
          <a:effectLst>
            <a:outerShdw blurRad="88900" dist="25400" dir="2700000" algn="bl" rotWithShape="0">
              <a:srgbClr val="000000">
                <a:alpha val="13000"/>
              </a:srgbClr>
            </a:outerShdw>
          </a:effectLst>
        </p:spPr>
      </p:sp>
      <p:sp>
        <p:nvSpPr>
          <p:cNvPr id="13" name="Shape 11"/>
          <p:cNvSpPr/>
          <p:nvPr/>
        </p:nvSpPr>
        <p:spPr>
          <a:xfrm>
            <a:off x="347472" y="2441448"/>
            <a:ext cx="384048" cy="384048"/>
          </a:xfrm>
          <a:prstGeom prst="ellipse">
            <a:avLst/>
          </a:prstGeom>
          <a:solidFill>
            <a:srgbClr val="1B4FD8"/>
          </a:solidFill>
          <a:ln w="12700">
            <a:solidFill>
              <a:srgbClr val="1B4FD8"/>
            </a:solidFill>
            <a:prstDash val="solid"/>
          </a:ln>
        </p:spPr>
      </p:sp>
      <p:sp>
        <p:nvSpPr>
          <p:cNvPr id="14" name="Text 12"/>
          <p:cNvSpPr/>
          <p:nvPr/>
        </p:nvSpPr>
        <p:spPr>
          <a:xfrm>
            <a:off x="347472" y="24414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5" name="Text 13"/>
          <p:cNvSpPr/>
          <p:nvPr/>
        </p:nvSpPr>
        <p:spPr>
          <a:xfrm>
            <a:off x="822960" y="2359152"/>
            <a:ext cx="2286000" cy="274320"/>
          </a:xfrm>
          <a:prstGeom prst="rect">
            <a:avLst/>
          </a:prstGeom>
          <a:noFill/>
          <a:ln/>
        </p:spPr>
        <p:txBody>
          <a:bodyPr wrap="square" lIns="0" tIns="0" rIns="0" bIns="0" rtlCol="0" anchor="ctr"/>
          <a:lstStyle/>
          <a:p>
            <a:pPr marL="0" indent="0">
              <a:buNone/>
            </a:pPr>
            <a:r>
              <a:rPr lang="en-US" sz="1150" b="1" dirty="0">
                <a:solidFill>
                  <a:srgbClr val="1B4FD8"/>
                </a:solidFill>
                <a:latin typeface="Arial" pitchFamily="34" charset="0"/>
                <a:ea typeface="Arial" pitchFamily="34" charset="-122"/>
                <a:cs typeface="Arial" pitchFamily="34" charset="-120"/>
              </a:rPr>
              <a:t>Format compact 'id:nom'</a:t>
            </a:r>
            <a:endParaRPr lang="en-US" sz="1150" dirty="0"/>
          </a:p>
        </p:txBody>
      </p:sp>
      <p:sp>
        <p:nvSpPr>
          <p:cNvPr id="16" name="Shape 14"/>
          <p:cNvSpPr/>
          <p:nvPr/>
        </p:nvSpPr>
        <p:spPr>
          <a:xfrm>
            <a:off x="3200400" y="2359152"/>
            <a:ext cx="2560320" cy="548640"/>
          </a:xfrm>
          <a:prstGeom prst="roundRect">
            <a:avLst>
              <a:gd name="adj" fmla="val 10000"/>
            </a:avLst>
          </a:prstGeom>
          <a:solidFill>
            <a:srgbClr val="FEE2E2"/>
          </a:solidFill>
          <a:ln w="12700">
            <a:solidFill>
              <a:srgbClr val="EF4444"/>
            </a:solidFill>
            <a:prstDash val="solid"/>
          </a:ln>
        </p:spPr>
      </p:sp>
      <p:sp>
        <p:nvSpPr>
          <p:cNvPr id="17" name="Text 15"/>
          <p:cNvSpPr/>
          <p:nvPr/>
        </p:nvSpPr>
        <p:spPr>
          <a:xfrm>
            <a:off x="3246120" y="2377440"/>
            <a:ext cx="2468880" cy="512064"/>
          </a:xfrm>
          <a:prstGeom prst="rect">
            <a:avLst/>
          </a:prstGeom>
          <a:noFill/>
          <a:ln/>
        </p:spPr>
        <p:txBody>
          <a:bodyPr wrap="square" lIns="0" tIns="0" rIns="0" bIns="0" rtlCol="0" anchor="ctr"/>
          <a:lstStyle/>
          <a:p>
            <a:pPr marL="0" indent="0">
              <a:buNone/>
            </a:pPr>
            <a:r>
              <a:rPr lang="en-US" sz="850" dirty="0">
                <a:solidFill>
                  <a:srgbClr val="EF4444"/>
                </a:solidFill>
                <a:latin typeface="Arial" pitchFamily="34" charset="0"/>
                <a:ea typeface="Arial" pitchFamily="34" charset="-122"/>
                <a:cs typeface="Arial" pitchFamily="34" charset="-120"/>
              </a:rPr>
              <a:t>Avant: Filières disponibles :</a:t>
            </a:r>
            <a:endParaRPr lang="en-US" sz="850" dirty="0"/>
          </a:p>
          <a:p>
            <a:pPr marL="0" indent="0">
              <a:buNone/>
            </a:pPr>
            <a:r>
              <a:rPr lang="en-US" sz="850" dirty="0">
                <a:solidFill>
                  <a:srgbClr val="EF4444"/>
                </a:solidFill>
                <a:latin typeface="Arial" pitchFamily="34" charset="0"/>
                <a:ea typeface="Arial" pitchFamily="34" charset="-122"/>
                <a:cs typeface="Arial" pitchFamily="34" charset="-120"/>
              </a:rPr>
              <a:t>  - ID 1 : Nouvelles Technologies de l'Information et de la Communication (NTIC)</a:t>
            </a:r>
            <a:endParaRPr lang="en-US" sz="850" dirty="0"/>
          </a:p>
        </p:txBody>
      </p:sp>
      <p:sp>
        <p:nvSpPr>
          <p:cNvPr id="18" name="Shape 16"/>
          <p:cNvSpPr/>
          <p:nvPr/>
        </p:nvSpPr>
        <p:spPr>
          <a:xfrm>
            <a:off x="5897880" y="2359152"/>
            <a:ext cx="2880360" cy="548640"/>
          </a:xfrm>
          <a:prstGeom prst="roundRect">
            <a:avLst>
              <a:gd name="adj" fmla="val 10000"/>
            </a:avLst>
          </a:prstGeom>
          <a:solidFill>
            <a:srgbClr val="D1FAE5"/>
          </a:solidFill>
          <a:ln w="12700">
            <a:solidFill>
              <a:srgbClr val="10B981"/>
            </a:solidFill>
            <a:prstDash val="solid"/>
          </a:ln>
        </p:spPr>
      </p:sp>
      <p:sp>
        <p:nvSpPr>
          <p:cNvPr id="19" name="Text 17"/>
          <p:cNvSpPr/>
          <p:nvPr/>
        </p:nvSpPr>
        <p:spPr>
          <a:xfrm>
            <a:off x="5943600" y="2377440"/>
            <a:ext cx="2788920" cy="512064"/>
          </a:xfrm>
          <a:prstGeom prst="rect">
            <a:avLst/>
          </a:prstGeom>
          <a:noFill/>
          <a:ln/>
        </p:spPr>
        <p:txBody>
          <a:bodyPr wrap="square" lIns="0" tIns="0" rIns="0" bIns="0" rtlCol="0" anchor="ctr"/>
          <a:lstStyle/>
          <a:p>
            <a:pPr marL="0" indent="0">
              <a:buNone/>
            </a:pPr>
            <a:r>
              <a:rPr lang="en-US" sz="850" dirty="0">
                <a:solidFill>
                  <a:srgbClr val="10B981"/>
                </a:solidFill>
                <a:latin typeface="Arial" pitchFamily="34" charset="0"/>
                <a:ea typeface="Arial" pitchFamily="34" charset="-122"/>
                <a:cs typeface="Arial" pitchFamily="34" charset="-120"/>
              </a:rPr>
              <a:t>Après: DEPARTMENTS: 1:NTIC, 2:DL</a:t>
            </a:r>
            <a:endParaRPr lang="en-US" sz="850" dirty="0"/>
          </a:p>
        </p:txBody>
      </p:sp>
      <p:sp>
        <p:nvSpPr>
          <p:cNvPr id="20" name="Shape 18"/>
          <p:cNvSpPr/>
          <p:nvPr/>
        </p:nvSpPr>
        <p:spPr>
          <a:xfrm>
            <a:off x="274320" y="3081528"/>
            <a:ext cx="8595360" cy="685800"/>
          </a:xfrm>
          <a:prstGeom prst="roundRect">
            <a:avLst>
              <a:gd name="adj" fmla="val 13333"/>
            </a:avLst>
          </a:prstGeom>
          <a:solidFill>
            <a:srgbClr val="D1FAE5"/>
          </a:solidFill>
          <a:ln w="15240">
            <a:solidFill>
              <a:srgbClr val="10B981"/>
            </a:solidFill>
            <a:prstDash val="solid"/>
          </a:ln>
          <a:effectLst>
            <a:outerShdw blurRad="88900" dist="25400" dir="2700000" algn="bl" rotWithShape="0">
              <a:srgbClr val="000000">
                <a:alpha val="13000"/>
              </a:srgbClr>
            </a:outerShdw>
          </a:effectLst>
        </p:spPr>
      </p:sp>
      <p:sp>
        <p:nvSpPr>
          <p:cNvPr id="21" name="Shape 19"/>
          <p:cNvSpPr/>
          <p:nvPr/>
        </p:nvSpPr>
        <p:spPr>
          <a:xfrm>
            <a:off x="347472" y="3218688"/>
            <a:ext cx="384048" cy="384048"/>
          </a:xfrm>
          <a:prstGeom prst="ellipse">
            <a:avLst/>
          </a:prstGeom>
          <a:solidFill>
            <a:srgbClr val="10B981"/>
          </a:solidFill>
          <a:ln w="12700">
            <a:solidFill>
              <a:srgbClr val="10B981"/>
            </a:solidFill>
            <a:prstDash val="solid"/>
          </a:ln>
        </p:spPr>
      </p:sp>
      <p:sp>
        <p:nvSpPr>
          <p:cNvPr id="22" name="Text 20"/>
          <p:cNvSpPr/>
          <p:nvPr/>
        </p:nvSpPr>
        <p:spPr>
          <a:xfrm>
            <a:off x="347472" y="321868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23" name="Text 21"/>
          <p:cNvSpPr/>
          <p:nvPr/>
        </p:nvSpPr>
        <p:spPr>
          <a:xfrm>
            <a:off x="822960" y="3136392"/>
            <a:ext cx="2286000" cy="274320"/>
          </a:xfrm>
          <a:prstGeom prst="rect">
            <a:avLst/>
          </a:prstGeom>
          <a:noFill/>
          <a:ln/>
        </p:spPr>
        <p:txBody>
          <a:bodyPr wrap="square" lIns="0" tIns="0" rIns="0" bIns="0" rtlCol="0" anchor="ctr"/>
          <a:lstStyle/>
          <a:p>
            <a:pPr marL="0" indent="0">
              <a:buNone/>
            </a:pPr>
            <a:r>
              <a:rPr lang="en-US" sz="1150" b="1" dirty="0">
                <a:solidFill>
                  <a:srgbClr val="10B981"/>
                </a:solidFill>
                <a:latin typeface="Arial" pitchFamily="34" charset="0"/>
                <a:ea typeface="Arial" pitchFamily="34" charset="-122"/>
                <a:cs typeface="Arial" pitchFamily="34" charset="-120"/>
              </a:rPr>
              <a:t>EDT en une ligne par cours</a:t>
            </a:r>
            <a:endParaRPr lang="en-US" sz="1150" dirty="0"/>
          </a:p>
        </p:txBody>
      </p:sp>
      <p:sp>
        <p:nvSpPr>
          <p:cNvPr id="24" name="Shape 22"/>
          <p:cNvSpPr/>
          <p:nvPr/>
        </p:nvSpPr>
        <p:spPr>
          <a:xfrm>
            <a:off x="3200400" y="3136392"/>
            <a:ext cx="2560320" cy="548640"/>
          </a:xfrm>
          <a:prstGeom prst="roundRect">
            <a:avLst>
              <a:gd name="adj" fmla="val 10000"/>
            </a:avLst>
          </a:prstGeom>
          <a:solidFill>
            <a:srgbClr val="FEE2E2"/>
          </a:solidFill>
          <a:ln w="12700">
            <a:solidFill>
              <a:srgbClr val="EF4444"/>
            </a:solidFill>
            <a:prstDash val="solid"/>
          </a:ln>
        </p:spPr>
      </p:sp>
      <p:sp>
        <p:nvSpPr>
          <p:cNvPr id="25" name="Text 23"/>
          <p:cNvSpPr/>
          <p:nvPr/>
        </p:nvSpPr>
        <p:spPr>
          <a:xfrm>
            <a:off x="3246120" y="3154680"/>
            <a:ext cx="2468880" cy="512064"/>
          </a:xfrm>
          <a:prstGeom prst="rect">
            <a:avLst/>
          </a:prstGeom>
          <a:noFill/>
          <a:ln/>
        </p:spPr>
        <p:txBody>
          <a:bodyPr wrap="square" lIns="0" tIns="0" rIns="0" bIns="0" rtlCol="0" anchor="ctr"/>
          <a:lstStyle/>
          <a:p>
            <a:pPr marL="0" indent="0">
              <a:buNone/>
            </a:pPr>
            <a:r>
              <a:rPr lang="en-US" sz="850" dirty="0">
                <a:solidFill>
                  <a:srgbClr val="EF4444"/>
                </a:solidFill>
                <a:latin typeface="Arial" pitchFamily="34" charset="0"/>
                <a:ea typeface="Arial" pitchFamily="34" charset="-122"/>
                <a:cs typeface="Arial" pitchFamily="34" charset="-120"/>
              </a:rPr>
              <a:t>Avant: Emploi du temps :</a:t>
            </a:r>
            <a:endParaRPr lang="en-US" sz="850" dirty="0"/>
          </a:p>
          <a:p>
            <a:pPr marL="0" indent="0">
              <a:buNone/>
            </a:pPr>
            <a:r>
              <a:rPr lang="en-US" sz="850" dirty="0">
                <a:solidFill>
                  <a:srgbClr val="EF4444"/>
                </a:solidFill>
                <a:latin typeface="Arial" pitchFamily="34" charset="0"/>
                <a:ea typeface="Arial" pitchFamily="34" charset="-122"/>
                <a:cs typeface="Arial" pitchFamily="34" charset="-120"/>
              </a:rPr>
              <a:t>  Jour: Lundi, Heure: 08:00-10:00, Matière: Algorithmique, Enseignant: Makera Kaba</a:t>
            </a:r>
            <a:endParaRPr lang="en-US" sz="850" dirty="0"/>
          </a:p>
        </p:txBody>
      </p:sp>
      <p:sp>
        <p:nvSpPr>
          <p:cNvPr id="26" name="Shape 24"/>
          <p:cNvSpPr/>
          <p:nvPr/>
        </p:nvSpPr>
        <p:spPr>
          <a:xfrm>
            <a:off x="5897880" y="3136392"/>
            <a:ext cx="2880360" cy="548640"/>
          </a:xfrm>
          <a:prstGeom prst="roundRect">
            <a:avLst>
              <a:gd name="adj" fmla="val 10000"/>
            </a:avLst>
          </a:prstGeom>
          <a:solidFill>
            <a:srgbClr val="D1FAE5"/>
          </a:solidFill>
          <a:ln w="12700">
            <a:solidFill>
              <a:srgbClr val="10B981"/>
            </a:solidFill>
            <a:prstDash val="solid"/>
          </a:ln>
        </p:spPr>
      </p:sp>
      <p:sp>
        <p:nvSpPr>
          <p:cNvPr id="27" name="Text 25"/>
          <p:cNvSpPr/>
          <p:nvPr/>
        </p:nvSpPr>
        <p:spPr>
          <a:xfrm>
            <a:off x="5943600" y="3154680"/>
            <a:ext cx="2788920" cy="512064"/>
          </a:xfrm>
          <a:prstGeom prst="rect">
            <a:avLst/>
          </a:prstGeom>
          <a:noFill/>
          <a:ln/>
        </p:spPr>
        <p:txBody>
          <a:bodyPr wrap="square" lIns="0" tIns="0" rIns="0" bIns="0" rtlCol="0" anchor="ctr"/>
          <a:lstStyle/>
          <a:p>
            <a:pPr marL="0" indent="0">
              <a:buNone/>
            </a:pPr>
            <a:r>
              <a:rPr lang="en-US" sz="850" dirty="0">
                <a:solidFill>
                  <a:srgbClr val="10B981"/>
                </a:solidFill>
                <a:latin typeface="Arial" pitchFamily="34" charset="0"/>
                <a:ea typeface="Arial" pitchFamily="34" charset="-122"/>
                <a:cs typeface="Arial" pitchFamily="34" charset="-120"/>
              </a:rPr>
              <a:t>Après: Lun 08:00-10:00: Algo | Makera Kaba | Salle A [f:1,n:2]</a:t>
            </a:r>
            <a:endParaRPr lang="en-US" sz="850" dirty="0"/>
          </a:p>
        </p:txBody>
      </p:sp>
      <p:sp>
        <p:nvSpPr>
          <p:cNvPr id="28" name="Shape 26"/>
          <p:cNvSpPr/>
          <p:nvPr/>
        </p:nvSpPr>
        <p:spPr>
          <a:xfrm>
            <a:off x="274320" y="3858768"/>
            <a:ext cx="8595360" cy="685800"/>
          </a:xfrm>
          <a:prstGeom prst="roundRect">
            <a:avLst>
              <a:gd name="adj" fmla="val 13333"/>
            </a:avLst>
          </a:prstGeom>
          <a:solidFill>
            <a:srgbClr val="EDE9FE"/>
          </a:solidFill>
          <a:ln w="15240">
            <a:solidFill>
              <a:srgbClr val="4C1D95"/>
            </a:solidFill>
            <a:prstDash val="solid"/>
          </a:ln>
          <a:effectLst>
            <a:outerShdw blurRad="88900" dist="25400" dir="2700000" algn="bl" rotWithShape="0">
              <a:srgbClr val="000000">
                <a:alpha val="13000"/>
              </a:srgbClr>
            </a:outerShdw>
          </a:effectLst>
        </p:spPr>
      </p:sp>
      <p:sp>
        <p:nvSpPr>
          <p:cNvPr id="29" name="Shape 27"/>
          <p:cNvSpPr/>
          <p:nvPr/>
        </p:nvSpPr>
        <p:spPr>
          <a:xfrm>
            <a:off x="347472" y="3995928"/>
            <a:ext cx="384048" cy="384048"/>
          </a:xfrm>
          <a:prstGeom prst="ellipse">
            <a:avLst/>
          </a:prstGeom>
          <a:solidFill>
            <a:srgbClr val="4C1D95"/>
          </a:solidFill>
          <a:ln w="12700">
            <a:solidFill>
              <a:srgbClr val="4C1D95"/>
            </a:solidFill>
            <a:prstDash val="solid"/>
          </a:ln>
        </p:spPr>
      </p:sp>
      <p:sp>
        <p:nvSpPr>
          <p:cNvPr id="30" name="Text 28"/>
          <p:cNvSpPr/>
          <p:nvPr/>
        </p:nvSpPr>
        <p:spPr>
          <a:xfrm>
            <a:off x="347472" y="399592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31" name="Text 29"/>
          <p:cNvSpPr/>
          <p:nvPr/>
        </p:nvSpPr>
        <p:spPr>
          <a:xfrm>
            <a:off x="822960" y="3913632"/>
            <a:ext cx="2286000" cy="274320"/>
          </a:xfrm>
          <a:prstGeom prst="rect">
            <a:avLst/>
          </a:prstGeom>
          <a:noFill/>
          <a:ln/>
        </p:spPr>
        <p:txBody>
          <a:bodyPr wrap="square" lIns="0" tIns="0" rIns="0" bIns="0" rtlCol="0" anchor="ctr"/>
          <a:lstStyle/>
          <a:p>
            <a:pPr marL="0" indent="0">
              <a:buNone/>
            </a:pPr>
            <a:r>
              <a:rPr lang="en-US" sz="1150" b="1" dirty="0">
                <a:solidFill>
                  <a:srgbClr val="4C1D95"/>
                </a:solidFill>
                <a:latin typeface="Arial" pitchFamily="34" charset="0"/>
                <a:ea typeface="Arial" pitchFamily="34" charset="-122"/>
                <a:cs typeface="Arial" pitchFamily="34" charset="-120"/>
              </a:rPr>
              <a:t>Limitation des entrées</a:t>
            </a:r>
            <a:endParaRPr lang="en-US" sz="1150" dirty="0"/>
          </a:p>
        </p:txBody>
      </p:sp>
      <p:sp>
        <p:nvSpPr>
          <p:cNvPr id="32" name="Shape 30"/>
          <p:cNvSpPr/>
          <p:nvPr/>
        </p:nvSpPr>
        <p:spPr>
          <a:xfrm>
            <a:off x="3200400" y="3913632"/>
            <a:ext cx="2560320" cy="548640"/>
          </a:xfrm>
          <a:prstGeom prst="roundRect">
            <a:avLst>
              <a:gd name="adj" fmla="val 10000"/>
            </a:avLst>
          </a:prstGeom>
          <a:solidFill>
            <a:srgbClr val="FEE2E2"/>
          </a:solidFill>
          <a:ln w="12700">
            <a:solidFill>
              <a:srgbClr val="EF4444"/>
            </a:solidFill>
            <a:prstDash val="solid"/>
          </a:ln>
        </p:spPr>
      </p:sp>
      <p:sp>
        <p:nvSpPr>
          <p:cNvPr id="33" name="Text 31"/>
          <p:cNvSpPr/>
          <p:nvPr/>
        </p:nvSpPr>
        <p:spPr>
          <a:xfrm>
            <a:off x="3246120" y="3931920"/>
            <a:ext cx="2468880" cy="512064"/>
          </a:xfrm>
          <a:prstGeom prst="rect">
            <a:avLst/>
          </a:prstGeom>
          <a:noFill/>
          <a:ln/>
        </p:spPr>
        <p:txBody>
          <a:bodyPr wrap="square" lIns="0" tIns="0" rIns="0" bIns="0" rtlCol="0" anchor="ctr"/>
          <a:lstStyle/>
          <a:p>
            <a:pPr marL="0" indent="0">
              <a:buNone/>
            </a:pPr>
            <a:r>
              <a:rPr lang="en-US" sz="850" dirty="0">
                <a:solidFill>
                  <a:srgbClr val="EF4444"/>
                </a:solidFill>
                <a:latin typeface="Arial" pitchFamily="34" charset="0"/>
                <a:ea typeface="Arial" pitchFamily="34" charset="-122"/>
                <a:cs typeface="Arial" pitchFamily="34" charset="-120"/>
              </a:rPr>
              <a:t>Avant: Toutes les données en base de données envoyées intégralement</a:t>
            </a:r>
            <a:endParaRPr lang="en-US" sz="850" dirty="0"/>
          </a:p>
        </p:txBody>
      </p:sp>
      <p:sp>
        <p:nvSpPr>
          <p:cNvPr id="34" name="Shape 32"/>
          <p:cNvSpPr/>
          <p:nvPr/>
        </p:nvSpPr>
        <p:spPr>
          <a:xfrm>
            <a:off x="5897880" y="3913632"/>
            <a:ext cx="2880360" cy="548640"/>
          </a:xfrm>
          <a:prstGeom prst="roundRect">
            <a:avLst>
              <a:gd name="adj" fmla="val 10000"/>
            </a:avLst>
          </a:prstGeom>
          <a:solidFill>
            <a:srgbClr val="D1FAE5"/>
          </a:solidFill>
          <a:ln w="12700">
            <a:solidFill>
              <a:srgbClr val="10B981"/>
            </a:solidFill>
            <a:prstDash val="solid"/>
          </a:ln>
        </p:spPr>
      </p:sp>
      <p:sp>
        <p:nvSpPr>
          <p:cNvPr id="35" name="Text 33"/>
          <p:cNvSpPr/>
          <p:nvPr/>
        </p:nvSpPr>
        <p:spPr>
          <a:xfrm>
            <a:off x="5943600" y="3931920"/>
            <a:ext cx="2788920" cy="512064"/>
          </a:xfrm>
          <a:prstGeom prst="rect">
            <a:avLst/>
          </a:prstGeom>
          <a:noFill/>
          <a:ln/>
        </p:spPr>
        <p:txBody>
          <a:bodyPr wrap="square" lIns="0" tIns="0" rIns="0" bIns="0" rtlCol="0" anchor="ctr"/>
          <a:lstStyle/>
          <a:p>
            <a:pPr marL="0" indent="0">
              <a:buNone/>
            </a:pPr>
            <a:r>
              <a:rPr lang="en-US" sz="850" dirty="0">
                <a:solidFill>
                  <a:srgbClr val="10B981"/>
                </a:solidFill>
                <a:latin typeface="Arial" pitchFamily="34" charset="0"/>
                <a:ea typeface="Arial" pitchFamily="34" charset="-122"/>
                <a:cs typeface="Arial" pitchFamily="34" charset="-120"/>
              </a:rPr>
              <a:t>Après: Max 20 EDT · 3 annonces · 5 alertes — priorité aux plus récentes</a:t>
            </a:r>
            <a:endParaRPr lang="en-US" sz="850" dirty="0"/>
          </a:p>
        </p:txBody>
      </p:sp>
      <p:sp>
        <p:nvSpPr>
          <p:cNvPr id="36" name="Shape 34"/>
          <p:cNvSpPr/>
          <p:nvPr/>
        </p:nvSpPr>
        <p:spPr>
          <a:xfrm>
            <a:off x="274320" y="4636008"/>
            <a:ext cx="8595360" cy="685800"/>
          </a:xfrm>
          <a:prstGeom prst="roundRect">
            <a:avLst>
              <a:gd name="adj" fmla="val 13333"/>
            </a:avLst>
          </a:prstGeom>
          <a:solidFill>
            <a:srgbClr val="E0F7FA"/>
          </a:solidFill>
          <a:ln w="15240">
            <a:solidFill>
              <a:srgbClr val="0EA5E9"/>
            </a:solidFill>
            <a:prstDash val="solid"/>
          </a:ln>
          <a:effectLst>
            <a:outerShdw blurRad="88900" dist="25400" dir="2700000" algn="bl" rotWithShape="0">
              <a:srgbClr val="000000">
                <a:alpha val="13000"/>
              </a:srgbClr>
            </a:outerShdw>
          </a:effectLst>
        </p:spPr>
      </p:sp>
      <p:sp>
        <p:nvSpPr>
          <p:cNvPr id="37" name="Shape 35"/>
          <p:cNvSpPr/>
          <p:nvPr/>
        </p:nvSpPr>
        <p:spPr>
          <a:xfrm>
            <a:off x="347472" y="4773168"/>
            <a:ext cx="384048" cy="384048"/>
          </a:xfrm>
          <a:prstGeom prst="ellipse">
            <a:avLst/>
          </a:prstGeom>
          <a:solidFill>
            <a:srgbClr val="0EA5E9"/>
          </a:solidFill>
          <a:ln w="12700">
            <a:solidFill>
              <a:srgbClr val="0EA5E9"/>
            </a:solidFill>
            <a:prstDash val="solid"/>
          </a:ln>
        </p:spPr>
      </p:sp>
      <p:sp>
        <p:nvSpPr>
          <p:cNvPr id="38" name="Text 36"/>
          <p:cNvSpPr/>
          <p:nvPr/>
        </p:nvSpPr>
        <p:spPr>
          <a:xfrm>
            <a:off x="347472" y="477316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39" name="Text 37"/>
          <p:cNvSpPr/>
          <p:nvPr/>
        </p:nvSpPr>
        <p:spPr>
          <a:xfrm>
            <a:off x="822960" y="4690872"/>
            <a:ext cx="2286000" cy="274320"/>
          </a:xfrm>
          <a:prstGeom prst="rect">
            <a:avLst/>
          </a:prstGeom>
          <a:noFill/>
          <a:ln/>
        </p:spPr>
        <p:txBody>
          <a:bodyPr wrap="square" lIns="0" tIns="0" rIns="0" bIns="0" rtlCol="0" anchor="ctr"/>
          <a:lstStyle/>
          <a:p>
            <a:pPr marL="0" indent="0">
              <a:buNone/>
            </a:pPr>
            <a:r>
              <a:rPr lang="en-US" sz="1150" b="1" dirty="0">
                <a:solidFill>
                  <a:srgbClr val="0EA5E9"/>
                </a:solidFill>
                <a:latin typeface="Arial" pitchFamily="34" charset="0"/>
                <a:ea typeface="Arial" pitchFamily="34" charset="-122"/>
                <a:cs typeface="Arial" pitchFamily="34" charset="-120"/>
              </a:rPr>
              <a:t>Historique limité</a:t>
            </a:r>
            <a:endParaRPr lang="en-US" sz="1150" dirty="0"/>
          </a:p>
        </p:txBody>
      </p:sp>
      <p:sp>
        <p:nvSpPr>
          <p:cNvPr id="40" name="Shape 38"/>
          <p:cNvSpPr/>
          <p:nvPr/>
        </p:nvSpPr>
        <p:spPr>
          <a:xfrm>
            <a:off x="3200400" y="4690872"/>
            <a:ext cx="2560320" cy="548640"/>
          </a:xfrm>
          <a:prstGeom prst="roundRect">
            <a:avLst>
              <a:gd name="adj" fmla="val 10000"/>
            </a:avLst>
          </a:prstGeom>
          <a:solidFill>
            <a:srgbClr val="FEE2E2"/>
          </a:solidFill>
          <a:ln w="12700">
            <a:solidFill>
              <a:srgbClr val="EF4444"/>
            </a:solidFill>
            <a:prstDash val="solid"/>
          </a:ln>
        </p:spPr>
      </p:sp>
      <p:sp>
        <p:nvSpPr>
          <p:cNvPr id="41" name="Text 39"/>
          <p:cNvSpPr/>
          <p:nvPr/>
        </p:nvSpPr>
        <p:spPr>
          <a:xfrm>
            <a:off x="3246120" y="4709160"/>
            <a:ext cx="2468880" cy="512064"/>
          </a:xfrm>
          <a:prstGeom prst="rect">
            <a:avLst/>
          </a:prstGeom>
          <a:noFill/>
          <a:ln/>
        </p:spPr>
        <p:txBody>
          <a:bodyPr wrap="square" lIns="0" tIns="0" rIns="0" bIns="0" rtlCol="0" anchor="ctr"/>
          <a:lstStyle/>
          <a:p>
            <a:pPr marL="0" indent="0">
              <a:buNone/>
            </a:pPr>
            <a:r>
              <a:rPr lang="en-US" sz="850" dirty="0">
                <a:solidFill>
                  <a:srgbClr val="EF4444"/>
                </a:solidFill>
                <a:latin typeface="Arial" pitchFamily="34" charset="0"/>
                <a:ea typeface="Arial" pitchFamily="34" charset="-122"/>
                <a:cs typeface="Arial" pitchFamily="34" charset="-120"/>
              </a:rPr>
              <a:t>Avant: Tout l'historique de conversation envoyé au modèle</a:t>
            </a:r>
            <a:endParaRPr lang="en-US" sz="850" dirty="0"/>
          </a:p>
        </p:txBody>
      </p:sp>
      <p:sp>
        <p:nvSpPr>
          <p:cNvPr id="42" name="Shape 40"/>
          <p:cNvSpPr/>
          <p:nvPr/>
        </p:nvSpPr>
        <p:spPr>
          <a:xfrm>
            <a:off x="5897880" y="4690872"/>
            <a:ext cx="2880360" cy="548640"/>
          </a:xfrm>
          <a:prstGeom prst="roundRect">
            <a:avLst>
              <a:gd name="adj" fmla="val 10000"/>
            </a:avLst>
          </a:prstGeom>
          <a:solidFill>
            <a:srgbClr val="D1FAE5"/>
          </a:solidFill>
          <a:ln w="12700">
            <a:solidFill>
              <a:srgbClr val="10B981"/>
            </a:solidFill>
            <a:prstDash val="solid"/>
          </a:ln>
        </p:spPr>
      </p:sp>
      <p:sp>
        <p:nvSpPr>
          <p:cNvPr id="43" name="Text 41"/>
          <p:cNvSpPr/>
          <p:nvPr/>
        </p:nvSpPr>
        <p:spPr>
          <a:xfrm>
            <a:off x="5943600" y="4709160"/>
            <a:ext cx="2788920" cy="512064"/>
          </a:xfrm>
          <a:prstGeom prst="rect">
            <a:avLst/>
          </a:prstGeom>
          <a:noFill/>
          <a:ln/>
        </p:spPr>
        <p:txBody>
          <a:bodyPr wrap="square" lIns="0" tIns="0" rIns="0" bIns="0" rtlCol="0" anchor="ctr"/>
          <a:lstStyle/>
          <a:p>
            <a:pPr marL="0" indent="0">
              <a:buNone/>
            </a:pPr>
            <a:r>
              <a:rPr lang="en-US" sz="850" dirty="0">
                <a:solidFill>
                  <a:srgbClr val="10B981"/>
                </a:solidFill>
                <a:latin typeface="Arial" pitchFamily="34" charset="0"/>
                <a:ea typeface="Arial" pitchFamily="34" charset="-122"/>
                <a:cs typeface="Arial" pitchFamily="34" charset="-120"/>
              </a:rPr>
              <a:t>Après: Seulement les 10 derniers échanges (20 messages max)</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0D1B2A"/>
          </a:solidFill>
          <a:ln w="12700">
            <a:solidFill>
              <a:srgbClr val="0D1B2A"/>
            </a:solidFill>
            <a:prstDash val="solid"/>
          </a:ln>
        </p:spPr>
      </p:sp>
      <p:sp>
        <p:nvSpPr>
          <p:cNvPr id="3" name="Text 1"/>
          <p:cNvSpPr/>
          <p:nvPr/>
        </p:nvSpPr>
        <p:spPr>
          <a:xfrm>
            <a:off x="457200" y="64008"/>
            <a:ext cx="8229600" cy="329184"/>
          </a:xfrm>
          <a:prstGeom prst="rect">
            <a:avLst/>
          </a:prstGeom>
          <a:noFill/>
          <a:ln/>
        </p:spPr>
        <p:txBody>
          <a:bodyPr wrap="square" lIns="0" tIns="0" rIns="0" bIns="0" rtlCol="0" anchor="ctr"/>
          <a:lstStyle/>
          <a:p>
            <a:pPr marL="0" indent="0">
              <a:buNone/>
            </a:pPr>
            <a:r>
              <a:rPr lang="en-US" sz="1000" b="1" kern="0" spc="400" dirty="0">
                <a:solidFill>
                  <a:srgbClr val="0EA5E9"/>
                </a:solidFill>
                <a:latin typeface="Arial" pitchFamily="34" charset="0"/>
                <a:ea typeface="Arial" pitchFamily="34" charset="-122"/>
                <a:cs typeface="Arial" pitchFamily="34" charset="-120"/>
              </a:rPr>
              <a:t>SECTION 9 — RECHERCHE WEB</a:t>
            </a:r>
            <a:endParaRPr lang="en-US" sz="1000" dirty="0"/>
          </a:p>
        </p:txBody>
      </p:sp>
      <p:sp>
        <p:nvSpPr>
          <p:cNvPr id="4" name="Text 2"/>
          <p:cNvSpPr/>
          <p:nvPr/>
        </p:nvSpPr>
        <p:spPr>
          <a:xfrm>
            <a:off x="457200" y="402336"/>
            <a:ext cx="6217920" cy="493776"/>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Tavily API — Recherche en temps réel</a:t>
            </a:r>
            <a:endParaRPr lang="en-US" sz="2000" dirty="0"/>
          </a:p>
        </p:txBody>
      </p:sp>
      <p:sp>
        <p:nvSpPr>
          <p:cNvPr id="5" name="Text 3"/>
          <p:cNvSpPr/>
          <p:nvPr/>
        </p:nvSpPr>
        <p:spPr>
          <a:xfrm>
            <a:off x="6400800" y="457200"/>
            <a:ext cx="2560320" cy="384048"/>
          </a:xfrm>
          <a:prstGeom prst="rect">
            <a:avLst/>
          </a:prstGeom>
          <a:noFill/>
          <a:ln/>
        </p:spPr>
        <p:txBody>
          <a:bodyPr wrap="square" lIns="0" tIns="0" rIns="0" bIns="0" rtlCol="0" anchor="ctr"/>
          <a:lstStyle/>
          <a:p>
            <a:pPr marL="0" indent="0" algn="r">
              <a:buNone/>
            </a:pPr>
            <a:r>
              <a:rPr lang="en-US" sz="1100" dirty="0">
                <a:solidFill>
                  <a:srgbClr val="0EA5E9"/>
                </a:solidFill>
                <a:latin typeface="Arial" pitchFamily="34" charset="0"/>
                <a:ea typeface="Arial" pitchFamily="34" charset="-122"/>
                <a:cs typeface="Arial" pitchFamily="34" charset="-120"/>
              </a:rPr>
              <a:t>Questions mondiales &amp; actualité</a:t>
            </a:r>
            <a:endParaRPr lang="en-US" sz="1100" dirty="0"/>
          </a:p>
        </p:txBody>
      </p:sp>
      <p:sp>
        <p:nvSpPr>
          <p:cNvPr id="6" name="Shape 4"/>
          <p:cNvSpPr/>
          <p:nvPr/>
        </p:nvSpPr>
        <p:spPr>
          <a:xfrm>
            <a:off x="274320" y="1051560"/>
            <a:ext cx="8595360" cy="896112"/>
          </a:xfrm>
          <a:prstGeom prst="roundRect">
            <a:avLst>
              <a:gd name="adj" fmla="val 12245"/>
            </a:avLst>
          </a:prstGeom>
          <a:solidFill>
            <a:srgbClr val="E0F7FA"/>
          </a:solidFill>
          <a:ln w="19050">
            <a:solidFill>
              <a:srgbClr val="0EA5E9"/>
            </a:solidFill>
            <a:prstDash val="solid"/>
          </a:ln>
          <a:effectLst>
            <a:outerShdw blurRad="88900" dist="25400" dir="2700000" algn="bl" rotWithShape="0">
              <a:srgbClr val="000000">
                <a:alpha val="13000"/>
              </a:srgbClr>
            </a:outerShdw>
          </a:effectLst>
        </p:spPr>
      </p:sp>
      <p:sp>
        <p:nvSpPr>
          <p:cNvPr id="7" name="Text 5"/>
          <p:cNvSpPr/>
          <p:nvPr/>
        </p:nvSpPr>
        <p:spPr>
          <a:xfrm>
            <a:off x="411480" y="1097280"/>
            <a:ext cx="8229600" cy="329184"/>
          </a:xfrm>
          <a:prstGeom prst="rect">
            <a:avLst/>
          </a:prstGeom>
          <a:noFill/>
          <a:ln/>
        </p:spPr>
        <p:txBody>
          <a:bodyPr wrap="square" lIns="0" tIns="0" rIns="0" bIns="0" rtlCol="0" anchor="ctr"/>
          <a:lstStyle/>
          <a:p>
            <a:pPr marL="0" indent="0">
              <a:buNone/>
            </a:pPr>
            <a:r>
              <a:rPr lang="en-US" sz="1300" b="1" dirty="0">
                <a:solidFill>
                  <a:srgbClr val="0EA5E9"/>
                </a:solidFill>
                <a:latin typeface="Arial" pitchFamily="34" charset="0"/>
                <a:ea typeface="Arial" pitchFamily="34" charset="-122"/>
                <a:cs typeface="Arial" pitchFamily="34" charset="-120"/>
              </a:rPr>
              <a:t>🌐  Pourquoi Tavily ?</a:t>
            </a:r>
            <a:endParaRPr lang="en-US" sz="1300" dirty="0"/>
          </a:p>
        </p:txBody>
      </p:sp>
      <p:sp>
        <p:nvSpPr>
          <p:cNvPr id="8" name="Text 6"/>
          <p:cNvSpPr/>
          <p:nvPr/>
        </p:nvSpPr>
        <p:spPr>
          <a:xfrm>
            <a:off x="411480" y="1426464"/>
            <a:ext cx="8229600" cy="457200"/>
          </a:xfrm>
          <a:prstGeom prst="rect">
            <a:avLst/>
          </a:prstGeom>
          <a:noFill/>
          <a:ln/>
        </p:spPr>
        <p:txBody>
          <a:bodyPr wrap="square" lIns="0" tIns="0" rIns="0" bIns="0" rtlCol="0" anchor="ctr"/>
          <a:lstStyle/>
          <a:p>
            <a:pPr marL="0" indent="0">
              <a:buNone/>
            </a:pPr>
            <a:r>
              <a:rPr lang="en-US" sz="1050" dirty="0">
                <a:solidFill>
                  <a:srgbClr val="1E293B"/>
                </a:solidFill>
                <a:latin typeface="Arial" pitchFamily="34" charset="0"/>
                <a:ea typeface="Arial" pitchFamily="34" charset="-122"/>
                <a:cs typeface="Arial" pitchFamily="34" charset="-120"/>
              </a:rPr>
              <a:t>LLaMA 3.1 a une date de coupure (il ne connaît pas les événements récents). Pour les questions sur les universités guinéennes, l'actualité nationale ou des sujets précis, internet est interrogé directement. Tavily est spécialement conçu pour alimenter les LLM avec des résultats web structurés. Offre gratuite : 1 000 recherches/mois.</a:t>
            </a:r>
            <a:endParaRPr lang="en-US" sz="1050" dirty="0"/>
          </a:p>
        </p:txBody>
      </p:sp>
      <p:sp>
        <p:nvSpPr>
          <p:cNvPr id="9" name="Text 7"/>
          <p:cNvSpPr/>
          <p:nvPr/>
        </p:nvSpPr>
        <p:spPr>
          <a:xfrm>
            <a:off x="274320" y="2084832"/>
            <a:ext cx="8595360" cy="329184"/>
          </a:xfrm>
          <a:prstGeom prst="rect">
            <a:avLst/>
          </a:prstGeom>
          <a:noFill/>
          <a:ln/>
        </p:spPr>
        <p:txBody>
          <a:bodyPr wrap="square" lIns="0" tIns="0" rIns="0" bIns="0" rtlCol="0" anchor="ctr"/>
          <a:lstStyle/>
          <a:p>
            <a:pPr marL="0" indent="0">
              <a:buNone/>
            </a:pPr>
            <a:r>
              <a:rPr lang="en-US" sz="1300" b="1" dirty="0">
                <a:solidFill>
                  <a:srgbClr val="0D1B2A"/>
                </a:solidFill>
                <a:latin typeface="Arial" pitchFamily="34" charset="0"/>
                <a:ea typeface="Arial" pitchFamily="34" charset="-122"/>
                <a:cs typeface="Arial" pitchFamily="34" charset="-120"/>
              </a:rPr>
              <a:t>🔍  Algorithme de décision : needsWebSearch()</a:t>
            </a:r>
            <a:endParaRPr lang="en-US" sz="1300" dirty="0"/>
          </a:p>
        </p:txBody>
      </p:sp>
      <p:sp>
        <p:nvSpPr>
          <p:cNvPr id="10" name="Shape 8"/>
          <p:cNvSpPr/>
          <p:nvPr/>
        </p:nvSpPr>
        <p:spPr>
          <a:xfrm>
            <a:off x="274320" y="2450592"/>
            <a:ext cx="4160520" cy="1874520"/>
          </a:xfrm>
          <a:prstGeom prst="roundRect">
            <a:avLst>
              <a:gd name="adj" fmla="val 4878"/>
            </a:avLst>
          </a:prstGeom>
          <a:solidFill>
            <a:srgbClr val="0D1B2A"/>
          </a:solidFill>
          <a:ln w="12700">
            <a:solidFill>
              <a:srgbClr val="0EA5E9"/>
            </a:solidFill>
            <a:prstDash val="solid"/>
          </a:ln>
          <a:effectLst>
            <a:outerShdw blurRad="88900" dist="25400" dir="2700000" algn="bl" rotWithShape="0">
              <a:srgbClr val="000000">
                <a:alpha val="13000"/>
              </a:srgbClr>
            </a:outerShdw>
          </a:effectLst>
        </p:spPr>
      </p:sp>
      <p:sp>
        <p:nvSpPr>
          <p:cNvPr id="11" name="Text 9"/>
          <p:cNvSpPr/>
          <p:nvPr/>
        </p:nvSpPr>
        <p:spPr>
          <a:xfrm>
            <a:off x="411480" y="2505456"/>
            <a:ext cx="3886200" cy="237744"/>
          </a:xfrm>
          <a:prstGeom prst="rect">
            <a:avLst/>
          </a:prstGeom>
          <a:noFill/>
          <a:ln/>
        </p:spPr>
        <p:txBody>
          <a:bodyPr wrap="square" lIns="0" tIns="0" rIns="0" bIns="0" rtlCol="0" anchor="ctr"/>
          <a:lstStyle/>
          <a:p>
            <a:pPr marL="0" indent="0">
              <a:buNone/>
            </a:pPr>
            <a:r>
              <a:rPr lang="en-US" sz="950" dirty="0">
                <a:solidFill>
                  <a:srgbClr val="0EA5E9"/>
                </a:solidFill>
                <a:latin typeface="Courier New" pitchFamily="34" charset="0"/>
                <a:ea typeface="Courier New" pitchFamily="34" charset="-122"/>
                <a:cs typeface="Courier New" pitchFamily="34" charset="-120"/>
              </a:rPr>
              <a:t>// needsWebSearch()</a:t>
            </a:r>
            <a:endParaRPr lang="en-US" sz="950" dirty="0"/>
          </a:p>
        </p:txBody>
      </p:sp>
      <p:sp>
        <p:nvSpPr>
          <p:cNvPr id="12" name="Text 10"/>
          <p:cNvSpPr/>
          <p:nvPr/>
        </p:nvSpPr>
        <p:spPr>
          <a:xfrm>
            <a:off x="411480" y="2743200"/>
            <a:ext cx="388620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private function needsWebSearch(string $msg): bool {</a:t>
            </a:r>
            <a:endParaRPr lang="en-US" sz="850" dirty="0"/>
          </a:p>
        </p:txBody>
      </p:sp>
      <p:sp>
        <p:nvSpPr>
          <p:cNvPr id="13" name="Text 11"/>
          <p:cNvSpPr/>
          <p:nvPr/>
        </p:nvSpPr>
        <p:spPr>
          <a:xfrm>
            <a:off x="411480" y="2926080"/>
            <a:ext cx="388620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$appKw = ['edt','cours','filiere','niveau',</a:t>
            </a:r>
            <a:endParaRPr lang="en-US" sz="850" dirty="0"/>
          </a:p>
        </p:txBody>
      </p:sp>
      <p:sp>
        <p:nvSpPr>
          <p:cNvPr id="14" name="Text 12"/>
          <p:cNvSpPr/>
          <p:nvPr/>
        </p:nvSpPr>
        <p:spPr>
          <a:xfrm>
            <a:off x="411480" y="3108960"/>
            <a:ext cx="388620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'enseignant','salle','ntic','dl','lundi'...];</a:t>
            </a:r>
            <a:endParaRPr lang="en-US" sz="850" dirty="0"/>
          </a:p>
        </p:txBody>
      </p:sp>
      <p:sp>
        <p:nvSpPr>
          <p:cNvPr id="15" name="Text 13"/>
          <p:cNvSpPr/>
          <p:nvPr/>
        </p:nvSpPr>
        <p:spPr>
          <a:xfrm>
            <a:off x="411480" y="3291840"/>
            <a:ext cx="388620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foreach($appKw as $kw) {</a:t>
            </a:r>
            <a:endParaRPr lang="en-US" sz="850" dirty="0"/>
          </a:p>
        </p:txBody>
      </p:sp>
      <p:sp>
        <p:nvSpPr>
          <p:cNvPr id="16" name="Text 14"/>
          <p:cNvSpPr/>
          <p:nvPr/>
        </p:nvSpPr>
        <p:spPr>
          <a:xfrm>
            <a:off x="411480" y="3474720"/>
            <a:ext cx="388620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if(str_contains(strtolower($msg),$kw))</a:t>
            </a:r>
            <a:endParaRPr lang="en-US" sz="850" dirty="0"/>
          </a:p>
        </p:txBody>
      </p:sp>
      <p:sp>
        <p:nvSpPr>
          <p:cNvPr id="17" name="Text 15"/>
          <p:cNvSpPr/>
          <p:nvPr/>
        </p:nvSpPr>
        <p:spPr>
          <a:xfrm>
            <a:off x="411480" y="3657600"/>
            <a:ext cx="388620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return false; // BD suffit</a:t>
            </a:r>
            <a:endParaRPr lang="en-US" sz="850" dirty="0"/>
          </a:p>
        </p:txBody>
      </p:sp>
      <p:sp>
        <p:nvSpPr>
          <p:cNvPr id="18" name="Text 16"/>
          <p:cNvSpPr/>
          <p:nvPr/>
        </p:nvSpPr>
        <p:spPr>
          <a:xfrm>
            <a:off x="411480" y="3840480"/>
            <a:ext cx="388620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a:t>
            </a:r>
            <a:endParaRPr lang="en-US" sz="850" dirty="0"/>
          </a:p>
        </p:txBody>
      </p:sp>
      <p:sp>
        <p:nvSpPr>
          <p:cNvPr id="19" name="Text 17"/>
          <p:cNvSpPr/>
          <p:nvPr/>
        </p:nvSpPr>
        <p:spPr>
          <a:xfrm>
            <a:off x="411480" y="4023360"/>
            <a:ext cx="388620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if(str_word_count($msg)&lt;=3) return false;</a:t>
            </a:r>
            <a:endParaRPr lang="en-US" sz="850" dirty="0"/>
          </a:p>
        </p:txBody>
      </p:sp>
      <p:sp>
        <p:nvSpPr>
          <p:cNvPr id="20" name="Text 18"/>
          <p:cNvSpPr/>
          <p:nvPr/>
        </p:nvSpPr>
        <p:spPr>
          <a:xfrm>
            <a:off x="411480" y="4206240"/>
            <a:ext cx="388620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return true; // → Tavily lancé</a:t>
            </a:r>
            <a:endParaRPr lang="en-US" sz="850" dirty="0"/>
          </a:p>
        </p:txBody>
      </p:sp>
      <p:sp>
        <p:nvSpPr>
          <p:cNvPr id="21" name="Text 19"/>
          <p:cNvSpPr/>
          <p:nvPr/>
        </p:nvSpPr>
        <p:spPr>
          <a:xfrm>
            <a:off x="411480" y="4389120"/>
            <a:ext cx="388620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a:t>
            </a:r>
            <a:endParaRPr lang="en-US" sz="850" dirty="0"/>
          </a:p>
        </p:txBody>
      </p:sp>
      <p:sp>
        <p:nvSpPr>
          <p:cNvPr id="22" name="Shape 20"/>
          <p:cNvSpPr/>
          <p:nvPr/>
        </p:nvSpPr>
        <p:spPr>
          <a:xfrm>
            <a:off x="4572000" y="2450592"/>
            <a:ext cx="4389120" cy="1874520"/>
          </a:xfrm>
          <a:prstGeom prst="roundRect">
            <a:avLst>
              <a:gd name="adj" fmla="val 5854"/>
            </a:avLst>
          </a:prstGeom>
          <a:solidFill>
            <a:srgbClr val="F1F5F9"/>
          </a:solidFill>
          <a:ln w="12700">
            <a:solidFill>
              <a:srgbClr val="CBD5E1"/>
            </a:solidFill>
            <a:prstDash val="solid"/>
          </a:ln>
          <a:effectLst>
            <a:outerShdw blurRad="88900" dist="25400" dir="2700000" algn="bl" rotWithShape="0">
              <a:srgbClr val="000000">
                <a:alpha val="13000"/>
              </a:srgbClr>
            </a:outerShdw>
          </a:effectLst>
        </p:spPr>
      </p:sp>
      <p:sp>
        <p:nvSpPr>
          <p:cNvPr id="23" name="Text 21"/>
          <p:cNvSpPr/>
          <p:nvPr/>
        </p:nvSpPr>
        <p:spPr>
          <a:xfrm>
            <a:off x="4681728" y="2487168"/>
            <a:ext cx="4169664" cy="292608"/>
          </a:xfrm>
          <a:prstGeom prst="rect">
            <a:avLst/>
          </a:prstGeom>
          <a:noFill/>
          <a:ln/>
        </p:spPr>
        <p:txBody>
          <a:bodyPr wrap="square" lIns="0" tIns="0" rIns="0" bIns="0" rtlCol="0" anchor="ctr"/>
          <a:lstStyle/>
          <a:p>
            <a:pPr marL="0" indent="0">
              <a:buNone/>
            </a:pPr>
            <a:r>
              <a:rPr lang="en-US" sz="1200" b="1" dirty="0">
                <a:solidFill>
                  <a:srgbClr val="0D1B2A"/>
                </a:solidFill>
                <a:latin typeface="Arial" pitchFamily="34" charset="0"/>
                <a:ea typeface="Arial" pitchFamily="34" charset="-122"/>
                <a:cs typeface="Arial" pitchFamily="34" charset="-120"/>
              </a:rPr>
              <a:t>Exemples de décision</a:t>
            </a:r>
            <a:endParaRPr lang="en-US" sz="1200" dirty="0"/>
          </a:p>
        </p:txBody>
      </p:sp>
      <p:sp>
        <p:nvSpPr>
          <p:cNvPr id="24" name="Shape 22"/>
          <p:cNvSpPr/>
          <p:nvPr/>
        </p:nvSpPr>
        <p:spPr>
          <a:xfrm>
            <a:off x="4645152" y="2834640"/>
            <a:ext cx="4279392" cy="274320"/>
          </a:xfrm>
          <a:prstGeom prst="rect">
            <a:avLst/>
          </a:prstGeom>
          <a:solidFill>
            <a:srgbClr val="FFFFFF"/>
          </a:solidFill>
          <a:ln w="6350">
            <a:solidFill>
              <a:srgbClr val="E2E8F0"/>
            </a:solidFill>
            <a:prstDash val="solid"/>
          </a:ln>
        </p:spPr>
      </p:sp>
      <p:sp>
        <p:nvSpPr>
          <p:cNvPr id="25" name="Text 23"/>
          <p:cNvSpPr/>
          <p:nvPr/>
        </p:nvSpPr>
        <p:spPr>
          <a:xfrm>
            <a:off x="4681728" y="2852928"/>
            <a:ext cx="2286000" cy="237744"/>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 Qui donne cours lundi ? »</a:t>
            </a:r>
            <a:endParaRPr lang="en-US" sz="950" dirty="0"/>
          </a:p>
        </p:txBody>
      </p:sp>
      <p:sp>
        <p:nvSpPr>
          <p:cNvPr id="26" name="Shape 24"/>
          <p:cNvSpPr/>
          <p:nvPr/>
        </p:nvSpPr>
        <p:spPr>
          <a:xfrm>
            <a:off x="7022592" y="2871216"/>
            <a:ext cx="749808" cy="201168"/>
          </a:xfrm>
          <a:prstGeom prst="roundRect">
            <a:avLst>
              <a:gd name="adj" fmla="val 18182"/>
            </a:avLst>
          </a:prstGeom>
          <a:solidFill>
            <a:srgbClr val="D1FAE5"/>
          </a:solidFill>
          <a:ln w="12700">
            <a:solidFill>
              <a:srgbClr val="10B981"/>
            </a:solidFill>
            <a:prstDash val="solid"/>
          </a:ln>
        </p:spPr>
      </p:sp>
      <p:sp>
        <p:nvSpPr>
          <p:cNvPr id="27" name="Text 25"/>
          <p:cNvSpPr/>
          <p:nvPr/>
        </p:nvSpPr>
        <p:spPr>
          <a:xfrm>
            <a:off x="7022592" y="2871216"/>
            <a:ext cx="749808" cy="201168"/>
          </a:xfrm>
          <a:prstGeom prst="rect">
            <a:avLst/>
          </a:prstGeom>
          <a:noFill/>
          <a:ln/>
        </p:spPr>
        <p:txBody>
          <a:bodyPr wrap="square" lIns="0" tIns="0" rIns="0" bIns="0" rtlCol="0" anchor="ctr"/>
          <a:lstStyle/>
          <a:p>
            <a:pPr marL="0" indent="0" algn="ctr">
              <a:buNone/>
            </a:pPr>
            <a:r>
              <a:rPr lang="en-US" sz="900" b="1" dirty="0">
                <a:solidFill>
                  <a:srgbClr val="10B981"/>
                </a:solidFill>
                <a:latin typeface="Arial" pitchFamily="34" charset="0"/>
                <a:ea typeface="Arial" pitchFamily="34" charset="-122"/>
                <a:cs typeface="Arial" pitchFamily="34" charset="-120"/>
              </a:rPr>
              <a:t>BD</a:t>
            </a:r>
            <a:endParaRPr lang="en-US" sz="900" dirty="0"/>
          </a:p>
        </p:txBody>
      </p:sp>
      <p:sp>
        <p:nvSpPr>
          <p:cNvPr id="28" name="Shape 26"/>
          <p:cNvSpPr/>
          <p:nvPr/>
        </p:nvSpPr>
        <p:spPr>
          <a:xfrm>
            <a:off x="4645152" y="3127248"/>
            <a:ext cx="4279392" cy="274320"/>
          </a:xfrm>
          <a:prstGeom prst="rect">
            <a:avLst/>
          </a:prstGeom>
          <a:solidFill>
            <a:srgbClr val="F0FDF4"/>
          </a:solidFill>
          <a:ln w="6350">
            <a:solidFill>
              <a:srgbClr val="E2E8F0"/>
            </a:solidFill>
            <a:prstDash val="solid"/>
          </a:ln>
        </p:spPr>
      </p:sp>
      <p:sp>
        <p:nvSpPr>
          <p:cNvPr id="29" name="Text 27"/>
          <p:cNvSpPr/>
          <p:nvPr/>
        </p:nvSpPr>
        <p:spPr>
          <a:xfrm>
            <a:off x="4681728" y="3145536"/>
            <a:ext cx="2286000" cy="237744"/>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 Universités de Guinée ? »</a:t>
            </a:r>
            <a:endParaRPr lang="en-US" sz="950" dirty="0"/>
          </a:p>
        </p:txBody>
      </p:sp>
      <p:sp>
        <p:nvSpPr>
          <p:cNvPr id="30" name="Shape 28"/>
          <p:cNvSpPr/>
          <p:nvPr/>
        </p:nvSpPr>
        <p:spPr>
          <a:xfrm>
            <a:off x="7022592" y="3163824"/>
            <a:ext cx="749808" cy="201168"/>
          </a:xfrm>
          <a:prstGeom prst="roundRect">
            <a:avLst>
              <a:gd name="adj" fmla="val 18182"/>
            </a:avLst>
          </a:prstGeom>
          <a:solidFill>
            <a:srgbClr val="E0F7FA"/>
          </a:solidFill>
          <a:ln w="12700">
            <a:solidFill>
              <a:srgbClr val="0EA5E9"/>
            </a:solidFill>
            <a:prstDash val="solid"/>
          </a:ln>
        </p:spPr>
      </p:sp>
      <p:sp>
        <p:nvSpPr>
          <p:cNvPr id="31" name="Text 29"/>
          <p:cNvSpPr/>
          <p:nvPr/>
        </p:nvSpPr>
        <p:spPr>
          <a:xfrm>
            <a:off x="7022592" y="3163824"/>
            <a:ext cx="749808" cy="201168"/>
          </a:xfrm>
          <a:prstGeom prst="rect">
            <a:avLst/>
          </a:prstGeom>
          <a:noFill/>
          <a:ln/>
        </p:spPr>
        <p:txBody>
          <a:bodyPr wrap="square" lIns="0" tIns="0" rIns="0" bIns="0" rtlCol="0" anchor="ctr"/>
          <a:lstStyle/>
          <a:p>
            <a:pPr marL="0" indent="0" algn="ctr">
              <a:buNone/>
            </a:pPr>
            <a:r>
              <a:rPr lang="en-US" sz="900" b="1" dirty="0">
                <a:solidFill>
                  <a:srgbClr val="0EA5E9"/>
                </a:solidFill>
                <a:latin typeface="Arial" pitchFamily="34" charset="0"/>
                <a:ea typeface="Arial" pitchFamily="34" charset="-122"/>
                <a:cs typeface="Arial" pitchFamily="34" charset="-120"/>
              </a:rPr>
              <a:t>WEB</a:t>
            </a:r>
            <a:endParaRPr lang="en-US" sz="900" dirty="0"/>
          </a:p>
        </p:txBody>
      </p:sp>
      <p:sp>
        <p:nvSpPr>
          <p:cNvPr id="32" name="Shape 30"/>
          <p:cNvSpPr/>
          <p:nvPr/>
        </p:nvSpPr>
        <p:spPr>
          <a:xfrm>
            <a:off x="4645152" y="3419856"/>
            <a:ext cx="4279392" cy="274320"/>
          </a:xfrm>
          <a:prstGeom prst="rect">
            <a:avLst/>
          </a:prstGeom>
          <a:solidFill>
            <a:srgbClr val="FFFFFF"/>
          </a:solidFill>
          <a:ln w="6350">
            <a:solidFill>
              <a:srgbClr val="E2E8F0"/>
            </a:solidFill>
            <a:prstDash val="solid"/>
          </a:ln>
        </p:spPr>
      </p:sp>
      <p:sp>
        <p:nvSpPr>
          <p:cNvPr id="33" name="Text 31"/>
          <p:cNvSpPr/>
          <p:nvPr/>
        </p:nvSpPr>
        <p:spPr>
          <a:xfrm>
            <a:off x="4681728" y="3438144"/>
            <a:ext cx="2286000" cy="237744"/>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 Combien d'étudiants ? »</a:t>
            </a:r>
            <a:endParaRPr lang="en-US" sz="950" dirty="0"/>
          </a:p>
        </p:txBody>
      </p:sp>
      <p:sp>
        <p:nvSpPr>
          <p:cNvPr id="34" name="Shape 32"/>
          <p:cNvSpPr/>
          <p:nvPr/>
        </p:nvSpPr>
        <p:spPr>
          <a:xfrm>
            <a:off x="7022592" y="3456432"/>
            <a:ext cx="749808" cy="201168"/>
          </a:xfrm>
          <a:prstGeom prst="roundRect">
            <a:avLst>
              <a:gd name="adj" fmla="val 18182"/>
            </a:avLst>
          </a:prstGeom>
          <a:solidFill>
            <a:srgbClr val="D1FAE5"/>
          </a:solidFill>
          <a:ln w="12700">
            <a:solidFill>
              <a:srgbClr val="10B981"/>
            </a:solidFill>
            <a:prstDash val="solid"/>
          </a:ln>
        </p:spPr>
      </p:sp>
      <p:sp>
        <p:nvSpPr>
          <p:cNvPr id="35" name="Text 33"/>
          <p:cNvSpPr/>
          <p:nvPr/>
        </p:nvSpPr>
        <p:spPr>
          <a:xfrm>
            <a:off x="7022592" y="3456432"/>
            <a:ext cx="749808" cy="201168"/>
          </a:xfrm>
          <a:prstGeom prst="rect">
            <a:avLst/>
          </a:prstGeom>
          <a:noFill/>
          <a:ln/>
        </p:spPr>
        <p:txBody>
          <a:bodyPr wrap="square" lIns="0" tIns="0" rIns="0" bIns="0" rtlCol="0" anchor="ctr"/>
          <a:lstStyle/>
          <a:p>
            <a:pPr marL="0" indent="0" algn="ctr">
              <a:buNone/>
            </a:pPr>
            <a:r>
              <a:rPr lang="en-US" sz="900" b="1" dirty="0">
                <a:solidFill>
                  <a:srgbClr val="10B981"/>
                </a:solidFill>
                <a:latin typeface="Arial" pitchFamily="34" charset="0"/>
                <a:ea typeface="Arial" pitchFamily="34" charset="-122"/>
                <a:cs typeface="Arial" pitchFamily="34" charset="-120"/>
              </a:rPr>
              <a:t>BD</a:t>
            </a:r>
            <a:endParaRPr lang="en-US" sz="900" dirty="0"/>
          </a:p>
        </p:txBody>
      </p:sp>
      <p:sp>
        <p:nvSpPr>
          <p:cNvPr id="36" name="Shape 34"/>
          <p:cNvSpPr/>
          <p:nvPr/>
        </p:nvSpPr>
        <p:spPr>
          <a:xfrm>
            <a:off x="4645152" y="3712464"/>
            <a:ext cx="4279392" cy="274320"/>
          </a:xfrm>
          <a:prstGeom prst="rect">
            <a:avLst/>
          </a:prstGeom>
          <a:solidFill>
            <a:srgbClr val="F0FDF4"/>
          </a:solidFill>
          <a:ln w="6350">
            <a:solidFill>
              <a:srgbClr val="E2E8F0"/>
            </a:solidFill>
            <a:prstDash val="solid"/>
          </a:ln>
        </p:spPr>
      </p:sp>
      <p:sp>
        <p:nvSpPr>
          <p:cNvPr id="37" name="Text 35"/>
          <p:cNvSpPr/>
          <p:nvPr/>
        </p:nvSpPr>
        <p:spPr>
          <a:xfrm>
            <a:off x="4681728" y="3730752"/>
            <a:ext cx="2286000" cy="237744"/>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 Parle de l'univ. de Nongo »</a:t>
            </a:r>
            <a:endParaRPr lang="en-US" sz="950" dirty="0"/>
          </a:p>
        </p:txBody>
      </p:sp>
      <p:sp>
        <p:nvSpPr>
          <p:cNvPr id="38" name="Shape 36"/>
          <p:cNvSpPr/>
          <p:nvPr/>
        </p:nvSpPr>
        <p:spPr>
          <a:xfrm>
            <a:off x="7022592" y="3749040"/>
            <a:ext cx="749808" cy="201168"/>
          </a:xfrm>
          <a:prstGeom prst="roundRect">
            <a:avLst>
              <a:gd name="adj" fmla="val 18182"/>
            </a:avLst>
          </a:prstGeom>
          <a:solidFill>
            <a:srgbClr val="E0F7FA"/>
          </a:solidFill>
          <a:ln w="12700">
            <a:solidFill>
              <a:srgbClr val="0EA5E9"/>
            </a:solidFill>
            <a:prstDash val="solid"/>
          </a:ln>
        </p:spPr>
      </p:sp>
      <p:sp>
        <p:nvSpPr>
          <p:cNvPr id="39" name="Text 37"/>
          <p:cNvSpPr/>
          <p:nvPr/>
        </p:nvSpPr>
        <p:spPr>
          <a:xfrm>
            <a:off x="7022592" y="3749040"/>
            <a:ext cx="749808" cy="201168"/>
          </a:xfrm>
          <a:prstGeom prst="rect">
            <a:avLst/>
          </a:prstGeom>
          <a:noFill/>
          <a:ln/>
        </p:spPr>
        <p:txBody>
          <a:bodyPr wrap="square" lIns="0" tIns="0" rIns="0" bIns="0" rtlCol="0" anchor="ctr"/>
          <a:lstStyle/>
          <a:p>
            <a:pPr marL="0" indent="0" algn="ctr">
              <a:buNone/>
            </a:pPr>
            <a:r>
              <a:rPr lang="en-US" sz="900" b="1" dirty="0">
                <a:solidFill>
                  <a:srgbClr val="0EA5E9"/>
                </a:solidFill>
                <a:latin typeface="Arial" pitchFamily="34" charset="0"/>
                <a:ea typeface="Arial" pitchFamily="34" charset="-122"/>
                <a:cs typeface="Arial" pitchFamily="34" charset="-120"/>
              </a:rPr>
              <a:t>WEB</a:t>
            </a:r>
            <a:endParaRPr lang="en-US" sz="900" dirty="0"/>
          </a:p>
        </p:txBody>
      </p:sp>
      <p:sp>
        <p:nvSpPr>
          <p:cNvPr id="40" name="Shape 38"/>
          <p:cNvSpPr/>
          <p:nvPr/>
        </p:nvSpPr>
        <p:spPr>
          <a:xfrm>
            <a:off x="4645152" y="4005072"/>
            <a:ext cx="4279392" cy="274320"/>
          </a:xfrm>
          <a:prstGeom prst="rect">
            <a:avLst/>
          </a:prstGeom>
          <a:solidFill>
            <a:srgbClr val="FFFFFF"/>
          </a:solidFill>
          <a:ln w="6350">
            <a:solidFill>
              <a:srgbClr val="E2E8F0"/>
            </a:solidFill>
            <a:prstDash val="solid"/>
          </a:ln>
        </p:spPr>
      </p:sp>
      <p:sp>
        <p:nvSpPr>
          <p:cNvPr id="41" name="Text 39"/>
          <p:cNvSpPr/>
          <p:nvPr/>
        </p:nvSpPr>
        <p:spPr>
          <a:xfrm>
            <a:off x="4681728" y="4023360"/>
            <a:ext cx="2286000" cy="237744"/>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 Merci »</a:t>
            </a:r>
            <a:endParaRPr lang="en-US" sz="950" dirty="0"/>
          </a:p>
        </p:txBody>
      </p:sp>
      <p:sp>
        <p:nvSpPr>
          <p:cNvPr id="42" name="Shape 40"/>
          <p:cNvSpPr/>
          <p:nvPr/>
        </p:nvSpPr>
        <p:spPr>
          <a:xfrm>
            <a:off x="7022592" y="4041648"/>
            <a:ext cx="749808" cy="201168"/>
          </a:xfrm>
          <a:prstGeom prst="roundRect">
            <a:avLst>
              <a:gd name="adj" fmla="val 18182"/>
            </a:avLst>
          </a:prstGeom>
          <a:solidFill>
            <a:srgbClr val="F1F5F9"/>
          </a:solidFill>
          <a:ln w="12700">
            <a:solidFill>
              <a:srgbClr val="94A3B8"/>
            </a:solidFill>
            <a:prstDash val="solid"/>
          </a:ln>
        </p:spPr>
      </p:sp>
      <p:sp>
        <p:nvSpPr>
          <p:cNvPr id="43" name="Text 41"/>
          <p:cNvSpPr/>
          <p:nvPr/>
        </p:nvSpPr>
        <p:spPr>
          <a:xfrm>
            <a:off x="7022592" y="4041648"/>
            <a:ext cx="749808" cy="201168"/>
          </a:xfrm>
          <a:prstGeom prst="rect">
            <a:avLst/>
          </a:prstGeom>
          <a:noFill/>
          <a:ln/>
        </p:spPr>
        <p:txBody>
          <a:bodyPr wrap="square" lIns="0" tIns="0" rIns="0" bIns="0" rtlCol="0" anchor="ctr"/>
          <a:lstStyle/>
          <a:p>
            <a:pPr marL="0" indent="0" algn="ctr">
              <a:buNone/>
            </a:pPr>
            <a:r>
              <a:rPr lang="en-US" sz="900" b="1" dirty="0">
                <a:solidFill>
                  <a:srgbClr val="94A3B8"/>
                </a:solidFill>
                <a:latin typeface="Arial" pitchFamily="34" charset="0"/>
                <a:ea typeface="Arial" pitchFamily="34" charset="-122"/>
                <a:cs typeface="Arial" pitchFamily="34" charset="-120"/>
              </a:rPr>
              <a:t>–</a:t>
            </a:r>
            <a:endParaRPr lang="en-US" sz="900" dirty="0"/>
          </a:p>
        </p:txBody>
      </p:sp>
      <p:sp>
        <p:nvSpPr>
          <p:cNvPr id="44" name="Shape 42"/>
          <p:cNvSpPr/>
          <p:nvPr/>
        </p:nvSpPr>
        <p:spPr>
          <a:xfrm>
            <a:off x="274320" y="4462272"/>
            <a:ext cx="8595360" cy="640080"/>
          </a:xfrm>
          <a:prstGeom prst="roundRect">
            <a:avLst>
              <a:gd name="adj" fmla="val 14286"/>
            </a:avLst>
          </a:prstGeom>
          <a:solidFill>
            <a:srgbClr val="D1FAE5"/>
          </a:solidFill>
          <a:ln w="19050">
            <a:solidFill>
              <a:srgbClr val="10B981"/>
            </a:solidFill>
            <a:prstDash val="solid"/>
          </a:ln>
        </p:spPr>
      </p:sp>
      <p:sp>
        <p:nvSpPr>
          <p:cNvPr id="45" name="Shape 43"/>
          <p:cNvSpPr/>
          <p:nvPr/>
        </p:nvSpPr>
        <p:spPr>
          <a:xfrm>
            <a:off x="365760" y="4526280"/>
            <a:ext cx="914400" cy="457200"/>
          </a:xfrm>
          <a:prstGeom prst="roundRect">
            <a:avLst>
              <a:gd name="adj" fmla="val 16000"/>
            </a:avLst>
          </a:prstGeom>
          <a:solidFill>
            <a:srgbClr val="10B981"/>
          </a:solidFill>
          <a:ln w="12700">
            <a:solidFill>
              <a:srgbClr val="10B981"/>
            </a:solidFill>
            <a:prstDash val="solid"/>
          </a:ln>
        </p:spPr>
      </p:sp>
      <p:sp>
        <p:nvSpPr>
          <p:cNvPr id="46" name="Text 44"/>
          <p:cNvSpPr/>
          <p:nvPr/>
        </p:nvSpPr>
        <p:spPr>
          <a:xfrm>
            <a:off x="365760" y="4526280"/>
            <a:ext cx="9144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&lt; 2 sec</a:t>
            </a:r>
            <a:endParaRPr lang="en-US" sz="1400" dirty="0"/>
          </a:p>
        </p:txBody>
      </p:sp>
      <p:sp>
        <p:nvSpPr>
          <p:cNvPr id="47" name="Text 45"/>
          <p:cNvSpPr/>
          <p:nvPr/>
        </p:nvSpPr>
        <p:spPr>
          <a:xfrm>
            <a:off x="1371600" y="4553712"/>
            <a:ext cx="3200400" cy="402336"/>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Questions sur l'application (BD)</a:t>
            </a:r>
            <a:endParaRPr lang="en-US" sz="1100" dirty="0"/>
          </a:p>
        </p:txBody>
      </p:sp>
      <p:sp>
        <p:nvSpPr>
          <p:cNvPr id="48" name="Shape 46"/>
          <p:cNvSpPr/>
          <p:nvPr/>
        </p:nvSpPr>
        <p:spPr>
          <a:xfrm>
            <a:off x="4663440" y="4526280"/>
            <a:ext cx="914400" cy="457200"/>
          </a:xfrm>
          <a:prstGeom prst="roundRect">
            <a:avLst>
              <a:gd name="adj" fmla="val 16000"/>
            </a:avLst>
          </a:prstGeom>
          <a:solidFill>
            <a:srgbClr val="10B981"/>
          </a:solidFill>
          <a:ln w="12700">
            <a:solidFill>
              <a:srgbClr val="10B981"/>
            </a:solidFill>
            <a:prstDash val="solid"/>
          </a:ln>
        </p:spPr>
      </p:sp>
      <p:sp>
        <p:nvSpPr>
          <p:cNvPr id="49" name="Text 47"/>
          <p:cNvSpPr/>
          <p:nvPr/>
        </p:nvSpPr>
        <p:spPr>
          <a:xfrm>
            <a:off x="4663440" y="4526280"/>
            <a:ext cx="9144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&lt; 4 sec</a:t>
            </a:r>
            <a:endParaRPr lang="en-US" sz="1400" dirty="0"/>
          </a:p>
        </p:txBody>
      </p:sp>
      <p:sp>
        <p:nvSpPr>
          <p:cNvPr id="50" name="Text 48"/>
          <p:cNvSpPr/>
          <p:nvPr/>
        </p:nvSpPr>
        <p:spPr>
          <a:xfrm>
            <a:off x="5669280" y="4553712"/>
            <a:ext cx="3200400" cy="402336"/>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Questions avec recherche web (Tavily)</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0D1B2A"/>
          </a:solidFill>
          <a:ln w="12700">
            <a:solidFill>
              <a:srgbClr val="0D1B2A"/>
            </a:solidFill>
            <a:prstDash val="solid"/>
          </a:ln>
        </p:spPr>
      </p:sp>
      <p:sp>
        <p:nvSpPr>
          <p:cNvPr id="3" name="Text 1"/>
          <p:cNvSpPr/>
          <p:nvPr/>
        </p:nvSpPr>
        <p:spPr>
          <a:xfrm>
            <a:off x="457200" y="64008"/>
            <a:ext cx="8229600" cy="329184"/>
          </a:xfrm>
          <a:prstGeom prst="rect">
            <a:avLst/>
          </a:prstGeom>
          <a:noFill/>
          <a:ln/>
        </p:spPr>
        <p:txBody>
          <a:bodyPr wrap="square" lIns="0" tIns="0" rIns="0" bIns="0" rtlCol="0" anchor="ctr"/>
          <a:lstStyle/>
          <a:p>
            <a:pPr marL="0" indent="0">
              <a:buNone/>
            </a:pPr>
            <a:r>
              <a:rPr lang="en-US" sz="1000" b="1" kern="0" spc="400" dirty="0">
                <a:solidFill>
                  <a:srgbClr val="0EA5E9"/>
                </a:solidFill>
                <a:latin typeface="Arial" pitchFamily="34" charset="0"/>
                <a:ea typeface="Arial" pitchFamily="34" charset="-122"/>
                <a:cs typeface="Arial" pitchFamily="34" charset="-120"/>
              </a:rPr>
              <a:t>SECTION 10 — ACTIONS IA</a:t>
            </a:r>
            <a:endParaRPr lang="en-US" sz="1000" dirty="0"/>
          </a:p>
        </p:txBody>
      </p:sp>
      <p:sp>
        <p:nvSpPr>
          <p:cNvPr id="4" name="Text 2"/>
          <p:cNvSpPr/>
          <p:nvPr/>
        </p:nvSpPr>
        <p:spPr>
          <a:xfrm>
            <a:off x="457200" y="402336"/>
            <a:ext cx="6217920" cy="493776"/>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L'IA déclenche des vues dans l'interface</a:t>
            </a:r>
            <a:endParaRPr lang="en-US" sz="2000" dirty="0"/>
          </a:p>
        </p:txBody>
      </p:sp>
      <p:sp>
        <p:nvSpPr>
          <p:cNvPr id="5" name="Text 3"/>
          <p:cNvSpPr/>
          <p:nvPr/>
        </p:nvSpPr>
        <p:spPr>
          <a:xfrm>
            <a:off x="6400800" y="457200"/>
            <a:ext cx="2560320" cy="384048"/>
          </a:xfrm>
          <a:prstGeom prst="rect">
            <a:avLst/>
          </a:prstGeom>
          <a:noFill/>
          <a:ln/>
        </p:spPr>
        <p:txBody>
          <a:bodyPr wrap="square" lIns="0" tIns="0" rIns="0" bIns="0" rtlCol="0" anchor="ctr"/>
          <a:lstStyle/>
          <a:p>
            <a:pPr marL="0" indent="0" algn="r">
              <a:buNone/>
            </a:pPr>
            <a:r>
              <a:rPr lang="en-US" sz="1100" dirty="0">
                <a:solidFill>
                  <a:srgbClr val="0EA5E9"/>
                </a:solidFill>
                <a:latin typeface="Arial" pitchFamily="34" charset="0"/>
                <a:ea typeface="Arial" pitchFamily="34" charset="-122"/>
                <a:cs typeface="Arial" pitchFamily="34" charset="-120"/>
              </a:rPr>
              <a:t>Innovation architecturale majeure</a:t>
            </a:r>
            <a:endParaRPr lang="en-US" sz="1100" dirty="0"/>
          </a:p>
        </p:txBody>
      </p:sp>
      <p:sp>
        <p:nvSpPr>
          <p:cNvPr id="6" name="Shape 4"/>
          <p:cNvSpPr/>
          <p:nvPr/>
        </p:nvSpPr>
        <p:spPr>
          <a:xfrm>
            <a:off x="274320" y="1051560"/>
            <a:ext cx="8595360" cy="621792"/>
          </a:xfrm>
          <a:prstGeom prst="roundRect">
            <a:avLst>
              <a:gd name="adj" fmla="val 14706"/>
            </a:avLst>
          </a:prstGeom>
          <a:solidFill>
            <a:srgbClr val="FEF3C7"/>
          </a:solidFill>
          <a:ln w="19050">
            <a:solidFill>
              <a:srgbClr val="F59E0B"/>
            </a:solidFill>
            <a:prstDash val="solid"/>
          </a:ln>
        </p:spPr>
      </p:sp>
      <p:sp>
        <p:nvSpPr>
          <p:cNvPr id="7" name="Text 5"/>
          <p:cNvSpPr/>
          <p:nvPr/>
        </p:nvSpPr>
        <p:spPr>
          <a:xfrm>
            <a:off x="411480" y="1078992"/>
            <a:ext cx="8321040" cy="548640"/>
          </a:xfrm>
          <a:prstGeom prst="rect">
            <a:avLst/>
          </a:prstGeom>
          <a:noFill/>
          <a:ln/>
        </p:spPr>
        <p:txBody>
          <a:bodyPr wrap="square" lIns="0" tIns="0" rIns="0" bIns="0" rtlCol="0" anchor="ctr"/>
          <a:lstStyle/>
          <a:p>
            <a:pPr marL="0" indent="0">
              <a:buNone/>
            </a:pPr>
            <a:r>
              <a:rPr lang="en-US" sz="1100" b="1" dirty="0">
                <a:solidFill>
                  <a:srgbClr val="F59E0B"/>
                </a:solidFill>
                <a:latin typeface="Arial" pitchFamily="34" charset="0"/>
                <a:ea typeface="Arial" pitchFamily="34" charset="-122"/>
                <a:cs typeface="Arial" pitchFamily="34" charset="-120"/>
              </a:rPr>
              <a:t>🎯  Innovation : L'IA ne répond pas seulement en texte — elle déclenche aussi des actions visuelles dans l'interface. L'utilisateur n'a pas à naviguer : l'IA affiche directement le tableau, le PDF ou les alertes.</a:t>
            </a:r>
            <a:endParaRPr lang="en-US" sz="1100" dirty="0"/>
          </a:p>
        </p:txBody>
      </p:sp>
      <p:sp>
        <p:nvSpPr>
          <p:cNvPr id="8" name="Shape 6"/>
          <p:cNvSpPr/>
          <p:nvPr/>
        </p:nvSpPr>
        <p:spPr>
          <a:xfrm>
            <a:off x="274320" y="1755648"/>
            <a:ext cx="4160520" cy="1143000"/>
          </a:xfrm>
          <a:prstGeom prst="roundRect">
            <a:avLst>
              <a:gd name="adj" fmla="val 8000"/>
            </a:avLst>
          </a:prstGeom>
          <a:solidFill>
            <a:srgbClr val="0D1B2A"/>
          </a:solidFill>
          <a:ln w="12700">
            <a:solidFill>
              <a:srgbClr val="0EA5E9"/>
            </a:solidFill>
            <a:prstDash val="solid"/>
          </a:ln>
          <a:effectLst>
            <a:outerShdw blurRad="88900" dist="25400" dir="2700000" algn="bl" rotWithShape="0">
              <a:srgbClr val="000000">
                <a:alpha val="13000"/>
              </a:srgbClr>
            </a:outerShdw>
          </a:effectLst>
        </p:spPr>
      </p:sp>
      <p:sp>
        <p:nvSpPr>
          <p:cNvPr id="9" name="Text 7"/>
          <p:cNvSpPr/>
          <p:nvPr/>
        </p:nvSpPr>
        <p:spPr>
          <a:xfrm>
            <a:off x="411480" y="1810512"/>
            <a:ext cx="3886200" cy="237744"/>
          </a:xfrm>
          <a:prstGeom prst="rect">
            <a:avLst/>
          </a:prstGeom>
          <a:noFill/>
          <a:ln/>
        </p:spPr>
        <p:txBody>
          <a:bodyPr wrap="square" lIns="0" tIns="0" rIns="0" bIns="0" rtlCol="0" anchor="ctr"/>
          <a:lstStyle/>
          <a:p>
            <a:pPr marL="0" indent="0">
              <a:buNone/>
            </a:pPr>
            <a:r>
              <a:rPr lang="en-US" sz="950" dirty="0">
                <a:solidFill>
                  <a:srgbClr val="0EA5E9"/>
                </a:solidFill>
                <a:latin typeface="Courier New" pitchFamily="34" charset="0"/>
                <a:ea typeface="Courier New" pitchFamily="34" charset="-122"/>
                <a:cs typeface="Courier New" pitchFamily="34" charset="-120"/>
              </a:rPr>
              <a:t>// Format JSON structuré</a:t>
            </a:r>
            <a:endParaRPr lang="en-US" sz="950" dirty="0"/>
          </a:p>
        </p:txBody>
      </p:sp>
      <p:sp>
        <p:nvSpPr>
          <p:cNvPr id="10" name="Text 8"/>
          <p:cNvSpPr/>
          <p:nvPr/>
        </p:nvSpPr>
        <p:spPr>
          <a:xfrm>
            <a:off x="411480" y="2048256"/>
            <a:ext cx="388620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Réponse JSON retournée par l'IA :</a:t>
            </a:r>
            <a:endParaRPr lang="en-US" sz="850" dirty="0"/>
          </a:p>
        </p:txBody>
      </p:sp>
      <p:sp>
        <p:nvSpPr>
          <p:cNvPr id="11" name="Text 9"/>
          <p:cNvSpPr/>
          <p:nvPr/>
        </p:nvSpPr>
        <p:spPr>
          <a:xfrm>
            <a:off x="411480" y="2231136"/>
            <a:ext cx="388620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a:t>
            </a:r>
            <a:endParaRPr lang="en-US" sz="850" dirty="0"/>
          </a:p>
        </p:txBody>
      </p:sp>
      <p:sp>
        <p:nvSpPr>
          <p:cNvPr id="12" name="Text 10"/>
          <p:cNvSpPr/>
          <p:nvPr/>
        </p:nvSpPr>
        <p:spPr>
          <a:xfrm>
            <a:off x="411480" y="2414016"/>
            <a:ext cx="388620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"message": "Voici l'EDT du lundi.",</a:t>
            </a:r>
            <a:endParaRPr lang="en-US" sz="850" dirty="0"/>
          </a:p>
        </p:txBody>
      </p:sp>
      <p:sp>
        <p:nvSpPr>
          <p:cNvPr id="13" name="Text 11"/>
          <p:cNvSpPr/>
          <p:nvPr/>
        </p:nvSpPr>
        <p:spPr>
          <a:xfrm>
            <a:off x="411480" y="2596896"/>
            <a:ext cx="388620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"action":  "show_edt_jour",</a:t>
            </a:r>
            <a:endParaRPr lang="en-US" sz="850" dirty="0"/>
          </a:p>
        </p:txBody>
      </p:sp>
      <p:sp>
        <p:nvSpPr>
          <p:cNvPr id="14" name="Text 12"/>
          <p:cNvSpPr/>
          <p:nvPr/>
        </p:nvSpPr>
        <p:spPr>
          <a:xfrm>
            <a:off x="411480" y="2779776"/>
            <a:ext cx="388620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"params":  {</a:t>
            </a:r>
            <a:endParaRPr lang="en-US" sz="850" dirty="0"/>
          </a:p>
        </p:txBody>
      </p:sp>
      <p:sp>
        <p:nvSpPr>
          <p:cNvPr id="15" name="Text 13"/>
          <p:cNvSpPr/>
          <p:nvPr/>
        </p:nvSpPr>
        <p:spPr>
          <a:xfrm>
            <a:off x="411480" y="2962656"/>
            <a:ext cx="388620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"jour": "Lundi",</a:t>
            </a:r>
            <a:endParaRPr lang="en-US" sz="850" dirty="0"/>
          </a:p>
        </p:txBody>
      </p:sp>
      <p:sp>
        <p:nvSpPr>
          <p:cNvPr id="16" name="Text 14"/>
          <p:cNvSpPr/>
          <p:nvPr/>
        </p:nvSpPr>
        <p:spPr>
          <a:xfrm>
            <a:off x="411480" y="3145536"/>
            <a:ext cx="388620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"filiere_id": 1,</a:t>
            </a:r>
            <a:endParaRPr lang="en-US" sz="850" dirty="0"/>
          </a:p>
        </p:txBody>
      </p:sp>
      <p:sp>
        <p:nvSpPr>
          <p:cNvPr id="17" name="Text 15"/>
          <p:cNvSpPr/>
          <p:nvPr/>
        </p:nvSpPr>
        <p:spPr>
          <a:xfrm>
            <a:off x="411480" y="3328416"/>
            <a:ext cx="388620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"niveau_id": 3</a:t>
            </a:r>
            <a:endParaRPr lang="en-US" sz="850" dirty="0"/>
          </a:p>
        </p:txBody>
      </p:sp>
      <p:sp>
        <p:nvSpPr>
          <p:cNvPr id="18" name="Text 16"/>
          <p:cNvSpPr/>
          <p:nvPr/>
        </p:nvSpPr>
        <p:spPr>
          <a:xfrm>
            <a:off x="411480" y="3511296"/>
            <a:ext cx="388620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a:t>
            </a:r>
            <a:endParaRPr lang="en-US" sz="850" dirty="0"/>
          </a:p>
        </p:txBody>
      </p:sp>
      <p:sp>
        <p:nvSpPr>
          <p:cNvPr id="19" name="Text 17"/>
          <p:cNvSpPr/>
          <p:nvPr/>
        </p:nvSpPr>
        <p:spPr>
          <a:xfrm>
            <a:off x="411480" y="3694176"/>
            <a:ext cx="388620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a:t>
            </a:r>
            <a:endParaRPr lang="en-US" sz="850" dirty="0"/>
          </a:p>
        </p:txBody>
      </p:sp>
      <p:sp>
        <p:nvSpPr>
          <p:cNvPr id="20" name="Shape 18"/>
          <p:cNvSpPr/>
          <p:nvPr/>
        </p:nvSpPr>
        <p:spPr>
          <a:xfrm>
            <a:off x="4572000" y="1755648"/>
            <a:ext cx="4389120" cy="1143000"/>
          </a:xfrm>
          <a:prstGeom prst="roundRect">
            <a:avLst>
              <a:gd name="adj" fmla="val 9600"/>
            </a:avLst>
          </a:prstGeom>
          <a:solidFill>
            <a:srgbClr val="D1FAE5"/>
          </a:solidFill>
          <a:ln w="19050">
            <a:solidFill>
              <a:srgbClr val="10B981"/>
            </a:solidFill>
            <a:prstDash val="solid"/>
          </a:ln>
          <a:effectLst>
            <a:outerShdw blurRad="88900" dist="25400" dir="2700000" algn="bl" rotWithShape="0">
              <a:srgbClr val="000000">
                <a:alpha val="13000"/>
              </a:srgbClr>
            </a:outerShdw>
          </a:effectLst>
        </p:spPr>
      </p:sp>
      <p:sp>
        <p:nvSpPr>
          <p:cNvPr id="21" name="Text 19"/>
          <p:cNvSpPr/>
          <p:nvPr/>
        </p:nvSpPr>
        <p:spPr>
          <a:xfrm>
            <a:off x="4681728" y="1810512"/>
            <a:ext cx="4169664" cy="292608"/>
          </a:xfrm>
          <a:prstGeom prst="rect">
            <a:avLst/>
          </a:prstGeom>
          <a:noFill/>
          <a:ln/>
        </p:spPr>
        <p:txBody>
          <a:bodyPr wrap="square" lIns="0" tIns="0" rIns="0" bIns="0" rtlCol="0" anchor="ctr"/>
          <a:lstStyle/>
          <a:p>
            <a:pPr marL="0" indent="0">
              <a:buNone/>
            </a:pPr>
            <a:r>
              <a:rPr lang="en-US" sz="1200" b="1" dirty="0">
                <a:solidFill>
                  <a:srgbClr val="10B981"/>
                </a:solidFill>
                <a:latin typeface="Arial" pitchFamily="34" charset="0"/>
                <a:ea typeface="Arial" pitchFamily="34" charset="-122"/>
                <a:cs typeface="Arial" pitchFamily="34" charset="-120"/>
              </a:rPr>
              <a:t>🔄  Flux d'exécution</a:t>
            </a:r>
            <a:endParaRPr lang="en-US" sz="1200" dirty="0"/>
          </a:p>
        </p:txBody>
      </p:sp>
      <p:sp>
        <p:nvSpPr>
          <p:cNvPr id="22" name="Text 20"/>
          <p:cNvSpPr/>
          <p:nvPr/>
        </p:nvSpPr>
        <p:spPr>
          <a:xfrm>
            <a:off x="4681728" y="2121408"/>
            <a:ext cx="4169664" cy="201168"/>
          </a:xfrm>
          <a:prstGeom prst="rect">
            <a:avLst/>
          </a:prstGeom>
          <a:noFill/>
          <a:ln/>
        </p:spPr>
        <p:txBody>
          <a:bodyPr wrap="square" lIns="0" tIns="0" rIns="0" bIns="0" rtlCol="0" anchor="ctr"/>
          <a:lstStyle/>
          <a:p>
            <a:pPr marL="0" indent="0">
              <a:buNone/>
            </a:pPr>
            <a:r>
              <a:rPr lang="en-US" sz="1050" dirty="0">
                <a:solidFill>
                  <a:srgbClr val="1E293B"/>
                </a:solidFill>
                <a:latin typeface="Arial" pitchFamily="34" charset="0"/>
                <a:ea typeface="Arial" pitchFamily="34" charset="-122"/>
                <a:cs typeface="Arial" pitchFamily="34" charset="-120"/>
              </a:rPr>
              <a:t>1. L'IA retourne le JSON structuré</a:t>
            </a:r>
            <a:endParaRPr lang="en-US" sz="1050" dirty="0"/>
          </a:p>
        </p:txBody>
      </p:sp>
      <p:sp>
        <p:nvSpPr>
          <p:cNvPr id="23" name="Text 21"/>
          <p:cNvSpPr/>
          <p:nvPr/>
        </p:nvSpPr>
        <p:spPr>
          <a:xfrm>
            <a:off x="4681728" y="2340864"/>
            <a:ext cx="4169664" cy="201168"/>
          </a:xfrm>
          <a:prstGeom prst="rect">
            <a:avLst/>
          </a:prstGeom>
          <a:noFill/>
          <a:ln/>
        </p:spPr>
        <p:txBody>
          <a:bodyPr wrap="square" lIns="0" tIns="0" rIns="0" bIns="0" rtlCol="0" anchor="ctr"/>
          <a:lstStyle/>
          <a:p>
            <a:pPr marL="0" indent="0">
              <a:buNone/>
            </a:pPr>
            <a:r>
              <a:rPr lang="en-US" sz="1050" dirty="0">
                <a:solidFill>
                  <a:srgbClr val="1E293B"/>
                </a:solidFill>
                <a:latin typeface="Arial" pitchFamily="34" charset="0"/>
                <a:ea typeface="Arial" pitchFamily="34" charset="-122"/>
                <a:cs typeface="Arial" pitchFamily="34" charset="-120"/>
              </a:rPr>
              <a:t>2. Le JavaScript intercepte le champ 'action'</a:t>
            </a:r>
            <a:endParaRPr lang="en-US" sz="1050" dirty="0"/>
          </a:p>
        </p:txBody>
      </p:sp>
      <p:sp>
        <p:nvSpPr>
          <p:cNvPr id="24" name="Text 22"/>
          <p:cNvSpPr/>
          <p:nvPr/>
        </p:nvSpPr>
        <p:spPr>
          <a:xfrm>
            <a:off x="4681728" y="2560320"/>
            <a:ext cx="4169664" cy="201168"/>
          </a:xfrm>
          <a:prstGeom prst="rect">
            <a:avLst/>
          </a:prstGeom>
          <a:noFill/>
          <a:ln/>
        </p:spPr>
        <p:txBody>
          <a:bodyPr wrap="square" lIns="0" tIns="0" rIns="0" bIns="0" rtlCol="0" anchor="ctr"/>
          <a:lstStyle/>
          <a:p>
            <a:pPr marL="0" indent="0">
              <a:buNone/>
            </a:pPr>
            <a:r>
              <a:rPr lang="en-US" sz="1050" dirty="0">
                <a:solidFill>
                  <a:srgbClr val="1E293B"/>
                </a:solidFill>
                <a:latin typeface="Arial" pitchFamily="34" charset="0"/>
                <a:ea typeface="Arial" pitchFamily="34" charset="-122"/>
                <a:cs typeface="Arial" pitchFamily="34" charset="-120"/>
              </a:rPr>
              <a:t>3. Il appelle la fonction JS correspondante</a:t>
            </a:r>
            <a:endParaRPr lang="en-US" sz="1050" dirty="0"/>
          </a:p>
        </p:txBody>
      </p:sp>
      <p:sp>
        <p:nvSpPr>
          <p:cNvPr id="25" name="Text 23"/>
          <p:cNvSpPr/>
          <p:nvPr/>
        </p:nvSpPr>
        <p:spPr>
          <a:xfrm>
            <a:off x="4681728" y="2779776"/>
            <a:ext cx="4169664" cy="201168"/>
          </a:xfrm>
          <a:prstGeom prst="rect">
            <a:avLst/>
          </a:prstGeom>
          <a:noFill/>
          <a:ln/>
        </p:spPr>
        <p:txBody>
          <a:bodyPr wrap="square" lIns="0" tIns="0" rIns="0" bIns="0" rtlCol="0" anchor="ctr"/>
          <a:lstStyle/>
          <a:p>
            <a:pPr marL="0" indent="0">
              <a:buNone/>
            </a:pPr>
            <a:r>
              <a:rPr lang="en-US" sz="1050" dirty="0">
                <a:solidFill>
                  <a:srgbClr val="1E293B"/>
                </a:solidFill>
                <a:latin typeface="Arial" pitchFamily="34" charset="0"/>
                <a:ea typeface="Arial" pitchFamily="34" charset="-122"/>
                <a:cs typeface="Arial" pitchFamily="34" charset="-120"/>
              </a:rPr>
              <a:t>4. L'interface affiche le tableau/PDF/alertes</a:t>
            </a:r>
            <a:endParaRPr lang="en-US" sz="1050" dirty="0"/>
          </a:p>
        </p:txBody>
      </p:sp>
      <p:sp>
        <p:nvSpPr>
          <p:cNvPr id="26" name="Shape 24"/>
          <p:cNvSpPr/>
          <p:nvPr/>
        </p:nvSpPr>
        <p:spPr>
          <a:xfrm>
            <a:off x="274320" y="2971800"/>
            <a:ext cx="8595360" cy="320040"/>
          </a:xfrm>
          <a:prstGeom prst="roundRect">
            <a:avLst>
              <a:gd name="adj" fmla="val 17143"/>
            </a:avLst>
          </a:prstGeom>
          <a:solidFill>
            <a:srgbClr val="0D1B2A"/>
          </a:solidFill>
          <a:ln w="12700">
            <a:solidFill>
              <a:srgbClr val="0D1B2A"/>
            </a:solidFill>
            <a:prstDash val="solid"/>
          </a:ln>
        </p:spPr>
      </p:sp>
      <p:sp>
        <p:nvSpPr>
          <p:cNvPr id="27" name="Text 25"/>
          <p:cNvSpPr/>
          <p:nvPr/>
        </p:nvSpPr>
        <p:spPr>
          <a:xfrm>
            <a:off x="347472" y="2999232"/>
            <a:ext cx="2560320" cy="256032"/>
          </a:xfrm>
          <a:prstGeom prst="rect">
            <a:avLst/>
          </a:prstGeom>
          <a:noFill/>
          <a:ln/>
        </p:spPr>
        <p:txBody>
          <a:bodyPr wrap="square" lIns="0" tIns="0" rIns="0" bIns="0" rtlCol="0" anchor="ctr"/>
          <a:lstStyle/>
          <a:p>
            <a:pPr marL="0" indent="0">
              <a:buNone/>
            </a:pPr>
            <a:r>
              <a:rPr lang="en-US" sz="1050" b="1" dirty="0">
                <a:solidFill>
                  <a:srgbClr val="FFFFFF"/>
                </a:solidFill>
                <a:latin typeface="Arial" pitchFamily="34" charset="0"/>
                <a:ea typeface="Arial" pitchFamily="34" charset="-122"/>
                <a:cs typeface="Arial" pitchFamily="34" charset="-120"/>
              </a:rPr>
              <a:t>Action</a:t>
            </a:r>
            <a:endParaRPr lang="en-US" sz="1050" dirty="0"/>
          </a:p>
        </p:txBody>
      </p:sp>
      <p:sp>
        <p:nvSpPr>
          <p:cNvPr id="28" name="Text 26"/>
          <p:cNvSpPr/>
          <p:nvPr/>
        </p:nvSpPr>
        <p:spPr>
          <a:xfrm>
            <a:off x="3090672" y="2999232"/>
            <a:ext cx="3108960" cy="256032"/>
          </a:xfrm>
          <a:prstGeom prst="rect">
            <a:avLst/>
          </a:prstGeom>
          <a:noFill/>
          <a:ln/>
        </p:spPr>
        <p:txBody>
          <a:bodyPr wrap="square" lIns="0" tIns="0" rIns="0" bIns="0" rtlCol="0" anchor="ctr"/>
          <a:lstStyle/>
          <a:p>
            <a:pPr marL="0" indent="0">
              <a:buNone/>
            </a:pPr>
            <a:r>
              <a:rPr lang="en-US" sz="1050" b="1" dirty="0">
                <a:solidFill>
                  <a:srgbClr val="FFFFFF"/>
                </a:solidFill>
                <a:latin typeface="Arial" pitchFamily="34" charset="0"/>
                <a:ea typeface="Arial" pitchFamily="34" charset="-122"/>
                <a:cs typeface="Arial" pitchFamily="34" charset="-120"/>
              </a:rPr>
              <a:t>Effet dans l'interface</a:t>
            </a:r>
            <a:endParaRPr lang="en-US" sz="1050" dirty="0"/>
          </a:p>
        </p:txBody>
      </p:sp>
      <p:sp>
        <p:nvSpPr>
          <p:cNvPr id="29" name="Text 27"/>
          <p:cNvSpPr/>
          <p:nvPr/>
        </p:nvSpPr>
        <p:spPr>
          <a:xfrm>
            <a:off x="6382512" y="2999232"/>
            <a:ext cx="2468880" cy="256032"/>
          </a:xfrm>
          <a:prstGeom prst="rect">
            <a:avLst/>
          </a:prstGeom>
          <a:noFill/>
          <a:ln/>
        </p:spPr>
        <p:txBody>
          <a:bodyPr wrap="square" lIns="0" tIns="0" rIns="0" bIns="0" rtlCol="0" anchor="ctr"/>
          <a:lstStyle/>
          <a:p>
            <a:pPr marL="0" indent="0">
              <a:buNone/>
            </a:pPr>
            <a:r>
              <a:rPr lang="en-US" sz="1050" b="1" dirty="0">
                <a:solidFill>
                  <a:srgbClr val="FFFFFF"/>
                </a:solidFill>
                <a:latin typeface="Arial" pitchFamily="34" charset="0"/>
                <a:ea typeface="Arial" pitchFamily="34" charset="-122"/>
                <a:cs typeface="Arial" pitchFamily="34" charset="-120"/>
              </a:rPr>
              <a:t>Paramètres requis</a:t>
            </a:r>
            <a:endParaRPr lang="en-US" sz="1050" dirty="0"/>
          </a:p>
        </p:txBody>
      </p:sp>
      <p:sp>
        <p:nvSpPr>
          <p:cNvPr id="30" name="Shape 28"/>
          <p:cNvSpPr/>
          <p:nvPr/>
        </p:nvSpPr>
        <p:spPr>
          <a:xfrm>
            <a:off x="274320" y="3337560"/>
            <a:ext cx="8595360" cy="329184"/>
          </a:xfrm>
          <a:prstGeom prst="rect">
            <a:avLst/>
          </a:prstGeom>
          <a:solidFill>
            <a:srgbClr val="FFFFFF"/>
          </a:solidFill>
          <a:ln w="6350">
            <a:solidFill>
              <a:srgbClr val="E2E8F0"/>
            </a:solidFill>
            <a:prstDash val="solid"/>
          </a:ln>
        </p:spPr>
      </p:sp>
      <p:sp>
        <p:nvSpPr>
          <p:cNvPr id="31" name="Shape 29"/>
          <p:cNvSpPr/>
          <p:nvPr/>
        </p:nvSpPr>
        <p:spPr>
          <a:xfrm>
            <a:off x="347472" y="3374136"/>
            <a:ext cx="2331720" cy="237744"/>
          </a:xfrm>
          <a:prstGeom prst="roundRect">
            <a:avLst>
              <a:gd name="adj" fmla="val 19231"/>
            </a:avLst>
          </a:prstGeom>
          <a:solidFill>
            <a:srgbClr val="DBEAFE"/>
          </a:solidFill>
          <a:ln w="12700">
            <a:solidFill>
              <a:srgbClr val="1B4FD8"/>
            </a:solidFill>
            <a:prstDash val="solid"/>
          </a:ln>
        </p:spPr>
      </p:sp>
      <p:sp>
        <p:nvSpPr>
          <p:cNvPr id="32" name="Text 30"/>
          <p:cNvSpPr/>
          <p:nvPr/>
        </p:nvSpPr>
        <p:spPr>
          <a:xfrm>
            <a:off x="365760" y="3374136"/>
            <a:ext cx="2295144" cy="237744"/>
          </a:xfrm>
          <a:prstGeom prst="rect">
            <a:avLst/>
          </a:prstGeom>
          <a:noFill/>
          <a:ln/>
        </p:spPr>
        <p:txBody>
          <a:bodyPr wrap="square" lIns="0" tIns="0" rIns="0" bIns="0" rtlCol="0" anchor="ctr"/>
          <a:lstStyle/>
          <a:p>
            <a:pPr marL="0" indent="0" algn="ctr">
              <a:buNone/>
            </a:pPr>
            <a:r>
              <a:rPr lang="en-US" sz="900" b="1" dirty="0">
                <a:solidFill>
                  <a:srgbClr val="1B4FD8"/>
                </a:solidFill>
                <a:latin typeface="Courier New" pitchFamily="34" charset="0"/>
                <a:ea typeface="Courier New" pitchFamily="34" charset="-122"/>
                <a:cs typeface="Courier New" pitchFamily="34" charset="-120"/>
              </a:rPr>
              <a:t>show_edt_jour</a:t>
            </a:r>
            <a:endParaRPr lang="en-US" sz="900" dirty="0"/>
          </a:p>
        </p:txBody>
      </p:sp>
      <p:sp>
        <p:nvSpPr>
          <p:cNvPr id="33" name="Text 31"/>
          <p:cNvSpPr/>
          <p:nvPr/>
        </p:nvSpPr>
        <p:spPr>
          <a:xfrm>
            <a:off x="2779776" y="3392424"/>
            <a:ext cx="3108960" cy="237744"/>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Affiche tableau EDT d'un jour précis</a:t>
            </a:r>
            <a:endParaRPr lang="en-US" sz="1000" dirty="0"/>
          </a:p>
        </p:txBody>
      </p:sp>
      <p:sp>
        <p:nvSpPr>
          <p:cNvPr id="34" name="Text 32"/>
          <p:cNvSpPr/>
          <p:nvPr/>
        </p:nvSpPr>
        <p:spPr>
          <a:xfrm>
            <a:off x="5998464" y="3392424"/>
            <a:ext cx="2743200" cy="237744"/>
          </a:xfrm>
          <a:prstGeom prst="rect">
            <a:avLst/>
          </a:prstGeom>
          <a:noFill/>
          <a:ln/>
        </p:spPr>
        <p:txBody>
          <a:bodyPr wrap="square" lIns="0" tIns="0" rIns="0" bIns="0" rtlCol="0" anchor="ctr"/>
          <a:lstStyle/>
          <a:p>
            <a:pPr marL="0" indent="0">
              <a:buNone/>
            </a:pPr>
            <a:r>
              <a:rPr lang="en-US" sz="950" dirty="0">
                <a:solidFill>
                  <a:srgbClr val="475569"/>
                </a:solidFill>
                <a:latin typeface="Arial" pitchFamily="34" charset="0"/>
                <a:ea typeface="Arial" pitchFamily="34" charset="-122"/>
                <a:cs typeface="Arial" pitchFamily="34" charset="-120"/>
              </a:rPr>
              <a:t>jour, filiere_id, niveau_id</a:t>
            </a:r>
            <a:endParaRPr lang="en-US" sz="950" dirty="0"/>
          </a:p>
        </p:txBody>
      </p:sp>
      <p:sp>
        <p:nvSpPr>
          <p:cNvPr id="35" name="Shape 33"/>
          <p:cNvSpPr/>
          <p:nvPr/>
        </p:nvSpPr>
        <p:spPr>
          <a:xfrm>
            <a:off x="274320" y="3685032"/>
            <a:ext cx="8595360" cy="329184"/>
          </a:xfrm>
          <a:prstGeom prst="rect">
            <a:avLst/>
          </a:prstGeom>
          <a:solidFill>
            <a:srgbClr val="D1FAE5"/>
          </a:solidFill>
          <a:ln w="6350">
            <a:solidFill>
              <a:srgbClr val="E2E8F0"/>
            </a:solidFill>
            <a:prstDash val="solid"/>
          </a:ln>
        </p:spPr>
      </p:sp>
      <p:sp>
        <p:nvSpPr>
          <p:cNvPr id="36" name="Shape 34"/>
          <p:cNvSpPr/>
          <p:nvPr/>
        </p:nvSpPr>
        <p:spPr>
          <a:xfrm>
            <a:off x="347472" y="3721608"/>
            <a:ext cx="2331720" cy="237744"/>
          </a:xfrm>
          <a:prstGeom prst="roundRect">
            <a:avLst>
              <a:gd name="adj" fmla="val 19231"/>
            </a:avLst>
          </a:prstGeom>
          <a:solidFill>
            <a:srgbClr val="D1FAE5"/>
          </a:solidFill>
          <a:ln w="12700">
            <a:solidFill>
              <a:srgbClr val="10B981"/>
            </a:solidFill>
            <a:prstDash val="solid"/>
          </a:ln>
        </p:spPr>
      </p:sp>
      <p:sp>
        <p:nvSpPr>
          <p:cNvPr id="37" name="Text 35"/>
          <p:cNvSpPr/>
          <p:nvPr/>
        </p:nvSpPr>
        <p:spPr>
          <a:xfrm>
            <a:off x="365760" y="3721608"/>
            <a:ext cx="2295144" cy="237744"/>
          </a:xfrm>
          <a:prstGeom prst="rect">
            <a:avLst/>
          </a:prstGeom>
          <a:noFill/>
          <a:ln/>
        </p:spPr>
        <p:txBody>
          <a:bodyPr wrap="square" lIns="0" tIns="0" rIns="0" bIns="0" rtlCol="0" anchor="ctr"/>
          <a:lstStyle/>
          <a:p>
            <a:pPr marL="0" indent="0" algn="ctr">
              <a:buNone/>
            </a:pPr>
            <a:r>
              <a:rPr lang="en-US" sz="900" b="1" dirty="0">
                <a:solidFill>
                  <a:srgbClr val="10B981"/>
                </a:solidFill>
                <a:latin typeface="Courier New" pitchFamily="34" charset="0"/>
                <a:ea typeface="Courier New" pitchFamily="34" charset="-122"/>
                <a:cs typeface="Courier New" pitchFamily="34" charset="-120"/>
              </a:rPr>
              <a:t>show_edt_semaine</a:t>
            </a:r>
            <a:endParaRPr lang="en-US" sz="900" dirty="0"/>
          </a:p>
        </p:txBody>
      </p:sp>
      <p:sp>
        <p:nvSpPr>
          <p:cNvPr id="38" name="Text 36"/>
          <p:cNvSpPr/>
          <p:nvPr/>
        </p:nvSpPr>
        <p:spPr>
          <a:xfrm>
            <a:off x="2779776" y="3739896"/>
            <a:ext cx="3108960" cy="237744"/>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Affiche EDT de toute la semaine</a:t>
            </a:r>
            <a:endParaRPr lang="en-US" sz="1000" dirty="0"/>
          </a:p>
        </p:txBody>
      </p:sp>
      <p:sp>
        <p:nvSpPr>
          <p:cNvPr id="39" name="Text 37"/>
          <p:cNvSpPr/>
          <p:nvPr/>
        </p:nvSpPr>
        <p:spPr>
          <a:xfrm>
            <a:off x="5998464" y="3739896"/>
            <a:ext cx="2743200" cy="237744"/>
          </a:xfrm>
          <a:prstGeom prst="rect">
            <a:avLst/>
          </a:prstGeom>
          <a:noFill/>
          <a:ln/>
        </p:spPr>
        <p:txBody>
          <a:bodyPr wrap="square" lIns="0" tIns="0" rIns="0" bIns="0" rtlCol="0" anchor="ctr"/>
          <a:lstStyle/>
          <a:p>
            <a:pPr marL="0" indent="0">
              <a:buNone/>
            </a:pPr>
            <a:r>
              <a:rPr lang="en-US" sz="950" dirty="0">
                <a:solidFill>
                  <a:srgbClr val="475569"/>
                </a:solidFill>
                <a:latin typeface="Arial" pitchFamily="34" charset="0"/>
                <a:ea typeface="Arial" pitchFamily="34" charset="-122"/>
                <a:cs typeface="Arial" pitchFamily="34" charset="-120"/>
              </a:rPr>
              <a:t>filiere_id, niveau_id</a:t>
            </a:r>
            <a:endParaRPr lang="en-US" sz="950" dirty="0"/>
          </a:p>
        </p:txBody>
      </p:sp>
      <p:sp>
        <p:nvSpPr>
          <p:cNvPr id="40" name="Shape 38"/>
          <p:cNvSpPr/>
          <p:nvPr/>
        </p:nvSpPr>
        <p:spPr>
          <a:xfrm>
            <a:off x="274320" y="4032504"/>
            <a:ext cx="8595360" cy="329184"/>
          </a:xfrm>
          <a:prstGeom prst="rect">
            <a:avLst/>
          </a:prstGeom>
          <a:solidFill>
            <a:srgbClr val="FFFFFF"/>
          </a:solidFill>
          <a:ln w="6350">
            <a:solidFill>
              <a:srgbClr val="E2E8F0"/>
            </a:solidFill>
            <a:prstDash val="solid"/>
          </a:ln>
        </p:spPr>
      </p:sp>
      <p:sp>
        <p:nvSpPr>
          <p:cNvPr id="41" name="Shape 39"/>
          <p:cNvSpPr/>
          <p:nvPr/>
        </p:nvSpPr>
        <p:spPr>
          <a:xfrm>
            <a:off x="347472" y="4069080"/>
            <a:ext cx="2331720" cy="237744"/>
          </a:xfrm>
          <a:prstGeom prst="roundRect">
            <a:avLst>
              <a:gd name="adj" fmla="val 19231"/>
            </a:avLst>
          </a:prstGeom>
          <a:solidFill>
            <a:srgbClr val="EDE9FE"/>
          </a:solidFill>
          <a:ln w="12700">
            <a:solidFill>
              <a:srgbClr val="4C1D95"/>
            </a:solidFill>
            <a:prstDash val="solid"/>
          </a:ln>
        </p:spPr>
      </p:sp>
      <p:sp>
        <p:nvSpPr>
          <p:cNvPr id="42" name="Text 40"/>
          <p:cNvSpPr/>
          <p:nvPr/>
        </p:nvSpPr>
        <p:spPr>
          <a:xfrm>
            <a:off x="365760" y="4069080"/>
            <a:ext cx="2295144" cy="237744"/>
          </a:xfrm>
          <a:prstGeom prst="rect">
            <a:avLst/>
          </a:prstGeom>
          <a:noFill/>
          <a:ln/>
        </p:spPr>
        <p:txBody>
          <a:bodyPr wrap="square" lIns="0" tIns="0" rIns="0" bIns="0" rtlCol="0" anchor="ctr"/>
          <a:lstStyle/>
          <a:p>
            <a:pPr marL="0" indent="0" algn="ctr">
              <a:buNone/>
            </a:pPr>
            <a:r>
              <a:rPr lang="en-US" sz="900" b="1" dirty="0">
                <a:solidFill>
                  <a:srgbClr val="4C1D95"/>
                </a:solidFill>
                <a:latin typeface="Courier New" pitchFamily="34" charset="0"/>
                <a:ea typeface="Courier New" pitchFamily="34" charset="-122"/>
                <a:cs typeface="Courier New" pitchFamily="34" charset="-120"/>
              </a:rPr>
              <a:t>show_edt_semestriel</a:t>
            </a:r>
            <a:endParaRPr lang="en-US" sz="900" dirty="0"/>
          </a:p>
        </p:txBody>
      </p:sp>
      <p:sp>
        <p:nvSpPr>
          <p:cNvPr id="43" name="Text 41"/>
          <p:cNvSpPr/>
          <p:nvPr/>
        </p:nvSpPr>
        <p:spPr>
          <a:xfrm>
            <a:off x="2779776" y="4087368"/>
            <a:ext cx="3108960" cy="237744"/>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Affiche EDT complet du semestre</a:t>
            </a:r>
            <a:endParaRPr lang="en-US" sz="1000" dirty="0"/>
          </a:p>
        </p:txBody>
      </p:sp>
      <p:sp>
        <p:nvSpPr>
          <p:cNvPr id="44" name="Text 42"/>
          <p:cNvSpPr/>
          <p:nvPr/>
        </p:nvSpPr>
        <p:spPr>
          <a:xfrm>
            <a:off x="5998464" y="4087368"/>
            <a:ext cx="2743200" cy="237744"/>
          </a:xfrm>
          <a:prstGeom prst="rect">
            <a:avLst/>
          </a:prstGeom>
          <a:noFill/>
          <a:ln/>
        </p:spPr>
        <p:txBody>
          <a:bodyPr wrap="square" lIns="0" tIns="0" rIns="0" bIns="0" rtlCol="0" anchor="ctr"/>
          <a:lstStyle/>
          <a:p>
            <a:pPr marL="0" indent="0">
              <a:buNone/>
            </a:pPr>
            <a:r>
              <a:rPr lang="en-US" sz="950" dirty="0">
                <a:solidFill>
                  <a:srgbClr val="475569"/>
                </a:solidFill>
                <a:latin typeface="Arial" pitchFamily="34" charset="0"/>
                <a:ea typeface="Arial" pitchFamily="34" charset="-122"/>
                <a:cs typeface="Arial" pitchFamily="34" charset="-120"/>
              </a:rPr>
              <a:t>filiere_id, niveau_id</a:t>
            </a:r>
            <a:endParaRPr lang="en-US" sz="950" dirty="0"/>
          </a:p>
        </p:txBody>
      </p:sp>
      <p:sp>
        <p:nvSpPr>
          <p:cNvPr id="45" name="Shape 43"/>
          <p:cNvSpPr/>
          <p:nvPr/>
        </p:nvSpPr>
        <p:spPr>
          <a:xfrm>
            <a:off x="274320" y="4379976"/>
            <a:ext cx="8595360" cy="329184"/>
          </a:xfrm>
          <a:prstGeom prst="rect">
            <a:avLst/>
          </a:prstGeom>
          <a:solidFill>
            <a:srgbClr val="FEF3C7"/>
          </a:solidFill>
          <a:ln w="6350">
            <a:solidFill>
              <a:srgbClr val="E2E8F0"/>
            </a:solidFill>
            <a:prstDash val="solid"/>
          </a:ln>
        </p:spPr>
      </p:sp>
      <p:sp>
        <p:nvSpPr>
          <p:cNvPr id="46" name="Shape 44"/>
          <p:cNvSpPr/>
          <p:nvPr/>
        </p:nvSpPr>
        <p:spPr>
          <a:xfrm>
            <a:off x="347472" y="4416552"/>
            <a:ext cx="2331720" cy="237744"/>
          </a:xfrm>
          <a:prstGeom prst="roundRect">
            <a:avLst>
              <a:gd name="adj" fmla="val 19231"/>
            </a:avLst>
          </a:prstGeom>
          <a:solidFill>
            <a:srgbClr val="FEF3C7"/>
          </a:solidFill>
          <a:ln w="12700">
            <a:solidFill>
              <a:srgbClr val="F59E0B"/>
            </a:solidFill>
            <a:prstDash val="solid"/>
          </a:ln>
        </p:spPr>
      </p:sp>
      <p:sp>
        <p:nvSpPr>
          <p:cNvPr id="47" name="Text 45"/>
          <p:cNvSpPr/>
          <p:nvPr/>
        </p:nvSpPr>
        <p:spPr>
          <a:xfrm>
            <a:off x="365760" y="4416552"/>
            <a:ext cx="2295144" cy="237744"/>
          </a:xfrm>
          <a:prstGeom prst="rect">
            <a:avLst/>
          </a:prstGeom>
          <a:noFill/>
          <a:ln/>
        </p:spPr>
        <p:txBody>
          <a:bodyPr wrap="square" lIns="0" tIns="0" rIns="0" bIns="0" rtlCol="0" anchor="ctr"/>
          <a:lstStyle/>
          <a:p>
            <a:pPr marL="0" indent="0" algn="ctr">
              <a:buNone/>
            </a:pPr>
            <a:r>
              <a:rPr lang="en-US" sz="900" b="1" dirty="0">
                <a:solidFill>
                  <a:srgbClr val="F59E0B"/>
                </a:solidFill>
                <a:latin typeface="Courier New" pitchFamily="34" charset="0"/>
                <a:ea typeface="Courier New" pitchFamily="34" charset="-122"/>
                <a:cs typeface="Courier New" pitchFamily="34" charset="-120"/>
              </a:rPr>
              <a:t>show_alertes</a:t>
            </a:r>
            <a:endParaRPr lang="en-US" sz="900" dirty="0"/>
          </a:p>
        </p:txBody>
      </p:sp>
      <p:sp>
        <p:nvSpPr>
          <p:cNvPr id="48" name="Text 46"/>
          <p:cNvSpPr/>
          <p:nvPr/>
        </p:nvSpPr>
        <p:spPr>
          <a:xfrm>
            <a:off x="2779776" y="4434840"/>
            <a:ext cx="3108960" cy="237744"/>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Affiche modifications d'horaires récentes</a:t>
            </a:r>
            <a:endParaRPr lang="en-US" sz="1000" dirty="0"/>
          </a:p>
        </p:txBody>
      </p:sp>
      <p:sp>
        <p:nvSpPr>
          <p:cNvPr id="49" name="Text 47"/>
          <p:cNvSpPr/>
          <p:nvPr/>
        </p:nvSpPr>
        <p:spPr>
          <a:xfrm>
            <a:off x="5998464" y="4434840"/>
            <a:ext cx="2743200" cy="237744"/>
          </a:xfrm>
          <a:prstGeom prst="rect">
            <a:avLst/>
          </a:prstGeom>
          <a:noFill/>
          <a:ln/>
        </p:spPr>
        <p:txBody>
          <a:bodyPr wrap="square" lIns="0" tIns="0" rIns="0" bIns="0" rtlCol="0" anchor="ctr"/>
          <a:lstStyle/>
          <a:p>
            <a:pPr marL="0" indent="0">
              <a:buNone/>
            </a:pPr>
            <a:r>
              <a:rPr lang="en-US" sz="950" dirty="0">
                <a:solidFill>
                  <a:srgbClr val="475569"/>
                </a:solidFill>
                <a:latin typeface="Arial" pitchFamily="34" charset="0"/>
                <a:ea typeface="Arial" pitchFamily="34" charset="-122"/>
                <a:cs typeface="Arial" pitchFamily="34" charset="-120"/>
              </a:rPr>
              <a:t>aucun</a:t>
            </a:r>
            <a:endParaRPr lang="en-US" sz="950" dirty="0"/>
          </a:p>
        </p:txBody>
      </p:sp>
      <p:sp>
        <p:nvSpPr>
          <p:cNvPr id="50" name="Shape 48"/>
          <p:cNvSpPr/>
          <p:nvPr/>
        </p:nvSpPr>
        <p:spPr>
          <a:xfrm>
            <a:off x="274320" y="4727448"/>
            <a:ext cx="8595360" cy="329184"/>
          </a:xfrm>
          <a:prstGeom prst="rect">
            <a:avLst/>
          </a:prstGeom>
          <a:solidFill>
            <a:srgbClr val="FFFFFF"/>
          </a:solidFill>
          <a:ln w="6350">
            <a:solidFill>
              <a:srgbClr val="E2E8F0"/>
            </a:solidFill>
            <a:prstDash val="solid"/>
          </a:ln>
        </p:spPr>
      </p:sp>
      <p:sp>
        <p:nvSpPr>
          <p:cNvPr id="51" name="Shape 49"/>
          <p:cNvSpPr/>
          <p:nvPr/>
        </p:nvSpPr>
        <p:spPr>
          <a:xfrm>
            <a:off x="347472" y="4764024"/>
            <a:ext cx="2331720" cy="237744"/>
          </a:xfrm>
          <a:prstGeom prst="roundRect">
            <a:avLst>
              <a:gd name="adj" fmla="val 19231"/>
            </a:avLst>
          </a:prstGeom>
          <a:solidFill>
            <a:srgbClr val="E0F7FA"/>
          </a:solidFill>
          <a:ln w="12700">
            <a:solidFill>
              <a:srgbClr val="0EA5E9"/>
            </a:solidFill>
            <a:prstDash val="solid"/>
          </a:ln>
        </p:spPr>
      </p:sp>
      <p:sp>
        <p:nvSpPr>
          <p:cNvPr id="52" name="Text 50"/>
          <p:cNvSpPr/>
          <p:nvPr/>
        </p:nvSpPr>
        <p:spPr>
          <a:xfrm>
            <a:off x="365760" y="4764024"/>
            <a:ext cx="2295144" cy="237744"/>
          </a:xfrm>
          <a:prstGeom prst="rect">
            <a:avLst/>
          </a:prstGeom>
          <a:noFill/>
          <a:ln/>
        </p:spPr>
        <p:txBody>
          <a:bodyPr wrap="square" lIns="0" tIns="0" rIns="0" bIns="0" rtlCol="0" anchor="ctr"/>
          <a:lstStyle/>
          <a:p>
            <a:pPr marL="0" indent="0" algn="ctr">
              <a:buNone/>
            </a:pPr>
            <a:r>
              <a:rPr lang="en-US" sz="900" b="1" dirty="0">
                <a:solidFill>
                  <a:srgbClr val="0EA5E9"/>
                </a:solidFill>
                <a:latin typeface="Courier New" pitchFamily="34" charset="0"/>
                <a:ea typeface="Courier New" pitchFamily="34" charset="-122"/>
                <a:cs typeface="Courier New" pitchFamily="34" charset="-120"/>
              </a:rPr>
              <a:t>show_planning_enseignant</a:t>
            </a:r>
            <a:endParaRPr lang="en-US" sz="900" dirty="0"/>
          </a:p>
        </p:txBody>
      </p:sp>
      <p:sp>
        <p:nvSpPr>
          <p:cNvPr id="53" name="Text 51"/>
          <p:cNvSpPr/>
          <p:nvPr/>
        </p:nvSpPr>
        <p:spPr>
          <a:xfrm>
            <a:off x="2779776" y="4782312"/>
            <a:ext cx="3108960" cy="237744"/>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Affiche planning d'un enseignant</a:t>
            </a:r>
            <a:endParaRPr lang="en-US" sz="1000" dirty="0"/>
          </a:p>
        </p:txBody>
      </p:sp>
      <p:sp>
        <p:nvSpPr>
          <p:cNvPr id="54" name="Text 52"/>
          <p:cNvSpPr/>
          <p:nvPr/>
        </p:nvSpPr>
        <p:spPr>
          <a:xfrm>
            <a:off x="5998464" y="4782312"/>
            <a:ext cx="2743200" cy="237744"/>
          </a:xfrm>
          <a:prstGeom prst="rect">
            <a:avLst/>
          </a:prstGeom>
          <a:noFill/>
          <a:ln/>
        </p:spPr>
        <p:txBody>
          <a:bodyPr wrap="square" lIns="0" tIns="0" rIns="0" bIns="0" rtlCol="0" anchor="ctr"/>
          <a:lstStyle/>
          <a:p>
            <a:pPr marL="0" indent="0">
              <a:buNone/>
            </a:pPr>
            <a:r>
              <a:rPr lang="en-US" sz="950" dirty="0">
                <a:solidFill>
                  <a:srgbClr val="475569"/>
                </a:solidFill>
                <a:latin typeface="Arial" pitchFamily="34" charset="0"/>
                <a:ea typeface="Arial" pitchFamily="34" charset="-122"/>
                <a:cs typeface="Arial" pitchFamily="34" charset="-120"/>
              </a:rPr>
              <a:t>enseignant_id, enseignant_nom</a:t>
            </a:r>
            <a:endParaRPr lang="en-US" sz="950" dirty="0"/>
          </a:p>
        </p:txBody>
      </p:sp>
      <p:sp>
        <p:nvSpPr>
          <p:cNvPr id="55" name="Shape 53"/>
          <p:cNvSpPr/>
          <p:nvPr/>
        </p:nvSpPr>
        <p:spPr>
          <a:xfrm>
            <a:off x="274320" y="5074920"/>
            <a:ext cx="8595360" cy="329184"/>
          </a:xfrm>
          <a:prstGeom prst="rect">
            <a:avLst/>
          </a:prstGeom>
          <a:solidFill>
            <a:srgbClr val="FEE2E2"/>
          </a:solidFill>
          <a:ln w="6350">
            <a:solidFill>
              <a:srgbClr val="E2E8F0"/>
            </a:solidFill>
            <a:prstDash val="solid"/>
          </a:ln>
        </p:spPr>
      </p:sp>
      <p:sp>
        <p:nvSpPr>
          <p:cNvPr id="56" name="Shape 54"/>
          <p:cNvSpPr/>
          <p:nvPr/>
        </p:nvSpPr>
        <p:spPr>
          <a:xfrm>
            <a:off x="347472" y="5111496"/>
            <a:ext cx="2331720" cy="237744"/>
          </a:xfrm>
          <a:prstGeom prst="roundRect">
            <a:avLst>
              <a:gd name="adj" fmla="val 19231"/>
            </a:avLst>
          </a:prstGeom>
          <a:solidFill>
            <a:srgbClr val="FEE2E2"/>
          </a:solidFill>
          <a:ln w="12700">
            <a:solidFill>
              <a:srgbClr val="EF4444"/>
            </a:solidFill>
            <a:prstDash val="solid"/>
          </a:ln>
        </p:spPr>
      </p:sp>
      <p:sp>
        <p:nvSpPr>
          <p:cNvPr id="57" name="Text 55"/>
          <p:cNvSpPr/>
          <p:nvPr/>
        </p:nvSpPr>
        <p:spPr>
          <a:xfrm>
            <a:off x="365760" y="5111496"/>
            <a:ext cx="2295144" cy="237744"/>
          </a:xfrm>
          <a:prstGeom prst="rect">
            <a:avLst/>
          </a:prstGeom>
          <a:noFill/>
          <a:ln/>
        </p:spPr>
        <p:txBody>
          <a:bodyPr wrap="square" lIns="0" tIns="0" rIns="0" bIns="0" rtlCol="0" anchor="ctr"/>
          <a:lstStyle/>
          <a:p>
            <a:pPr marL="0" indent="0" algn="ctr">
              <a:buNone/>
            </a:pPr>
            <a:r>
              <a:rPr lang="en-US" sz="900" b="1" dirty="0">
                <a:solidFill>
                  <a:srgbClr val="EF4444"/>
                </a:solidFill>
                <a:latin typeface="Courier New" pitchFamily="34" charset="0"/>
                <a:ea typeface="Courier New" pitchFamily="34" charset="-122"/>
                <a:cs typeface="Courier New" pitchFamily="34" charset="-120"/>
              </a:rPr>
              <a:t>download_pdf</a:t>
            </a:r>
            <a:endParaRPr lang="en-US" sz="900" dirty="0"/>
          </a:p>
        </p:txBody>
      </p:sp>
      <p:sp>
        <p:nvSpPr>
          <p:cNvPr id="58" name="Text 56"/>
          <p:cNvSpPr/>
          <p:nvPr/>
        </p:nvSpPr>
        <p:spPr>
          <a:xfrm>
            <a:off x="2779776" y="5129784"/>
            <a:ext cx="3108960" cy="237744"/>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Génère et télécharge le PDF de l'EDT</a:t>
            </a:r>
            <a:endParaRPr lang="en-US" sz="1000" dirty="0"/>
          </a:p>
        </p:txBody>
      </p:sp>
      <p:sp>
        <p:nvSpPr>
          <p:cNvPr id="59" name="Text 57"/>
          <p:cNvSpPr/>
          <p:nvPr/>
        </p:nvSpPr>
        <p:spPr>
          <a:xfrm>
            <a:off x="5998464" y="5129784"/>
            <a:ext cx="2743200" cy="237744"/>
          </a:xfrm>
          <a:prstGeom prst="rect">
            <a:avLst/>
          </a:prstGeom>
          <a:noFill/>
          <a:ln/>
        </p:spPr>
        <p:txBody>
          <a:bodyPr wrap="square" lIns="0" tIns="0" rIns="0" bIns="0" rtlCol="0" anchor="ctr"/>
          <a:lstStyle/>
          <a:p>
            <a:pPr marL="0" indent="0">
              <a:buNone/>
            </a:pPr>
            <a:r>
              <a:rPr lang="en-US" sz="950" dirty="0">
                <a:solidFill>
                  <a:srgbClr val="475569"/>
                </a:solidFill>
                <a:latin typeface="Arial" pitchFamily="34" charset="0"/>
                <a:ea typeface="Arial" pitchFamily="34" charset="-122"/>
                <a:cs typeface="Arial" pitchFamily="34" charset="-120"/>
              </a:rPr>
              <a:t>filiere_id, niveau_id</a:t>
            </a:r>
            <a:endParaRPr lang="en-US" sz="950" dirty="0"/>
          </a:p>
        </p:txBody>
      </p:sp>
      <p:sp>
        <p:nvSpPr>
          <p:cNvPr id="60" name="Shape 58"/>
          <p:cNvSpPr/>
          <p:nvPr/>
        </p:nvSpPr>
        <p:spPr>
          <a:xfrm>
            <a:off x="274320" y="5422392"/>
            <a:ext cx="8595360" cy="329184"/>
          </a:xfrm>
          <a:prstGeom prst="rect">
            <a:avLst/>
          </a:prstGeom>
          <a:solidFill>
            <a:srgbClr val="FFFFFF"/>
          </a:solidFill>
          <a:ln w="6350">
            <a:solidFill>
              <a:srgbClr val="E2E8F0"/>
            </a:solidFill>
            <a:prstDash val="solid"/>
          </a:ln>
        </p:spPr>
      </p:sp>
      <p:sp>
        <p:nvSpPr>
          <p:cNvPr id="61" name="Shape 59"/>
          <p:cNvSpPr/>
          <p:nvPr/>
        </p:nvSpPr>
        <p:spPr>
          <a:xfrm>
            <a:off x="347472" y="5458968"/>
            <a:ext cx="2331720" cy="237744"/>
          </a:xfrm>
          <a:prstGeom prst="roundRect">
            <a:avLst>
              <a:gd name="adj" fmla="val 19231"/>
            </a:avLst>
          </a:prstGeom>
          <a:solidFill>
            <a:srgbClr val="F1F5F9"/>
          </a:solidFill>
          <a:ln w="12700">
            <a:solidFill>
              <a:srgbClr val="475569"/>
            </a:solidFill>
            <a:prstDash val="solid"/>
          </a:ln>
        </p:spPr>
      </p:sp>
      <p:sp>
        <p:nvSpPr>
          <p:cNvPr id="62" name="Text 60"/>
          <p:cNvSpPr/>
          <p:nvPr/>
        </p:nvSpPr>
        <p:spPr>
          <a:xfrm>
            <a:off x="365760" y="5458968"/>
            <a:ext cx="2295144" cy="237744"/>
          </a:xfrm>
          <a:prstGeom prst="rect">
            <a:avLst/>
          </a:prstGeom>
          <a:noFill/>
          <a:ln/>
        </p:spPr>
        <p:txBody>
          <a:bodyPr wrap="square" lIns="0" tIns="0" rIns="0" bIns="0" rtlCol="0" anchor="ctr"/>
          <a:lstStyle/>
          <a:p>
            <a:pPr marL="0" indent="0" algn="ctr">
              <a:buNone/>
            </a:pPr>
            <a:r>
              <a:rPr lang="en-US" sz="900" b="1" dirty="0">
                <a:solidFill>
                  <a:srgbClr val="475569"/>
                </a:solidFill>
                <a:latin typeface="Courier New" pitchFamily="34" charset="0"/>
                <a:ea typeface="Courier New" pitchFamily="34" charset="-122"/>
                <a:cs typeface="Courier New" pitchFamily="34" charset="-120"/>
              </a:rPr>
              <a:t>none</a:t>
            </a:r>
            <a:endParaRPr lang="en-US" sz="900" dirty="0"/>
          </a:p>
        </p:txBody>
      </p:sp>
      <p:sp>
        <p:nvSpPr>
          <p:cNvPr id="63" name="Text 61"/>
          <p:cNvSpPr/>
          <p:nvPr/>
        </p:nvSpPr>
        <p:spPr>
          <a:xfrm>
            <a:off x="2779776" y="5477256"/>
            <a:ext cx="3108960" cy="237744"/>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Réponse texte simple — aucune action visuelle</a:t>
            </a:r>
            <a:endParaRPr lang="en-US" sz="1000" dirty="0"/>
          </a:p>
        </p:txBody>
      </p:sp>
      <p:sp>
        <p:nvSpPr>
          <p:cNvPr id="64" name="Text 62"/>
          <p:cNvSpPr/>
          <p:nvPr/>
        </p:nvSpPr>
        <p:spPr>
          <a:xfrm>
            <a:off x="5998464" y="5477256"/>
            <a:ext cx="2743200" cy="237744"/>
          </a:xfrm>
          <a:prstGeom prst="rect">
            <a:avLst/>
          </a:prstGeom>
          <a:noFill/>
          <a:ln/>
        </p:spPr>
        <p:txBody>
          <a:bodyPr wrap="square" lIns="0" tIns="0" rIns="0" bIns="0" rtlCol="0" anchor="ctr"/>
          <a:lstStyle/>
          <a:p>
            <a:pPr marL="0" indent="0">
              <a:buNone/>
            </a:pPr>
            <a:r>
              <a:rPr lang="en-US" sz="950" dirty="0">
                <a:solidFill>
                  <a:srgbClr val="475569"/>
                </a:solidFill>
                <a:latin typeface="Arial" pitchFamily="34" charset="0"/>
                <a:ea typeface="Arial" pitchFamily="34" charset="-122"/>
                <a:cs typeface="Arial" pitchFamily="34" charset="-120"/>
              </a:rPr>
              <a:t>aucun</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0D1B2A"/>
          </a:solidFill>
          <a:ln w="12700">
            <a:solidFill>
              <a:srgbClr val="0D1B2A"/>
            </a:solidFill>
            <a:prstDash val="solid"/>
          </a:ln>
        </p:spPr>
      </p:sp>
      <p:sp>
        <p:nvSpPr>
          <p:cNvPr id="3" name="Text 1"/>
          <p:cNvSpPr/>
          <p:nvPr/>
        </p:nvSpPr>
        <p:spPr>
          <a:xfrm>
            <a:off x="457200" y="64008"/>
            <a:ext cx="8229600" cy="329184"/>
          </a:xfrm>
          <a:prstGeom prst="rect">
            <a:avLst/>
          </a:prstGeom>
          <a:noFill/>
          <a:ln/>
        </p:spPr>
        <p:txBody>
          <a:bodyPr wrap="square" lIns="0" tIns="0" rIns="0" bIns="0" rtlCol="0" anchor="ctr"/>
          <a:lstStyle/>
          <a:p>
            <a:pPr marL="0" indent="0">
              <a:buNone/>
            </a:pPr>
            <a:r>
              <a:rPr lang="en-US" sz="1000" b="1" kern="0" spc="400" dirty="0">
                <a:solidFill>
                  <a:srgbClr val="0EA5E9"/>
                </a:solidFill>
                <a:latin typeface="Arial" pitchFamily="34" charset="0"/>
                <a:ea typeface="Arial" pitchFamily="34" charset="-122"/>
                <a:cs typeface="Arial" pitchFamily="34" charset="-120"/>
              </a:rPr>
              <a:t>SECTION 11 — HISTORIQUE</a:t>
            </a:r>
            <a:endParaRPr lang="en-US" sz="1000" dirty="0"/>
          </a:p>
        </p:txBody>
      </p:sp>
      <p:sp>
        <p:nvSpPr>
          <p:cNvPr id="4" name="Text 2"/>
          <p:cNvSpPr/>
          <p:nvPr/>
        </p:nvSpPr>
        <p:spPr>
          <a:xfrm>
            <a:off x="457200" y="402336"/>
            <a:ext cx="6217920" cy="493776"/>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Mémoire de conversation — Contexte multi-tours</a:t>
            </a:r>
            <a:endParaRPr lang="en-US" sz="2000" dirty="0"/>
          </a:p>
        </p:txBody>
      </p:sp>
      <p:sp>
        <p:nvSpPr>
          <p:cNvPr id="5" name="Text 3"/>
          <p:cNvSpPr/>
          <p:nvPr/>
        </p:nvSpPr>
        <p:spPr>
          <a:xfrm>
            <a:off x="6400800" y="457200"/>
            <a:ext cx="2560320" cy="384048"/>
          </a:xfrm>
          <a:prstGeom prst="rect">
            <a:avLst/>
          </a:prstGeom>
          <a:noFill/>
          <a:ln/>
        </p:spPr>
        <p:txBody>
          <a:bodyPr wrap="square" lIns="0" tIns="0" rIns="0" bIns="0" rtlCol="0" anchor="ctr"/>
          <a:lstStyle/>
          <a:p>
            <a:pPr marL="0" indent="0" algn="r">
              <a:buNone/>
            </a:pPr>
            <a:r>
              <a:rPr lang="en-US" sz="1100" dirty="0">
                <a:solidFill>
                  <a:srgbClr val="0EA5E9"/>
                </a:solidFill>
                <a:latin typeface="Arial" pitchFamily="34" charset="0"/>
                <a:ea typeface="Arial" pitchFamily="34" charset="-122"/>
                <a:cs typeface="Arial" pitchFamily="34" charset="-120"/>
              </a:rPr>
              <a:t>Compréhension des échanges successifs</a:t>
            </a:r>
            <a:endParaRPr lang="en-US" sz="1100" dirty="0"/>
          </a:p>
        </p:txBody>
      </p:sp>
      <p:sp>
        <p:nvSpPr>
          <p:cNvPr id="6" name="Shape 4"/>
          <p:cNvSpPr/>
          <p:nvPr/>
        </p:nvSpPr>
        <p:spPr>
          <a:xfrm>
            <a:off x="274320" y="1051560"/>
            <a:ext cx="8595360" cy="658368"/>
          </a:xfrm>
          <a:prstGeom prst="roundRect">
            <a:avLst>
              <a:gd name="adj" fmla="val 13889"/>
            </a:avLst>
          </a:prstGeom>
          <a:solidFill>
            <a:srgbClr val="EDE9FE"/>
          </a:solidFill>
          <a:ln w="19050">
            <a:solidFill>
              <a:srgbClr val="4C1D95"/>
            </a:solidFill>
            <a:prstDash val="solid"/>
          </a:ln>
        </p:spPr>
      </p:sp>
      <p:sp>
        <p:nvSpPr>
          <p:cNvPr id="7" name="Text 5"/>
          <p:cNvSpPr/>
          <p:nvPr/>
        </p:nvSpPr>
        <p:spPr>
          <a:xfrm>
            <a:off x="411480" y="1078992"/>
            <a:ext cx="8321040" cy="566928"/>
          </a:xfrm>
          <a:prstGeom prst="rect">
            <a:avLst/>
          </a:prstGeom>
          <a:noFill/>
          <a:ln/>
        </p:spPr>
        <p:txBody>
          <a:bodyPr wrap="square" lIns="0" tIns="0" rIns="0" bIns="0" rtlCol="0" anchor="ctr"/>
          <a:lstStyle/>
          <a:p>
            <a:pPr marL="0" indent="0">
              <a:buNone/>
            </a:pPr>
            <a:r>
              <a:rPr lang="en-US" sz="1100" dirty="0">
                <a:solidFill>
                  <a:srgbClr val="4C1D95"/>
                </a:solidFill>
                <a:latin typeface="Arial" pitchFamily="34" charset="0"/>
                <a:ea typeface="Arial" pitchFamily="34" charset="-122"/>
                <a:cs typeface="Arial" pitchFamily="34" charset="-120"/>
              </a:rPr>
              <a:t>🧠  Mémoire à court terme : L'IA maintient les 10 derniers échanges (20 messages) pour comprendre le contexte. Cela permet des conversations naturelles où la question suivante fait référence à la précédente sans la répéter.</a:t>
            </a:r>
            <a:endParaRPr lang="en-US" sz="1100" dirty="0"/>
          </a:p>
        </p:txBody>
      </p:sp>
      <p:sp>
        <p:nvSpPr>
          <p:cNvPr id="8" name="Text 6"/>
          <p:cNvSpPr/>
          <p:nvPr/>
        </p:nvSpPr>
        <p:spPr>
          <a:xfrm>
            <a:off x="274320" y="1847088"/>
            <a:ext cx="8595360" cy="292608"/>
          </a:xfrm>
          <a:prstGeom prst="rect">
            <a:avLst/>
          </a:prstGeom>
          <a:noFill/>
          <a:ln/>
        </p:spPr>
        <p:txBody>
          <a:bodyPr wrap="square" lIns="0" tIns="0" rIns="0" bIns="0" rtlCol="0" anchor="ctr"/>
          <a:lstStyle/>
          <a:p>
            <a:pPr marL="0" indent="0">
              <a:buNone/>
            </a:pPr>
            <a:r>
              <a:rPr lang="en-US" sz="1300" b="1" dirty="0">
                <a:solidFill>
                  <a:srgbClr val="0D1B2A"/>
                </a:solidFill>
                <a:latin typeface="Arial" pitchFamily="34" charset="0"/>
                <a:ea typeface="Arial" pitchFamily="34" charset="-122"/>
                <a:cs typeface="Arial" pitchFamily="34" charset="-120"/>
              </a:rPr>
              <a:t>💬  Exemple de conversation contextuelle :</a:t>
            </a:r>
            <a:endParaRPr lang="en-US" sz="1300" dirty="0"/>
          </a:p>
        </p:txBody>
      </p:sp>
      <p:sp>
        <p:nvSpPr>
          <p:cNvPr id="9" name="Shape 7"/>
          <p:cNvSpPr/>
          <p:nvPr/>
        </p:nvSpPr>
        <p:spPr>
          <a:xfrm>
            <a:off x="274320" y="2212848"/>
            <a:ext cx="7772400" cy="640080"/>
          </a:xfrm>
          <a:prstGeom prst="roundRect">
            <a:avLst>
              <a:gd name="adj" fmla="val 14286"/>
            </a:avLst>
          </a:prstGeom>
          <a:solidFill>
            <a:srgbClr val="DBEAFE"/>
          </a:solidFill>
          <a:ln w="12700">
            <a:solidFill>
              <a:srgbClr val="1B4FD8"/>
            </a:solidFill>
            <a:prstDash val="solid"/>
          </a:ln>
        </p:spPr>
      </p:sp>
      <p:sp>
        <p:nvSpPr>
          <p:cNvPr id="10" name="Text 8"/>
          <p:cNvSpPr/>
          <p:nvPr/>
        </p:nvSpPr>
        <p:spPr>
          <a:xfrm>
            <a:off x="347472" y="2249424"/>
            <a:ext cx="320040" cy="548640"/>
          </a:xfrm>
          <a:prstGeom prst="rect">
            <a:avLst/>
          </a:prstGeom>
          <a:noFill/>
          <a:ln/>
        </p:spPr>
        <p:txBody>
          <a:bodyPr wrap="square" lIns="0" tIns="0" rIns="0" bIns="0" rtlCol="0" anchor="ctr"/>
          <a:lstStyle/>
          <a:p>
            <a:pPr marL="0" indent="0">
              <a:buNone/>
            </a:pPr>
            <a:r>
              <a:rPr lang="en-US" sz="1400" dirty="0">
                <a:solidFill>
                  <a:srgbClr val="000000"/>
                </a:solidFill>
                <a:latin typeface="Arial" pitchFamily="34" charset="0"/>
                <a:ea typeface="Arial" pitchFamily="34" charset="-122"/>
                <a:cs typeface="Arial" pitchFamily="34" charset="-120"/>
              </a:rPr>
              <a:t>👨‍🎓</a:t>
            </a:r>
            <a:endParaRPr lang="en-US" sz="1400" dirty="0"/>
          </a:p>
        </p:txBody>
      </p:sp>
      <p:sp>
        <p:nvSpPr>
          <p:cNvPr id="11" name="Text 9"/>
          <p:cNvSpPr/>
          <p:nvPr/>
        </p:nvSpPr>
        <p:spPr>
          <a:xfrm>
            <a:off x="731520" y="2267712"/>
            <a:ext cx="7223760" cy="512064"/>
          </a:xfrm>
          <a:prstGeom prst="rect">
            <a:avLst/>
          </a:prstGeom>
          <a:noFill/>
          <a:ln/>
        </p:spPr>
        <p:txBody>
          <a:bodyPr wrap="square" lIns="0" tIns="0" rIns="0" bIns="0" rtlCol="0" anchor="ctr"/>
          <a:lstStyle/>
          <a:p>
            <a:pPr marL="0" indent="0">
              <a:buNone/>
            </a:pPr>
            <a:r>
              <a:rPr lang="en-US" sz="1050" dirty="0">
                <a:solidFill>
                  <a:srgbClr val="1E293B"/>
                </a:solidFill>
                <a:latin typeface="Arial" pitchFamily="34" charset="0"/>
                <a:ea typeface="Arial" pitchFamily="34" charset="-122"/>
                <a:cs typeface="Arial" pitchFamily="34" charset="-120"/>
              </a:rPr>
              <a:t>Qui donne cours lundi ?</a:t>
            </a:r>
            <a:endParaRPr lang="en-US" sz="1050" dirty="0"/>
          </a:p>
        </p:txBody>
      </p:sp>
      <p:sp>
        <p:nvSpPr>
          <p:cNvPr id="12" name="Shape 10"/>
          <p:cNvSpPr/>
          <p:nvPr/>
        </p:nvSpPr>
        <p:spPr>
          <a:xfrm>
            <a:off x="914400" y="2944368"/>
            <a:ext cx="7772400" cy="640080"/>
          </a:xfrm>
          <a:prstGeom prst="roundRect">
            <a:avLst>
              <a:gd name="adj" fmla="val 14286"/>
            </a:avLst>
          </a:prstGeom>
          <a:solidFill>
            <a:srgbClr val="D1FAE5"/>
          </a:solidFill>
          <a:ln w="12700">
            <a:solidFill>
              <a:srgbClr val="10B981"/>
            </a:solidFill>
            <a:prstDash val="solid"/>
          </a:ln>
        </p:spPr>
      </p:sp>
      <p:sp>
        <p:nvSpPr>
          <p:cNvPr id="13" name="Text 11"/>
          <p:cNvSpPr/>
          <p:nvPr/>
        </p:nvSpPr>
        <p:spPr>
          <a:xfrm>
            <a:off x="987552" y="2980944"/>
            <a:ext cx="320040" cy="548640"/>
          </a:xfrm>
          <a:prstGeom prst="rect">
            <a:avLst/>
          </a:prstGeom>
          <a:noFill/>
          <a:ln/>
        </p:spPr>
        <p:txBody>
          <a:bodyPr wrap="square" lIns="0" tIns="0" rIns="0" bIns="0" rtlCol="0" anchor="ctr"/>
          <a:lstStyle/>
          <a:p>
            <a:pPr marL="0" indent="0">
              <a:buNone/>
            </a:pPr>
            <a:r>
              <a:rPr lang="en-US" sz="1400" dirty="0">
                <a:solidFill>
                  <a:srgbClr val="000000"/>
                </a:solidFill>
                <a:latin typeface="Arial" pitchFamily="34" charset="0"/>
                <a:ea typeface="Arial" pitchFamily="34" charset="-122"/>
                <a:cs typeface="Arial" pitchFamily="34" charset="-120"/>
              </a:rPr>
              <a:t>🤖</a:t>
            </a:r>
            <a:endParaRPr lang="en-US" sz="1400" dirty="0"/>
          </a:p>
        </p:txBody>
      </p:sp>
      <p:sp>
        <p:nvSpPr>
          <p:cNvPr id="14" name="Text 12"/>
          <p:cNvSpPr/>
          <p:nvPr/>
        </p:nvSpPr>
        <p:spPr>
          <a:xfrm>
            <a:off x="1371600" y="2999232"/>
            <a:ext cx="7223760" cy="512064"/>
          </a:xfrm>
          <a:prstGeom prst="rect">
            <a:avLst/>
          </a:prstGeom>
          <a:noFill/>
          <a:ln/>
        </p:spPr>
        <p:txBody>
          <a:bodyPr wrap="square" lIns="0" tIns="0" rIns="0" bIns="0" rtlCol="0" anchor="ctr"/>
          <a:lstStyle/>
          <a:p>
            <a:pPr marL="0" indent="0">
              <a:buNone/>
            </a:pPr>
            <a:r>
              <a:rPr lang="en-US" sz="1050" dirty="0">
                <a:solidFill>
                  <a:srgbClr val="1E293B"/>
                </a:solidFill>
                <a:latin typeface="Arial" pitchFamily="34" charset="0"/>
                <a:ea typeface="Arial" pitchFamily="34" charset="-122"/>
                <a:cs typeface="Arial" pitchFamily="34" charset="-120"/>
              </a:rPr>
              <a:t>Le lundi, Makera Kaba donne Algorithmique (08:00–10:00, Salle A) et Ibrahima Camara donne BDD (10:00–12:00, Salle B).</a:t>
            </a:r>
            <a:endParaRPr lang="en-US" sz="1050" dirty="0"/>
          </a:p>
        </p:txBody>
      </p:sp>
      <p:sp>
        <p:nvSpPr>
          <p:cNvPr id="15" name="Shape 13"/>
          <p:cNvSpPr/>
          <p:nvPr/>
        </p:nvSpPr>
        <p:spPr>
          <a:xfrm>
            <a:off x="274320" y="3675888"/>
            <a:ext cx="7772400" cy="640080"/>
          </a:xfrm>
          <a:prstGeom prst="roundRect">
            <a:avLst>
              <a:gd name="adj" fmla="val 14286"/>
            </a:avLst>
          </a:prstGeom>
          <a:solidFill>
            <a:srgbClr val="DBEAFE"/>
          </a:solidFill>
          <a:ln w="12700">
            <a:solidFill>
              <a:srgbClr val="1B4FD8"/>
            </a:solidFill>
            <a:prstDash val="solid"/>
          </a:ln>
        </p:spPr>
      </p:sp>
      <p:sp>
        <p:nvSpPr>
          <p:cNvPr id="16" name="Text 14"/>
          <p:cNvSpPr/>
          <p:nvPr/>
        </p:nvSpPr>
        <p:spPr>
          <a:xfrm>
            <a:off x="347472" y="3712464"/>
            <a:ext cx="320040" cy="548640"/>
          </a:xfrm>
          <a:prstGeom prst="rect">
            <a:avLst/>
          </a:prstGeom>
          <a:noFill/>
          <a:ln/>
        </p:spPr>
        <p:txBody>
          <a:bodyPr wrap="square" lIns="0" tIns="0" rIns="0" bIns="0" rtlCol="0" anchor="ctr"/>
          <a:lstStyle/>
          <a:p>
            <a:pPr marL="0" indent="0">
              <a:buNone/>
            </a:pPr>
            <a:r>
              <a:rPr lang="en-US" sz="1400" dirty="0">
                <a:solidFill>
                  <a:srgbClr val="000000"/>
                </a:solidFill>
                <a:latin typeface="Arial" pitchFamily="34" charset="0"/>
                <a:ea typeface="Arial" pitchFamily="34" charset="-122"/>
                <a:cs typeface="Arial" pitchFamily="34" charset="-120"/>
              </a:rPr>
              <a:t>👨‍🎓</a:t>
            </a:r>
            <a:endParaRPr lang="en-US" sz="1400" dirty="0"/>
          </a:p>
        </p:txBody>
      </p:sp>
      <p:sp>
        <p:nvSpPr>
          <p:cNvPr id="17" name="Text 15"/>
          <p:cNvSpPr/>
          <p:nvPr/>
        </p:nvSpPr>
        <p:spPr>
          <a:xfrm>
            <a:off x="731520" y="3730752"/>
            <a:ext cx="7223760" cy="512064"/>
          </a:xfrm>
          <a:prstGeom prst="rect">
            <a:avLst/>
          </a:prstGeom>
          <a:noFill/>
          <a:ln/>
        </p:spPr>
        <p:txBody>
          <a:bodyPr wrap="square" lIns="0" tIns="0" rIns="0" bIns="0" rtlCol="0" anchor="ctr"/>
          <a:lstStyle/>
          <a:p>
            <a:pPr marL="0" indent="0">
              <a:buNone/>
            </a:pPr>
            <a:r>
              <a:rPr lang="en-US" sz="1050" dirty="0">
                <a:solidFill>
                  <a:srgbClr val="1E293B"/>
                </a:solidFill>
                <a:latin typeface="Arial" pitchFamily="34" charset="0"/>
                <a:ea typeface="Arial" pitchFamily="34" charset="-122"/>
                <a:cs typeface="Arial" pitchFamily="34" charset="-120"/>
              </a:rPr>
              <a:t>Et le jeudi ?  ← L'IA comprend qu'on parle toujours des enseignants et de l'EDT</a:t>
            </a:r>
            <a:endParaRPr lang="en-US" sz="1050" dirty="0"/>
          </a:p>
        </p:txBody>
      </p:sp>
      <p:sp>
        <p:nvSpPr>
          <p:cNvPr id="18" name="Shape 16"/>
          <p:cNvSpPr/>
          <p:nvPr/>
        </p:nvSpPr>
        <p:spPr>
          <a:xfrm>
            <a:off x="914400" y="4407408"/>
            <a:ext cx="7772400" cy="640080"/>
          </a:xfrm>
          <a:prstGeom prst="roundRect">
            <a:avLst>
              <a:gd name="adj" fmla="val 14286"/>
            </a:avLst>
          </a:prstGeom>
          <a:solidFill>
            <a:srgbClr val="D1FAE5"/>
          </a:solidFill>
          <a:ln w="12700">
            <a:solidFill>
              <a:srgbClr val="10B981"/>
            </a:solidFill>
            <a:prstDash val="solid"/>
          </a:ln>
        </p:spPr>
      </p:sp>
      <p:sp>
        <p:nvSpPr>
          <p:cNvPr id="19" name="Text 17"/>
          <p:cNvSpPr/>
          <p:nvPr/>
        </p:nvSpPr>
        <p:spPr>
          <a:xfrm>
            <a:off x="987552" y="4443984"/>
            <a:ext cx="320040" cy="548640"/>
          </a:xfrm>
          <a:prstGeom prst="rect">
            <a:avLst/>
          </a:prstGeom>
          <a:noFill/>
          <a:ln/>
        </p:spPr>
        <p:txBody>
          <a:bodyPr wrap="square" lIns="0" tIns="0" rIns="0" bIns="0" rtlCol="0" anchor="ctr"/>
          <a:lstStyle/>
          <a:p>
            <a:pPr marL="0" indent="0">
              <a:buNone/>
            </a:pPr>
            <a:r>
              <a:rPr lang="en-US" sz="1400" dirty="0">
                <a:solidFill>
                  <a:srgbClr val="000000"/>
                </a:solidFill>
                <a:latin typeface="Arial" pitchFamily="34" charset="0"/>
                <a:ea typeface="Arial" pitchFamily="34" charset="-122"/>
                <a:cs typeface="Arial" pitchFamily="34" charset="-120"/>
              </a:rPr>
              <a:t>🤖</a:t>
            </a:r>
            <a:endParaRPr lang="en-US" sz="1400" dirty="0"/>
          </a:p>
        </p:txBody>
      </p:sp>
      <p:sp>
        <p:nvSpPr>
          <p:cNvPr id="20" name="Text 18"/>
          <p:cNvSpPr/>
          <p:nvPr/>
        </p:nvSpPr>
        <p:spPr>
          <a:xfrm>
            <a:off x="1371600" y="4462272"/>
            <a:ext cx="7223760" cy="512064"/>
          </a:xfrm>
          <a:prstGeom prst="rect">
            <a:avLst/>
          </a:prstGeom>
          <a:noFill/>
          <a:ln/>
        </p:spPr>
        <p:txBody>
          <a:bodyPr wrap="square" lIns="0" tIns="0" rIns="0" bIns="0" rtlCol="0" anchor="ctr"/>
          <a:lstStyle/>
          <a:p>
            <a:pPr marL="0" indent="0">
              <a:buNone/>
            </a:pPr>
            <a:r>
              <a:rPr lang="en-US" sz="1050" dirty="0">
                <a:solidFill>
                  <a:srgbClr val="1E293B"/>
                </a:solidFill>
                <a:latin typeface="Arial" pitchFamily="34" charset="0"/>
                <a:ea typeface="Arial" pitchFamily="34" charset="-122"/>
                <a:cs typeface="Arial" pitchFamily="34" charset="-120"/>
              </a:rPr>
              <a:t>Le jeudi, Fatoumata Diallo donne Réseaux (08:00–10:00, Labo 1).</a:t>
            </a:r>
            <a:endParaRPr lang="en-US" sz="1050" dirty="0"/>
          </a:p>
        </p:txBody>
      </p:sp>
      <p:sp>
        <p:nvSpPr>
          <p:cNvPr id="21" name="Text 19"/>
          <p:cNvSpPr/>
          <p:nvPr/>
        </p:nvSpPr>
        <p:spPr>
          <a:xfrm>
            <a:off x="274320" y="5138928"/>
            <a:ext cx="4572000" cy="274320"/>
          </a:xfrm>
          <a:prstGeom prst="rect">
            <a:avLst/>
          </a:prstGeom>
          <a:noFill/>
          <a:ln/>
        </p:spPr>
        <p:txBody>
          <a:bodyPr wrap="square" lIns="0" tIns="0" rIns="0" bIns="0" rtlCol="0" anchor="ctr"/>
          <a:lstStyle/>
          <a:p>
            <a:pPr marL="0" indent="0">
              <a:buNone/>
            </a:pPr>
            <a:r>
              <a:rPr lang="en-US" sz="1200" b="1" dirty="0">
                <a:solidFill>
                  <a:srgbClr val="0D1B2A"/>
                </a:solidFill>
                <a:latin typeface="Arial" pitchFamily="34" charset="0"/>
                <a:ea typeface="Arial" pitchFamily="34" charset="-122"/>
                <a:cs typeface="Arial" pitchFamily="34" charset="-120"/>
              </a:rPr>
              <a:t>📋  Format OpenAI — identique à ChatGPT :</a:t>
            </a:r>
            <a:endParaRPr lang="en-US" sz="1200" dirty="0"/>
          </a:p>
        </p:txBody>
      </p:sp>
      <p:sp>
        <p:nvSpPr>
          <p:cNvPr id="22" name="Shape 20"/>
          <p:cNvSpPr/>
          <p:nvPr/>
        </p:nvSpPr>
        <p:spPr>
          <a:xfrm>
            <a:off x="274320" y="5449824"/>
            <a:ext cx="8595360" cy="502920"/>
          </a:xfrm>
          <a:prstGeom prst="roundRect">
            <a:avLst>
              <a:gd name="adj" fmla="val 14545"/>
            </a:avLst>
          </a:prstGeom>
          <a:solidFill>
            <a:srgbClr val="0D1B2A"/>
          </a:solidFill>
          <a:ln w="12700">
            <a:solidFill>
              <a:srgbClr val="0EA5E9"/>
            </a:solidFill>
            <a:prstDash val="solid"/>
          </a:ln>
        </p:spPr>
      </p:sp>
      <p:sp>
        <p:nvSpPr>
          <p:cNvPr id="23" name="Text 21"/>
          <p:cNvSpPr/>
          <p:nvPr/>
        </p:nvSpPr>
        <p:spPr>
          <a:xfrm>
            <a:off x="411480" y="5468112"/>
            <a:ext cx="8321040" cy="45720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$messages = [['role'=&gt;'system','content'=&gt;$systemPrompt], ['role'=&gt;'user','content'=&gt;'Qui donne cours lundi ?'], ['role'=&gt;'assistant','content'=&gt;'Makera Kaba...'], ['role'=&gt;'user','content'=&gt;'Et le jeudi ?']];</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0D1B2A"/>
          </a:solidFill>
          <a:ln w="12700">
            <a:solidFill>
              <a:srgbClr val="0D1B2A"/>
            </a:solidFill>
            <a:prstDash val="solid"/>
          </a:ln>
        </p:spPr>
      </p:sp>
      <p:sp>
        <p:nvSpPr>
          <p:cNvPr id="3" name="Text 1"/>
          <p:cNvSpPr/>
          <p:nvPr/>
        </p:nvSpPr>
        <p:spPr>
          <a:xfrm>
            <a:off x="457200" y="64008"/>
            <a:ext cx="8229600" cy="329184"/>
          </a:xfrm>
          <a:prstGeom prst="rect">
            <a:avLst/>
          </a:prstGeom>
          <a:noFill/>
          <a:ln/>
        </p:spPr>
        <p:txBody>
          <a:bodyPr wrap="square" lIns="0" tIns="0" rIns="0" bIns="0" rtlCol="0" anchor="ctr"/>
          <a:lstStyle/>
          <a:p>
            <a:pPr marL="0" indent="0">
              <a:buNone/>
            </a:pPr>
            <a:r>
              <a:rPr lang="en-US" sz="1000" b="1" kern="0" spc="400" dirty="0">
                <a:solidFill>
                  <a:srgbClr val="0EA5E9"/>
                </a:solidFill>
                <a:latin typeface="Arial" pitchFamily="34" charset="0"/>
                <a:ea typeface="Arial" pitchFamily="34" charset="-122"/>
                <a:cs typeface="Arial" pitchFamily="34" charset="-120"/>
              </a:rPr>
              <a:t>SECTION 12 — NOTIFICATIONS</a:t>
            </a:r>
            <a:endParaRPr lang="en-US" sz="1000" dirty="0"/>
          </a:p>
        </p:txBody>
      </p:sp>
      <p:sp>
        <p:nvSpPr>
          <p:cNvPr id="4" name="Text 2"/>
          <p:cNvSpPr/>
          <p:nvPr/>
        </p:nvSpPr>
        <p:spPr>
          <a:xfrm>
            <a:off x="457200" y="402336"/>
            <a:ext cx="6217920" cy="493776"/>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Système de notifications en temps réel</a:t>
            </a:r>
            <a:endParaRPr lang="en-US" sz="2000" dirty="0"/>
          </a:p>
        </p:txBody>
      </p:sp>
      <p:sp>
        <p:nvSpPr>
          <p:cNvPr id="5" name="Text 3"/>
          <p:cNvSpPr/>
          <p:nvPr/>
        </p:nvSpPr>
        <p:spPr>
          <a:xfrm>
            <a:off x="6400800" y="457200"/>
            <a:ext cx="2560320" cy="384048"/>
          </a:xfrm>
          <a:prstGeom prst="rect">
            <a:avLst/>
          </a:prstGeom>
          <a:noFill/>
          <a:ln/>
        </p:spPr>
        <p:txBody>
          <a:bodyPr wrap="square" lIns="0" tIns="0" rIns="0" bIns="0" rtlCol="0" anchor="ctr"/>
          <a:lstStyle/>
          <a:p>
            <a:pPr marL="0" indent="0" algn="r">
              <a:buNone/>
            </a:pPr>
            <a:r>
              <a:rPr lang="en-US" sz="1100" dirty="0">
                <a:solidFill>
                  <a:srgbClr val="0EA5E9"/>
                </a:solidFill>
                <a:latin typeface="Arial" pitchFamily="34" charset="0"/>
                <a:ea typeface="Arial" pitchFamily="34" charset="-122"/>
                <a:cs typeface="Arial" pitchFamily="34" charset="-120"/>
              </a:rPr>
              <a:t>Polling 30 secondes</a:t>
            </a:r>
            <a:endParaRPr lang="en-US" sz="1100" dirty="0"/>
          </a:p>
        </p:txBody>
      </p:sp>
      <p:sp>
        <p:nvSpPr>
          <p:cNvPr id="6" name="Shape 4"/>
          <p:cNvSpPr/>
          <p:nvPr/>
        </p:nvSpPr>
        <p:spPr>
          <a:xfrm>
            <a:off x="274320" y="1051560"/>
            <a:ext cx="2743200" cy="1325880"/>
          </a:xfrm>
          <a:prstGeom prst="roundRect">
            <a:avLst>
              <a:gd name="adj" fmla="val 8276"/>
            </a:avLst>
          </a:prstGeom>
          <a:solidFill>
            <a:srgbClr val="DBEAFE"/>
          </a:solidFill>
          <a:ln w="19050">
            <a:solidFill>
              <a:srgbClr val="1B4FD8"/>
            </a:solidFill>
            <a:prstDash val="solid"/>
          </a:ln>
          <a:effectLst>
            <a:outerShdw blurRad="88900" dist="25400" dir="2700000" algn="bl" rotWithShape="0">
              <a:srgbClr val="000000">
                <a:alpha val="13000"/>
              </a:srgbClr>
            </a:outerShdw>
          </a:effectLst>
        </p:spPr>
      </p:sp>
      <p:sp>
        <p:nvSpPr>
          <p:cNvPr id="7" name="Shape 5"/>
          <p:cNvSpPr/>
          <p:nvPr/>
        </p:nvSpPr>
        <p:spPr>
          <a:xfrm>
            <a:off x="3200400" y="1051560"/>
            <a:ext cx="2743200" cy="1325880"/>
          </a:xfrm>
          <a:prstGeom prst="roundRect">
            <a:avLst>
              <a:gd name="adj" fmla="val 8276"/>
            </a:avLst>
          </a:prstGeom>
          <a:solidFill>
            <a:srgbClr val="D1FAE5"/>
          </a:solidFill>
          <a:ln w="19050">
            <a:solidFill>
              <a:srgbClr val="10B981"/>
            </a:solidFill>
            <a:prstDash val="solid"/>
          </a:ln>
          <a:effectLst>
            <a:outerShdw blurRad="88900" dist="25400" dir="2700000" algn="bl" rotWithShape="0">
              <a:srgbClr val="000000">
                <a:alpha val="13000"/>
              </a:srgbClr>
            </a:outerShdw>
          </a:effectLst>
        </p:spPr>
      </p:sp>
      <p:sp>
        <p:nvSpPr>
          <p:cNvPr id="8" name="Shape 6"/>
          <p:cNvSpPr/>
          <p:nvPr/>
        </p:nvSpPr>
        <p:spPr>
          <a:xfrm>
            <a:off x="6126480" y="1051560"/>
            <a:ext cx="2743200" cy="1325880"/>
          </a:xfrm>
          <a:prstGeom prst="roundRect">
            <a:avLst>
              <a:gd name="adj" fmla="val 8276"/>
            </a:avLst>
          </a:prstGeom>
          <a:solidFill>
            <a:srgbClr val="EDE9FE"/>
          </a:solidFill>
          <a:ln w="19050">
            <a:solidFill>
              <a:srgbClr val="4C1D95"/>
            </a:solidFill>
            <a:prstDash val="solid"/>
          </a:ln>
          <a:effectLst>
            <a:outerShdw blurRad="88900" dist="25400" dir="2700000" algn="bl" rotWithShape="0">
              <a:srgbClr val="000000">
                <a:alpha val="13000"/>
              </a:srgbClr>
            </a:outerShdw>
          </a:effectLst>
        </p:spPr>
      </p:sp>
      <p:sp>
        <p:nvSpPr>
          <p:cNvPr id="9" name="Text 7"/>
          <p:cNvSpPr/>
          <p:nvPr/>
        </p:nvSpPr>
        <p:spPr>
          <a:xfrm>
            <a:off x="274320" y="2514600"/>
            <a:ext cx="8595360" cy="292608"/>
          </a:xfrm>
          <a:prstGeom prst="rect">
            <a:avLst/>
          </a:prstGeom>
          <a:noFill/>
          <a:ln/>
        </p:spPr>
        <p:txBody>
          <a:bodyPr wrap="square" lIns="0" tIns="0" rIns="0" bIns="0" rtlCol="0" anchor="ctr"/>
          <a:lstStyle/>
          <a:p>
            <a:pPr marL="0" indent="0">
              <a:buNone/>
            </a:pPr>
            <a:r>
              <a:rPr lang="en-US" sz="1300" b="1" dirty="0">
                <a:solidFill>
                  <a:srgbClr val="0D1B2A"/>
                </a:solidFill>
                <a:latin typeface="Arial" pitchFamily="34" charset="0"/>
                <a:ea typeface="Arial" pitchFamily="34" charset="-122"/>
                <a:cs typeface="Arial" pitchFamily="34" charset="-120"/>
              </a:rPr>
              <a:t>🔔  Types de notifications automatiques :</a:t>
            </a:r>
            <a:endParaRPr lang="en-US" sz="1300" dirty="0"/>
          </a:p>
        </p:txBody>
      </p:sp>
      <p:sp>
        <p:nvSpPr>
          <p:cNvPr id="10" name="Shape 8"/>
          <p:cNvSpPr/>
          <p:nvPr/>
        </p:nvSpPr>
        <p:spPr>
          <a:xfrm>
            <a:off x="274320" y="2852928"/>
            <a:ext cx="8595360" cy="320040"/>
          </a:xfrm>
          <a:prstGeom prst="roundRect">
            <a:avLst>
              <a:gd name="adj" fmla="val 17143"/>
            </a:avLst>
          </a:prstGeom>
          <a:solidFill>
            <a:srgbClr val="0D1B2A"/>
          </a:solidFill>
          <a:ln w="12700">
            <a:solidFill>
              <a:srgbClr val="0D1B2A"/>
            </a:solidFill>
            <a:prstDash val="solid"/>
          </a:ln>
        </p:spPr>
      </p:sp>
      <p:sp>
        <p:nvSpPr>
          <p:cNvPr id="11" name="Text 9"/>
          <p:cNvSpPr/>
          <p:nvPr/>
        </p:nvSpPr>
        <p:spPr>
          <a:xfrm>
            <a:off x="384048" y="2880360"/>
            <a:ext cx="2926080" cy="256032"/>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Événement</a:t>
            </a:r>
            <a:endParaRPr lang="en-US" sz="1100" dirty="0"/>
          </a:p>
        </p:txBody>
      </p:sp>
      <p:sp>
        <p:nvSpPr>
          <p:cNvPr id="12" name="Text 10"/>
          <p:cNvSpPr/>
          <p:nvPr/>
        </p:nvSpPr>
        <p:spPr>
          <a:xfrm>
            <a:off x="3493008" y="2880360"/>
            <a:ext cx="3108960" cy="256032"/>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Destinataires</a:t>
            </a:r>
            <a:endParaRPr lang="en-US" sz="1100" dirty="0"/>
          </a:p>
        </p:txBody>
      </p:sp>
      <p:sp>
        <p:nvSpPr>
          <p:cNvPr id="13" name="Text 11"/>
          <p:cNvSpPr/>
          <p:nvPr/>
        </p:nvSpPr>
        <p:spPr>
          <a:xfrm>
            <a:off x="6784848" y="2880360"/>
            <a:ext cx="2011680" cy="256032"/>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Déclencheur</a:t>
            </a:r>
            <a:endParaRPr lang="en-US" sz="1100" dirty="0"/>
          </a:p>
        </p:txBody>
      </p:sp>
      <p:sp>
        <p:nvSpPr>
          <p:cNvPr id="14" name="Shape 12"/>
          <p:cNvSpPr/>
          <p:nvPr/>
        </p:nvSpPr>
        <p:spPr>
          <a:xfrm>
            <a:off x="274320" y="3218688"/>
            <a:ext cx="8595360" cy="402336"/>
          </a:xfrm>
          <a:prstGeom prst="rect">
            <a:avLst/>
          </a:prstGeom>
          <a:solidFill>
            <a:srgbClr val="FEF3C7"/>
          </a:solidFill>
          <a:ln w="6350">
            <a:solidFill>
              <a:srgbClr val="E2E8F0"/>
            </a:solidFill>
            <a:prstDash val="solid"/>
          </a:ln>
        </p:spPr>
      </p:sp>
      <p:sp>
        <p:nvSpPr>
          <p:cNvPr id="15" name="Text 13"/>
          <p:cNvSpPr/>
          <p:nvPr/>
        </p:nvSpPr>
        <p:spPr>
          <a:xfrm>
            <a:off x="384048" y="3255264"/>
            <a:ext cx="2926080" cy="329184"/>
          </a:xfrm>
          <a:prstGeom prst="rect">
            <a:avLst/>
          </a:prstGeom>
          <a:noFill/>
          <a:ln/>
        </p:spPr>
        <p:txBody>
          <a:bodyPr wrap="square" lIns="0" tIns="0" rIns="0" bIns="0" rtlCol="0" anchor="ctr"/>
          <a:lstStyle/>
          <a:p>
            <a:pPr marL="0" indent="0">
              <a:buNone/>
            </a:pPr>
            <a:r>
              <a:rPr lang="en-US" sz="1050" b="1" dirty="0">
                <a:solidFill>
                  <a:srgbClr val="F59E0B"/>
                </a:solidFill>
                <a:latin typeface="Arial" pitchFamily="34" charset="0"/>
                <a:ea typeface="Arial" pitchFamily="34" charset="-122"/>
                <a:cs typeface="Arial" pitchFamily="34" charset="-120"/>
              </a:rPr>
              <a:t>Modification d'horaire</a:t>
            </a:r>
            <a:endParaRPr lang="en-US" sz="1050" dirty="0"/>
          </a:p>
        </p:txBody>
      </p:sp>
      <p:sp>
        <p:nvSpPr>
          <p:cNvPr id="16" name="Text 14"/>
          <p:cNvSpPr/>
          <p:nvPr/>
        </p:nvSpPr>
        <p:spPr>
          <a:xfrm>
            <a:off x="3273552" y="3255264"/>
            <a:ext cx="3017520" cy="329184"/>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Étudiants du département + enseignant concerné</a:t>
            </a:r>
            <a:endParaRPr lang="en-US" sz="1000" dirty="0"/>
          </a:p>
        </p:txBody>
      </p:sp>
      <p:sp>
        <p:nvSpPr>
          <p:cNvPr id="17" name="Shape 15"/>
          <p:cNvSpPr/>
          <p:nvPr/>
        </p:nvSpPr>
        <p:spPr>
          <a:xfrm>
            <a:off x="6355080" y="3291840"/>
            <a:ext cx="2423160" cy="274320"/>
          </a:xfrm>
          <a:prstGeom prst="roundRect">
            <a:avLst>
              <a:gd name="adj" fmla="val 16667"/>
            </a:avLst>
          </a:prstGeom>
          <a:solidFill>
            <a:srgbClr val="F59E0B">
              <a:alpha val="20000"/>
            </a:srgbClr>
          </a:solidFill>
          <a:ln w="12700">
            <a:solidFill>
              <a:srgbClr val="F59E0B"/>
            </a:solidFill>
            <a:prstDash val="solid"/>
          </a:ln>
        </p:spPr>
      </p:sp>
      <p:sp>
        <p:nvSpPr>
          <p:cNvPr id="18" name="Text 16"/>
          <p:cNvSpPr/>
          <p:nvPr/>
        </p:nvSpPr>
        <p:spPr>
          <a:xfrm>
            <a:off x="6355080" y="3291840"/>
            <a:ext cx="2423160" cy="274320"/>
          </a:xfrm>
          <a:prstGeom prst="rect">
            <a:avLst/>
          </a:prstGeom>
          <a:noFill/>
          <a:ln/>
        </p:spPr>
        <p:txBody>
          <a:bodyPr wrap="square" lIns="0" tIns="0" rIns="0" bIns="0" rtlCol="0" anchor="ctr"/>
          <a:lstStyle/>
          <a:p>
            <a:pPr marL="0" indent="0" algn="ctr">
              <a:buNone/>
            </a:pPr>
            <a:r>
              <a:rPr lang="en-US" sz="1000" b="1" dirty="0">
                <a:solidFill>
                  <a:srgbClr val="F59E0B"/>
                </a:solidFill>
                <a:latin typeface="Arial" pitchFamily="34" charset="0"/>
                <a:ea typeface="Arial" pitchFamily="34" charset="-122"/>
                <a:cs typeface="Arial" pitchFamily="34" charset="-120"/>
              </a:rPr>
              <a:t>Chef de programme</a:t>
            </a:r>
            <a:endParaRPr lang="en-US" sz="1000" dirty="0"/>
          </a:p>
        </p:txBody>
      </p:sp>
      <p:sp>
        <p:nvSpPr>
          <p:cNvPr id="19" name="Shape 17"/>
          <p:cNvSpPr/>
          <p:nvPr/>
        </p:nvSpPr>
        <p:spPr>
          <a:xfrm>
            <a:off x="274320" y="3657600"/>
            <a:ext cx="8595360" cy="402336"/>
          </a:xfrm>
          <a:prstGeom prst="rect">
            <a:avLst/>
          </a:prstGeom>
          <a:solidFill>
            <a:srgbClr val="E0F7FA"/>
          </a:solidFill>
          <a:ln w="6350">
            <a:solidFill>
              <a:srgbClr val="E2E8F0"/>
            </a:solidFill>
            <a:prstDash val="solid"/>
          </a:ln>
        </p:spPr>
      </p:sp>
      <p:sp>
        <p:nvSpPr>
          <p:cNvPr id="20" name="Text 18"/>
          <p:cNvSpPr/>
          <p:nvPr/>
        </p:nvSpPr>
        <p:spPr>
          <a:xfrm>
            <a:off x="384048" y="3694176"/>
            <a:ext cx="2926080" cy="329184"/>
          </a:xfrm>
          <a:prstGeom prst="rect">
            <a:avLst/>
          </a:prstGeom>
          <a:noFill/>
          <a:ln/>
        </p:spPr>
        <p:txBody>
          <a:bodyPr wrap="square" lIns="0" tIns="0" rIns="0" bIns="0" rtlCol="0" anchor="ctr"/>
          <a:lstStyle/>
          <a:p>
            <a:pPr marL="0" indent="0">
              <a:buNone/>
            </a:pPr>
            <a:r>
              <a:rPr lang="en-US" sz="1050" b="1" dirty="0">
                <a:solidFill>
                  <a:srgbClr val="0EA5E9"/>
                </a:solidFill>
                <a:latin typeface="Arial" pitchFamily="34" charset="0"/>
                <a:ea typeface="Arial" pitchFamily="34" charset="-122"/>
                <a:cs typeface="Arial" pitchFamily="34" charset="-120"/>
              </a:rPr>
              <a:t>Mise à jour par un professeur</a:t>
            </a:r>
            <a:endParaRPr lang="en-US" sz="1050" dirty="0"/>
          </a:p>
        </p:txBody>
      </p:sp>
      <p:sp>
        <p:nvSpPr>
          <p:cNvPr id="21" name="Text 19"/>
          <p:cNvSpPr/>
          <p:nvPr/>
        </p:nvSpPr>
        <p:spPr>
          <a:xfrm>
            <a:off x="3273552" y="3694176"/>
            <a:ext cx="3017520" cy="329184"/>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Étudiants du département</a:t>
            </a:r>
            <a:endParaRPr lang="en-US" sz="1000" dirty="0"/>
          </a:p>
        </p:txBody>
      </p:sp>
      <p:sp>
        <p:nvSpPr>
          <p:cNvPr id="22" name="Shape 20"/>
          <p:cNvSpPr/>
          <p:nvPr/>
        </p:nvSpPr>
        <p:spPr>
          <a:xfrm>
            <a:off x="6355080" y="3730752"/>
            <a:ext cx="2423160" cy="274320"/>
          </a:xfrm>
          <a:prstGeom prst="roundRect">
            <a:avLst>
              <a:gd name="adj" fmla="val 16667"/>
            </a:avLst>
          </a:prstGeom>
          <a:solidFill>
            <a:srgbClr val="0EA5E9">
              <a:alpha val="20000"/>
            </a:srgbClr>
          </a:solidFill>
          <a:ln w="12700">
            <a:solidFill>
              <a:srgbClr val="0EA5E9"/>
            </a:solidFill>
            <a:prstDash val="solid"/>
          </a:ln>
        </p:spPr>
      </p:sp>
      <p:sp>
        <p:nvSpPr>
          <p:cNvPr id="23" name="Text 21"/>
          <p:cNvSpPr/>
          <p:nvPr/>
        </p:nvSpPr>
        <p:spPr>
          <a:xfrm>
            <a:off x="6355080" y="3730752"/>
            <a:ext cx="2423160" cy="274320"/>
          </a:xfrm>
          <a:prstGeom prst="rect">
            <a:avLst/>
          </a:prstGeom>
          <a:noFill/>
          <a:ln/>
        </p:spPr>
        <p:txBody>
          <a:bodyPr wrap="square" lIns="0" tIns="0" rIns="0" bIns="0" rtlCol="0" anchor="ctr"/>
          <a:lstStyle/>
          <a:p>
            <a:pPr marL="0" indent="0" algn="ctr">
              <a:buNone/>
            </a:pPr>
            <a:r>
              <a:rPr lang="en-US" sz="1000" b="1" dirty="0">
                <a:solidFill>
                  <a:srgbClr val="0EA5E9"/>
                </a:solidFill>
                <a:latin typeface="Arial" pitchFamily="34" charset="0"/>
                <a:ea typeface="Arial" pitchFamily="34" charset="-122"/>
                <a:cs typeface="Arial" pitchFamily="34" charset="-120"/>
              </a:rPr>
              <a:t>Professeur</a:t>
            </a:r>
            <a:endParaRPr lang="en-US" sz="1000" dirty="0"/>
          </a:p>
        </p:txBody>
      </p:sp>
      <p:sp>
        <p:nvSpPr>
          <p:cNvPr id="24" name="Shape 22"/>
          <p:cNvSpPr/>
          <p:nvPr/>
        </p:nvSpPr>
        <p:spPr>
          <a:xfrm>
            <a:off x="274320" y="4096512"/>
            <a:ext cx="8595360" cy="402336"/>
          </a:xfrm>
          <a:prstGeom prst="rect">
            <a:avLst/>
          </a:prstGeom>
          <a:solidFill>
            <a:srgbClr val="D1FAE5"/>
          </a:solidFill>
          <a:ln w="6350">
            <a:solidFill>
              <a:srgbClr val="E2E8F0"/>
            </a:solidFill>
            <a:prstDash val="solid"/>
          </a:ln>
        </p:spPr>
      </p:sp>
      <p:sp>
        <p:nvSpPr>
          <p:cNvPr id="25" name="Text 23"/>
          <p:cNvSpPr/>
          <p:nvPr/>
        </p:nvSpPr>
        <p:spPr>
          <a:xfrm>
            <a:off x="384048" y="4133088"/>
            <a:ext cx="2926080" cy="329184"/>
          </a:xfrm>
          <a:prstGeom prst="rect">
            <a:avLst/>
          </a:prstGeom>
          <a:noFill/>
          <a:ln/>
        </p:spPr>
        <p:txBody>
          <a:bodyPr wrap="square" lIns="0" tIns="0" rIns="0" bIns="0" rtlCol="0" anchor="ctr"/>
          <a:lstStyle/>
          <a:p>
            <a:pPr marL="0" indent="0">
              <a:buNone/>
            </a:pPr>
            <a:r>
              <a:rPr lang="en-US" sz="1050" b="1" dirty="0">
                <a:solidFill>
                  <a:srgbClr val="10B981"/>
                </a:solidFill>
                <a:latin typeface="Arial" pitchFamily="34" charset="0"/>
                <a:ea typeface="Arial" pitchFamily="34" charset="-122"/>
                <a:cs typeface="Arial" pitchFamily="34" charset="-120"/>
              </a:rPr>
              <a:t>Progression d'année (L1→L2)</a:t>
            </a:r>
            <a:endParaRPr lang="en-US" sz="1050" dirty="0"/>
          </a:p>
        </p:txBody>
      </p:sp>
      <p:sp>
        <p:nvSpPr>
          <p:cNvPr id="26" name="Text 24"/>
          <p:cNvSpPr/>
          <p:nvPr/>
        </p:nvSpPr>
        <p:spPr>
          <a:xfrm>
            <a:off x="3273552" y="4133088"/>
            <a:ext cx="3017520" cy="329184"/>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Chaque étudiant individuellement</a:t>
            </a:r>
            <a:endParaRPr lang="en-US" sz="1000" dirty="0"/>
          </a:p>
        </p:txBody>
      </p:sp>
      <p:sp>
        <p:nvSpPr>
          <p:cNvPr id="27" name="Shape 25"/>
          <p:cNvSpPr/>
          <p:nvPr/>
        </p:nvSpPr>
        <p:spPr>
          <a:xfrm>
            <a:off x="6355080" y="4169664"/>
            <a:ext cx="2423160" cy="274320"/>
          </a:xfrm>
          <a:prstGeom prst="roundRect">
            <a:avLst>
              <a:gd name="adj" fmla="val 16667"/>
            </a:avLst>
          </a:prstGeom>
          <a:solidFill>
            <a:srgbClr val="10B981">
              <a:alpha val="20000"/>
            </a:srgbClr>
          </a:solidFill>
          <a:ln w="12700">
            <a:solidFill>
              <a:srgbClr val="10B981"/>
            </a:solidFill>
            <a:prstDash val="solid"/>
          </a:ln>
        </p:spPr>
      </p:sp>
      <p:sp>
        <p:nvSpPr>
          <p:cNvPr id="28" name="Text 26"/>
          <p:cNvSpPr/>
          <p:nvPr/>
        </p:nvSpPr>
        <p:spPr>
          <a:xfrm>
            <a:off x="6355080" y="4169664"/>
            <a:ext cx="2423160" cy="274320"/>
          </a:xfrm>
          <a:prstGeom prst="rect">
            <a:avLst/>
          </a:prstGeom>
          <a:noFill/>
          <a:ln/>
        </p:spPr>
        <p:txBody>
          <a:bodyPr wrap="square" lIns="0" tIns="0" rIns="0" bIns="0" rtlCol="0" anchor="ctr"/>
          <a:lstStyle/>
          <a:p>
            <a:pPr marL="0" indent="0" algn="ctr">
              <a:buNone/>
            </a:pPr>
            <a:r>
              <a:rPr lang="en-US" sz="1000" b="1" dirty="0">
                <a:solidFill>
                  <a:srgbClr val="10B981"/>
                </a:solidFill>
                <a:latin typeface="Arial" pitchFamily="34" charset="0"/>
                <a:ea typeface="Arial" pitchFamily="34" charset="-122"/>
                <a:cs typeface="Arial" pitchFamily="34" charset="-120"/>
              </a:rPr>
              <a:t>Chef de programme</a:t>
            </a:r>
            <a:endParaRPr lang="en-US" sz="1000" dirty="0"/>
          </a:p>
        </p:txBody>
      </p:sp>
      <p:sp>
        <p:nvSpPr>
          <p:cNvPr id="29" name="Shape 27"/>
          <p:cNvSpPr/>
          <p:nvPr/>
        </p:nvSpPr>
        <p:spPr>
          <a:xfrm>
            <a:off x="274320" y="4553712"/>
            <a:ext cx="4160520" cy="566928"/>
          </a:xfrm>
          <a:prstGeom prst="roundRect">
            <a:avLst>
              <a:gd name="adj" fmla="val 16129"/>
            </a:avLst>
          </a:prstGeom>
          <a:solidFill>
            <a:srgbClr val="0D1B2A"/>
          </a:solidFill>
          <a:ln w="12700">
            <a:solidFill>
              <a:srgbClr val="0EA5E9"/>
            </a:solidFill>
            <a:prstDash val="solid"/>
          </a:ln>
          <a:effectLst>
            <a:outerShdw blurRad="88900" dist="25400" dir="2700000" algn="bl" rotWithShape="0">
              <a:srgbClr val="000000">
                <a:alpha val="13000"/>
              </a:srgbClr>
            </a:outerShdw>
          </a:effectLst>
        </p:spPr>
      </p:sp>
      <p:sp>
        <p:nvSpPr>
          <p:cNvPr id="30" name="Text 28"/>
          <p:cNvSpPr/>
          <p:nvPr/>
        </p:nvSpPr>
        <p:spPr>
          <a:xfrm>
            <a:off x="411480" y="4608576"/>
            <a:ext cx="3886200" cy="237744"/>
          </a:xfrm>
          <a:prstGeom prst="rect">
            <a:avLst/>
          </a:prstGeom>
          <a:noFill/>
          <a:ln/>
        </p:spPr>
        <p:txBody>
          <a:bodyPr wrap="square" lIns="0" tIns="0" rIns="0" bIns="0" rtlCol="0" anchor="ctr"/>
          <a:lstStyle/>
          <a:p>
            <a:pPr marL="0" indent="0">
              <a:buNone/>
            </a:pPr>
            <a:r>
              <a:rPr lang="en-US" sz="950" dirty="0">
                <a:solidFill>
                  <a:srgbClr val="0EA5E9"/>
                </a:solidFill>
                <a:latin typeface="Courier New" pitchFamily="34" charset="0"/>
                <a:ea typeface="Courier New" pitchFamily="34" charset="-122"/>
                <a:cs typeface="Courier New" pitchFamily="34" charset="-120"/>
              </a:rPr>
              <a:t>// JavaScript Frontend</a:t>
            </a:r>
            <a:endParaRPr lang="en-US" sz="950" dirty="0"/>
          </a:p>
        </p:txBody>
      </p:sp>
      <p:sp>
        <p:nvSpPr>
          <p:cNvPr id="31" name="Text 29"/>
          <p:cNvSpPr/>
          <p:nvPr/>
        </p:nvSpPr>
        <p:spPr>
          <a:xfrm>
            <a:off x="411480" y="4846320"/>
            <a:ext cx="388620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Polling toutes les 30 secondes</a:t>
            </a:r>
            <a:endParaRPr lang="en-US" sz="850" dirty="0"/>
          </a:p>
        </p:txBody>
      </p:sp>
      <p:sp>
        <p:nvSpPr>
          <p:cNvPr id="32" name="Text 30"/>
          <p:cNvSpPr/>
          <p:nvPr/>
        </p:nvSpPr>
        <p:spPr>
          <a:xfrm>
            <a:off x="411480" y="5029200"/>
            <a:ext cx="388620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setInterval(fetchNotifications, 30000);</a:t>
            </a:r>
            <a:endParaRPr lang="en-US" sz="850" dirty="0"/>
          </a:p>
        </p:txBody>
      </p:sp>
      <p:sp>
        <p:nvSpPr>
          <p:cNvPr id="33" name="Text 31"/>
          <p:cNvSpPr/>
          <p:nvPr/>
        </p:nvSpPr>
        <p:spPr>
          <a:xfrm>
            <a:off x="411480" y="5212080"/>
            <a:ext cx="388620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async function fetchNotifications() {</a:t>
            </a:r>
            <a:endParaRPr lang="en-US" sz="850" dirty="0"/>
          </a:p>
        </p:txBody>
      </p:sp>
      <p:sp>
        <p:nvSpPr>
          <p:cNvPr id="34" name="Text 32"/>
          <p:cNvSpPr/>
          <p:nvPr/>
        </p:nvSpPr>
        <p:spPr>
          <a:xfrm>
            <a:off x="411480" y="5394960"/>
            <a:ext cx="388620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const res = await fetch('/api/notifications');</a:t>
            </a:r>
            <a:endParaRPr lang="en-US" sz="850" dirty="0"/>
          </a:p>
        </p:txBody>
      </p:sp>
      <p:sp>
        <p:nvSpPr>
          <p:cNvPr id="35" name="Text 33"/>
          <p:cNvSpPr/>
          <p:nvPr/>
        </p:nvSpPr>
        <p:spPr>
          <a:xfrm>
            <a:off x="411480" y="5577840"/>
            <a:ext cx="388620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const data = await res.json();</a:t>
            </a:r>
            <a:endParaRPr lang="en-US" sz="850" dirty="0"/>
          </a:p>
        </p:txBody>
      </p:sp>
      <p:sp>
        <p:nvSpPr>
          <p:cNvPr id="36" name="Text 34"/>
          <p:cNvSpPr/>
          <p:nvPr/>
        </p:nvSpPr>
        <p:spPr>
          <a:xfrm>
            <a:off x="411480" y="5760720"/>
            <a:ext cx="388620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 Badge rouge si unread_count &gt; 0</a:t>
            </a:r>
            <a:endParaRPr lang="en-US" sz="850" dirty="0"/>
          </a:p>
        </p:txBody>
      </p:sp>
      <p:sp>
        <p:nvSpPr>
          <p:cNvPr id="37" name="Text 35"/>
          <p:cNvSpPr/>
          <p:nvPr/>
        </p:nvSpPr>
        <p:spPr>
          <a:xfrm>
            <a:off x="411480" y="5943600"/>
            <a:ext cx="388620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a:t>
            </a:r>
            <a:endParaRPr lang="en-US" sz="850" dirty="0"/>
          </a:p>
        </p:txBody>
      </p:sp>
      <p:sp>
        <p:nvSpPr>
          <p:cNvPr id="38" name="Shape 36"/>
          <p:cNvSpPr/>
          <p:nvPr/>
        </p:nvSpPr>
        <p:spPr>
          <a:xfrm>
            <a:off x="4572000" y="4553712"/>
            <a:ext cx="4389120" cy="566928"/>
          </a:xfrm>
          <a:prstGeom prst="roundRect">
            <a:avLst>
              <a:gd name="adj" fmla="val 16129"/>
            </a:avLst>
          </a:prstGeom>
          <a:solidFill>
            <a:srgbClr val="D1FAE5"/>
          </a:solidFill>
          <a:ln w="12700">
            <a:solidFill>
              <a:srgbClr val="10B981"/>
            </a:solidFill>
            <a:prstDash val="solid"/>
          </a:ln>
        </p:spPr>
      </p:sp>
      <p:sp>
        <p:nvSpPr>
          <p:cNvPr id="39" name="Text 37"/>
          <p:cNvSpPr/>
          <p:nvPr/>
        </p:nvSpPr>
        <p:spPr>
          <a:xfrm>
            <a:off x="4681728" y="4590288"/>
            <a:ext cx="4169664" cy="256032"/>
          </a:xfrm>
          <a:prstGeom prst="rect">
            <a:avLst/>
          </a:prstGeom>
          <a:noFill/>
          <a:ln/>
        </p:spPr>
        <p:txBody>
          <a:bodyPr wrap="square" lIns="0" tIns="0" rIns="0" bIns="0" rtlCol="0" anchor="ctr"/>
          <a:lstStyle/>
          <a:p>
            <a:pPr marL="0" indent="0">
              <a:buNone/>
            </a:pPr>
            <a:r>
              <a:rPr lang="en-US" sz="1200" b="1" dirty="0">
                <a:solidFill>
                  <a:srgbClr val="10B981"/>
                </a:solidFill>
                <a:latin typeface="Arial" pitchFamily="34" charset="0"/>
                <a:ea typeface="Arial" pitchFamily="34" charset="-122"/>
                <a:cs typeface="Arial" pitchFamily="34" charset="-120"/>
              </a:rPr>
              <a:t>🔒  Scoping par département</a:t>
            </a:r>
            <a:endParaRPr lang="en-US" sz="1200" dirty="0"/>
          </a:p>
        </p:txBody>
      </p:sp>
      <p:sp>
        <p:nvSpPr>
          <p:cNvPr id="40" name="Text 38"/>
          <p:cNvSpPr/>
          <p:nvPr/>
        </p:nvSpPr>
        <p:spPr>
          <a:xfrm>
            <a:off x="4681728" y="4846320"/>
            <a:ext cx="4169664" cy="228600"/>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Un étudiant NTIC ne reçoit JAMAIS les notifs du département DL — cloisonnement par filiere_id dans NotificationService.</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0D1B2A"/>
          </a:solidFill>
          <a:ln w="12700">
            <a:solidFill>
              <a:srgbClr val="0D1B2A"/>
            </a:solidFill>
            <a:prstDash val="solid"/>
          </a:ln>
        </p:spPr>
      </p:sp>
      <p:sp>
        <p:nvSpPr>
          <p:cNvPr id="3" name="Text 1"/>
          <p:cNvSpPr/>
          <p:nvPr/>
        </p:nvSpPr>
        <p:spPr>
          <a:xfrm>
            <a:off x="457200" y="64008"/>
            <a:ext cx="8229600" cy="329184"/>
          </a:xfrm>
          <a:prstGeom prst="rect">
            <a:avLst/>
          </a:prstGeom>
          <a:noFill/>
          <a:ln/>
        </p:spPr>
        <p:txBody>
          <a:bodyPr wrap="square" lIns="0" tIns="0" rIns="0" bIns="0" rtlCol="0" anchor="ctr"/>
          <a:lstStyle/>
          <a:p>
            <a:pPr marL="0" indent="0">
              <a:buNone/>
            </a:pPr>
            <a:r>
              <a:rPr lang="en-US" sz="1000" b="1" kern="0" spc="400" dirty="0">
                <a:solidFill>
                  <a:srgbClr val="0EA5E9"/>
                </a:solidFill>
                <a:latin typeface="Arial" pitchFamily="34" charset="0"/>
                <a:ea typeface="Arial" pitchFamily="34" charset="-122"/>
                <a:cs typeface="Arial" pitchFamily="34" charset="-120"/>
              </a:rPr>
              <a:t>SECTION 13 — PROGRESSION</a:t>
            </a:r>
            <a:endParaRPr lang="en-US" sz="1000" dirty="0"/>
          </a:p>
        </p:txBody>
      </p:sp>
      <p:sp>
        <p:nvSpPr>
          <p:cNvPr id="4" name="Text 2"/>
          <p:cNvSpPr/>
          <p:nvPr/>
        </p:nvSpPr>
        <p:spPr>
          <a:xfrm>
            <a:off x="457200" y="402336"/>
            <a:ext cx="6217920" cy="493776"/>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Passage d'année académique L1→L2</a:t>
            </a:r>
            <a:endParaRPr lang="en-US" sz="2000" dirty="0"/>
          </a:p>
        </p:txBody>
      </p:sp>
      <p:sp>
        <p:nvSpPr>
          <p:cNvPr id="5" name="Text 3"/>
          <p:cNvSpPr/>
          <p:nvPr/>
        </p:nvSpPr>
        <p:spPr>
          <a:xfrm>
            <a:off x="6400800" y="457200"/>
            <a:ext cx="2560320" cy="384048"/>
          </a:xfrm>
          <a:prstGeom prst="rect">
            <a:avLst/>
          </a:prstGeom>
          <a:noFill/>
          <a:ln/>
        </p:spPr>
        <p:txBody>
          <a:bodyPr wrap="square" lIns="0" tIns="0" rIns="0" bIns="0" rtlCol="0" anchor="ctr"/>
          <a:lstStyle/>
          <a:p>
            <a:pPr marL="0" indent="0" algn="r">
              <a:buNone/>
            </a:pPr>
            <a:r>
              <a:rPr lang="en-US" sz="1100" dirty="0">
                <a:solidFill>
                  <a:srgbClr val="0EA5E9"/>
                </a:solidFill>
                <a:latin typeface="Arial" pitchFamily="34" charset="0"/>
                <a:ea typeface="Arial" pitchFamily="34" charset="-122"/>
                <a:cs typeface="Arial" pitchFamily="34" charset="-120"/>
              </a:rPr>
              <a:t>Sécurité &amp; cloisonnement par filière</a:t>
            </a:r>
            <a:endParaRPr lang="en-US" sz="1100" dirty="0"/>
          </a:p>
        </p:txBody>
      </p:sp>
      <p:sp>
        <p:nvSpPr>
          <p:cNvPr id="6" name="Shape 4"/>
          <p:cNvSpPr/>
          <p:nvPr/>
        </p:nvSpPr>
        <p:spPr>
          <a:xfrm>
            <a:off x="274320" y="1051560"/>
            <a:ext cx="8595360" cy="621792"/>
          </a:xfrm>
          <a:prstGeom prst="roundRect">
            <a:avLst>
              <a:gd name="adj" fmla="val 14706"/>
            </a:avLst>
          </a:prstGeom>
          <a:solidFill>
            <a:srgbClr val="DBEAFE"/>
          </a:solidFill>
          <a:ln w="19050">
            <a:solidFill>
              <a:srgbClr val="1B4FD8"/>
            </a:solidFill>
            <a:prstDash val="solid"/>
          </a:ln>
        </p:spPr>
      </p:sp>
      <p:sp>
        <p:nvSpPr>
          <p:cNvPr id="7" name="Text 5"/>
          <p:cNvSpPr/>
          <p:nvPr/>
        </p:nvSpPr>
        <p:spPr>
          <a:xfrm>
            <a:off x="411480" y="1078992"/>
            <a:ext cx="8321040" cy="54864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Problématique : En fin d'année, les L1 doivent passer en L2. Cette opération ne peut être faite que par le chef de programme de ce département — et ne doit affecter QUE les étudiants de cette filière.</a:t>
            </a:r>
            <a:endParaRPr lang="en-US" sz="1100" dirty="0"/>
          </a:p>
        </p:txBody>
      </p:sp>
      <p:sp>
        <p:nvSpPr>
          <p:cNvPr id="8" name="Text 6"/>
          <p:cNvSpPr/>
          <p:nvPr/>
        </p:nvSpPr>
        <p:spPr>
          <a:xfrm>
            <a:off x="274320" y="1828800"/>
            <a:ext cx="8595360" cy="292608"/>
          </a:xfrm>
          <a:prstGeom prst="rect">
            <a:avLst/>
          </a:prstGeom>
          <a:noFill/>
          <a:ln/>
        </p:spPr>
        <p:txBody>
          <a:bodyPr wrap="square" lIns="0" tIns="0" rIns="0" bIns="0" rtlCol="0" anchor="ctr"/>
          <a:lstStyle/>
          <a:p>
            <a:pPr marL="0" indent="0">
              <a:buNone/>
            </a:pPr>
            <a:r>
              <a:rPr lang="en-US" sz="1300" b="1" dirty="0">
                <a:solidFill>
                  <a:srgbClr val="0D1B2A"/>
                </a:solidFill>
                <a:latin typeface="Arial" pitchFamily="34" charset="0"/>
                <a:ea typeface="Arial" pitchFamily="34" charset="-122"/>
                <a:cs typeface="Arial" pitchFamily="34" charset="-120"/>
              </a:rPr>
              <a:t>📡  Endpoints ProgressionController :</a:t>
            </a:r>
            <a:endParaRPr lang="en-US" sz="1300" dirty="0"/>
          </a:p>
        </p:txBody>
      </p:sp>
      <p:sp>
        <p:nvSpPr>
          <p:cNvPr id="9" name="Shape 7"/>
          <p:cNvSpPr/>
          <p:nvPr/>
        </p:nvSpPr>
        <p:spPr>
          <a:xfrm>
            <a:off x="274320" y="2194560"/>
            <a:ext cx="8595360" cy="530352"/>
          </a:xfrm>
          <a:prstGeom prst="roundRect">
            <a:avLst>
              <a:gd name="adj" fmla="val 17241"/>
            </a:avLst>
          </a:prstGeom>
          <a:solidFill>
            <a:srgbClr val="D1FAE5"/>
          </a:solidFill>
          <a:ln w="15240">
            <a:solidFill>
              <a:srgbClr val="10B981"/>
            </a:solidFill>
            <a:prstDash val="solid"/>
          </a:ln>
          <a:effectLst>
            <a:outerShdw blurRad="88900" dist="25400" dir="2700000" algn="bl" rotWithShape="0">
              <a:srgbClr val="000000">
                <a:alpha val="13000"/>
              </a:srgbClr>
            </a:outerShdw>
          </a:effectLst>
        </p:spPr>
      </p:sp>
      <p:sp>
        <p:nvSpPr>
          <p:cNvPr id="10" name="Shape 8"/>
          <p:cNvSpPr/>
          <p:nvPr/>
        </p:nvSpPr>
        <p:spPr>
          <a:xfrm>
            <a:off x="347472" y="2249424"/>
            <a:ext cx="658368" cy="347472"/>
          </a:xfrm>
          <a:prstGeom prst="roundRect">
            <a:avLst>
              <a:gd name="adj" fmla="val 13158"/>
            </a:avLst>
          </a:prstGeom>
          <a:solidFill>
            <a:srgbClr val="10B981"/>
          </a:solidFill>
          <a:ln w="12700">
            <a:solidFill>
              <a:srgbClr val="10B981"/>
            </a:solidFill>
            <a:prstDash val="solid"/>
          </a:ln>
        </p:spPr>
      </p:sp>
      <p:sp>
        <p:nvSpPr>
          <p:cNvPr id="11" name="Text 9"/>
          <p:cNvSpPr/>
          <p:nvPr/>
        </p:nvSpPr>
        <p:spPr>
          <a:xfrm>
            <a:off x="347472" y="2249424"/>
            <a:ext cx="658368"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GET</a:t>
            </a:r>
            <a:endParaRPr lang="en-US" sz="1100" dirty="0"/>
          </a:p>
        </p:txBody>
      </p:sp>
      <p:sp>
        <p:nvSpPr>
          <p:cNvPr id="12" name="Shape 10"/>
          <p:cNvSpPr/>
          <p:nvPr/>
        </p:nvSpPr>
        <p:spPr>
          <a:xfrm>
            <a:off x="1078992" y="2286000"/>
            <a:ext cx="2286000" cy="274320"/>
          </a:xfrm>
          <a:prstGeom prst="roundRect">
            <a:avLst>
              <a:gd name="adj" fmla="val 16667"/>
            </a:avLst>
          </a:prstGeom>
          <a:solidFill>
            <a:srgbClr val="0D1B2A"/>
          </a:solidFill>
          <a:ln w="12700">
            <a:solidFill>
              <a:srgbClr val="0D1B2A"/>
            </a:solidFill>
            <a:prstDash val="solid"/>
          </a:ln>
        </p:spPr>
      </p:sp>
      <p:sp>
        <p:nvSpPr>
          <p:cNvPr id="13" name="Text 11"/>
          <p:cNvSpPr/>
          <p:nvPr/>
        </p:nvSpPr>
        <p:spPr>
          <a:xfrm>
            <a:off x="1115568" y="2286000"/>
            <a:ext cx="2212848" cy="274320"/>
          </a:xfrm>
          <a:prstGeom prst="rect">
            <a:avLst/>
          </a:prstGeom>
          <a:noFill/>
          <a:ln/>
        </p:spPr>
        <p:txBody>
          <a:bodyPr wrap="square" lIns="0" tIns="0" rIns="0" bIns="0" rtlCol="0" anchor="ctr"/>
          <a:lstStyle/>
          <a:p>
            <a:pPr marL="0" indent="0">
              <a:buNone/>
            </a:pPr>
            <a:r>
              <a:rPr lang="en-US" sz="1000" dirty="0">
                <a:solidFill>
                  <a:srgbClr val="6EE7B7"/>
                </a:solidFill>
                <a:latin typeface="Courier New" pitchFamily="34" charset="0"/>
                <a:ea typeface="Courier New" pitchFamily="34" charset="-122"/>
                <a:cs typeface="Courier New" pitchFamily="34" charset="-120"/>
              </a:rPr>
              <a:t>/api/chef/niveaux</a:t>
            </a:r>
            <a:endParaRPr lang="en-US" sz="1000" dirty="0"/>
          </a:p>
        </p:txBody>
      </p:sp>
      <p:sp>
        <p:nvSpPr>
          <p:cNvPr id="14" name="Text 12"/>
          <p:cNvSpPr/>
          <p:nvPr/>
        </p:nvSpPr>
        <p:spPr>
          <a:xfrm>
            <a:off x="3456432" y="2304288"/>
            <a:ext cx="5321808" cy="402336"/>
          </a:xfrm>
          <a:prstGeom prst="rect">
            <a:avLst/>
          </a:prstGeom>
          <a:noFill/>
          <a:ln/>
        </p:spPr>
        <p:txBody>
          <a:bodyPr wrap="square" lIns="0" tIns="0" rIns="0" bIns="0" rtlCol="0" anchor="ctr"/>
          <a:lstStyle/>
          <a:p>
            <a:pPr marL="0" indent="0">
              <a:buNone/>
            </a:pPr>
            <a:r>
              <a:rPr lang="en-US" sz="1050" dirty="0">
                <a:solidFill>
                  <a:srgbClr val="1E293B"/>
                </a:solidFill>
                <a:latin typeface="Arial" pitchFamily="34" charset="0"/>
                <a:ea typeface="Arial" pitchFamily="34" charset="-122"/>
                <a:cs typeface="Arial" pitchFamily="34" charset="-120"/>
              </a:rPr>
              <a:t>Retourne les niveaux de la filière du chef connecté avec le nombre d'étudiants par niveau</a:t>
            </a:r>
            <a:endParaRPr lang="en-US" sz="1050" dirty="0"/>
          </a:p>
        </p:txBody>
      </p:sp>
      <p:sp>
        <p:nvSpPr>
          <p:cNvPr id="15" name="Shape 13"/>
          <p:cNvSpPr/>
          <p:nvPr/>
        </p:nvSpPr>
        <p:spPr>
          <a:xfrm>
            <a:off x="274320" y="2788920"/>
            <a:ext cx="8595360" cy="530352"/>
          </a:xfrm>
          <a:prstGeom prst="roundRect">
            <a:avLst>
              <a:gd name="adj" fmla="val 17241"/>
            </a:avLst>
          </a:prstGeom>
          <a:solidFill>
            <a:srgbClr val="DBEAFE"/>
          </a:solidFill>
          <a:ln w="15240">
            <a:solidFill>
              <a:srgbClr val="1B4FD8"/>
            </a:solidFill>
            <a:prstDash val="solid"/>
          </a:ln>
          <a:effectLst>
            <a:outerShdw blurRad="88900" dist="25400" dir="2700000" algn="bl" rotWithShape="0">
              <a:srgbClr val="000000">
                <a:alpha val="13000"/>
              </a:srgbClr>
            </a:outerShdw>
          </a:effectLst>
        </p:spPr>
      </p:sp>
      <p:sp>
        <p:nvSpPr>
          <p:cNvPr id="16" name="Shape 14"/>
          <p:cNvSpPr/>
          <p:nvPr/>
        </p:nvSpPr>
        <p:spPr>
          <a:xfrm>
            <a:off x="347472" y="2843784"/>
            <a:ext cx="658368" cy="347472"/>
          </a:xfrm>
          <a:prstGeom prst="roundRect">
            <a:avLst>
              <a:gd name="adj" fmla="val 13158"/>
            </a:avLst>
          </a:prstGeom>
          <a:solidFill>
            <a:srgbClr val="1B4FD8"/>
          </a:solidFill>
          <a:ln w="12700">
            <a:solidFill>
              <a:srgbClr val="1B4FD8"/>
            </a:solidFill>
            <a:prstDash val="solid"/>
          </a:ln>
        </p:spPr>
      </p:sp>
      <p:sp>
        <p:nvSpPr>
          <p:cNvPr id="17" name="Text 15"/>
          <p:cNvSpPr/>
          <p:nvPr/>
        </p:nvSpPr>
        <p:spPr>
          <a:xfrm>
            <a:off x="347472" y="2843784"/>
            <a:ext cx="658368"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POST</a:t>
            </a:r>
            <a:endParaRPr lang="en-US" sz="1100" dirty="0"/>
          </a:p>
        </p:txBody>
      </p:sp>
      <p:sp>
        <p:nvSpPr>
          <p:cNvPr id="18" name="Shape 16"/>
          <p:cNvSpPr/>
          <p:nvPr/>
        </p:nvSpPr>
        <p:spPr>
          <a:xfrm>
            <a:off x="1078992" y="2880360"/>
            <a:ext cx="2286000" cy="274320"/>
          </a:xfrm>
          <a:prstGeom prst="roundRect">
            <a:avLst>
              <a:gd name="adj" fmla="val 16667"/>
            </a:avLst>
          </a:prstGeom>
          <a:solidFill>
            <a:srgbClr val="0D1B2A"/>
          </a:solidFill>
          <a:ln w="12700">
            <a:solidFill>
              <a:srgbClr val="0D1B2A"/>
            </a:solidFill>
            <a:prstDash val="solid"/>
          </a:ln>
        </p:spPr>
      </p:sp>
      <p:sp>
        <p:nvSpPr>
          <p:cNvPr id="19" name="Text 17"/>
          <p:cNvSpPr/>
          <p:nvPr/>
        </p:nvSpPr>
        <p:spPr>
          <a:xfrm>
            <a:off x="1115568" y="2880360"/>
            <a:ext cx="2212848" cy="274320"/>
          </a:xfrm>
          <a:prstGeom prst="rect">
            <a:avLst/>
          </a:prstGeom>
          <a:noFill/>
          <a:ln/>
        </p:spPr>
        <p:txBody>
          <a:bodyPr wrap="square" lIns="0" tIns="0" rIns="0" bIns="0" rtlCol="0" anchor="ctr"/>
          <a:lstStyle/>
          <a:p>
            <a:pPr marL="0" indent="0">
              <a:buNone/>
            </a:pPr>
            <a:r>
              <a:rPr lang="en-US" sz="1000" dirty="0">
                <a:solidFill>
                  <a:srgbClr val="6EE7B7"/>
                </a:solidFill>
                <a:latin typeface="Courier New" pitchFamily="34" charset="0"/>
                <a:ea typeface="Courier New" pitchFamily="34" charset="-122"/>
                <a:cs typeface="Courier New" pitchFamily="34" charset="-120"/>
              </a:rPr>
              <a:t>/api/chef/progression</a:t>
            </a:r>
            <a:endParaRPr lang="en-US" sz="1000" dirty="0"/>
          </a:p>
        </p:txBody>
      </p:sp>
      <p:sp>
        <p:nvSpPr>
          <p:cNvPr id="20" name="Text 18"/>
          <p:cNvSpPr/>
          <p:nvPr/>
        </p:nvSpPr>
        <p:spPr>
          <a:xfrm>
            <a:off x="3456432" y="2898648"/>
            <a:ext cx="5321808" cy="402336"/>
          </a:xfrm>
          <a:prstGeom prst="rect">
            <a:avLst/>
          </a:prstGeom>
          <a:noFill/>
          <a:ln/>
        </p:spPr>
        <p:txBody>
          <a:bodyPr wrap="square" lIns="0" tIns="0" rIns="0" bIns="0" rtlCol="0" anchor="ctr"/>
          <a:lstStyle/>
          <a:p>
            <a:pPr marL="0" indent="0">
              <a:buNone/>
            </a:pPr>
            <a:r>
              <a:rPr lang="en-US" sz="1050" dirty="0">
                <a:solidFill>
                  <a:srgbClr val="1E293B"/>
                </a:solidFill>
                <a:latin typeface="Arial" pitchFamily="34" charset="0"/>
                <a:ea typeface="Arial" pitchFamily="34" charset="-122"/>
                <a:cs typeface="Arial" pitchFamily="34" charset="-120"/>
              </a:rPr>
              <a:t>Déplace tous les étudiants d'un niveau source vers un niveau cible dans la filière du chef</a:t>
            </a:r>
            <a:endParaRPr lang="en-US" sz="1050" dirty="0"/>
          </a:p>
        </p:txBody>
      </p:sp>
      <p:sp>
        <p:nvSpPr>
          <p:cNvPr id="21" name="Text 19"/>
          <p:cNvSpPr/>
          <p:nvPr/>
        </p:nvSpPr>
        <p:spPr>
          <a:xfrm>
            <a:off x="274320" y="3520440"/>
            <a:ext cx="8595360" cy="292608"/>
          </a:xfrm>
          <a:prstGeom prst="rect">
            <a:avLst/>
          </a:prstGeom>
          <a:noFill/>
          <a:ln/>
        </p:spPr>
        <p:txBody>
          <a:bodyPr wrap="square" lIns="0" tIns="0" rIns="0" bIns="0" rtlCol="0" anchor="ctr"/>
          <a:lstStyle/>
          <a:p>
            <a:pPr marL="0" indent="0">
              <a:buNone/>
            </a:pPr>
            <a:r>
              <a:rPr lang="en-US" sz="1300" b="1" dirty="0">
                <a:solidFill>
                  <a:srgbClr val="0D1B2A"/>
                </a:solidFill>
                <a:latin typeface="Arial" pitchFamily="34" charset="0"/>
                <a:ea typeface="Arial" pitchFamily="34" charset="-122"/>
                <a:cs typeface="Arial" pitchFamily="34" charset="-120"/>
              </a:rPr>
              <a:t>🔒  Validations de sécurité appliquées :</a:t>
            </a:r>
            <a:endParaRPr lang="en-US" sz="1300" dirty="0"/>
          </a:p>
        </p:txBody>
      </p:sp>
      <p:sp>
        <p:nvSpPr>
          <p:cNvPr id="22" name="Shape 20"/>
          <p:cNvSpPr/>
          <p:nvPr/>
        </p:nvSpPr>
        <p:spPr>
          <a:xfrm>
            <a:off x="274320" y="3886200"/>
            <a:ext cx="2084832" cy="1207008"/>
          </a:xfrm>
          <a:prstGeom prst="roundRect">
            <a:avLst>
              <a:gd name="adj" fmla="val 9091"/>
            </a:avLst>
          </a:prstGeom>
          <a:solidFill>
            <a:srgbClr val="FEE2E2"/>
          </a:solidFill>
          <a:ln w="19050">
            <a:solidFill>
              <a:srgbClr val="EF4444"/>
            </a:solidFill>
            <a:prstDash val="solid"/>
          </a:ln>
          <a:effectLst>
            <a:outerShdw blurRad="88900" dist="25400" dir="2700000" algn="bl" rotWithShape="0">
              <a:srgbClr val="000000">
                <a:alpha val="13000"/>
              </a:srgbClr>
            </a:outerShdw>
          </a:effectLst>
        </p:spPr>
      </p:sp>
      <p:sp>
        <p:nvSpPr>
          <p:cNvPr id="23" name="Shape 21"/>
          <p:cNvSpPr/>
          <p:nvPr/>
        </p:nvSpPr>
        <p:spPr>
          <a:xfrm>
            <a:off x="365760" y="3950208"/>
            <a:ext cx="457200" cy="274320"/>
          </a:xfrm>
          <a:prstGeom prst="roundRect">
            <a:avLst>
              <a:gd name="adj" fmla="val 16667"/>
            </a:avLst>
          </a:prstGeom>
          <a:solidFill>
            <a:srgbClr val="EF4444"/>
          </a:solidFill>
          <a:ln w="12700">
            <a:solidFill>
              <a:srgbClr val="EF4444"/>
            </a:solidFill>
            <a:prstDash val="solid"/>
          </a:ln>
        </p:spPr>
      </p:sp>
      <p:sp>
        <p:nvSpPr>
          <p:cNvPr id="24" name="Text 22"/>
          <p:cNvSpPr/>
          <p:nvPr/>
        </p:nvSpPr>
        <p:spPr>
          <a:xfrm>
            <a:off x="365760" y="3950208"/>
            <a:ext cx="4572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V1</a:t>
            </a:r>
            <a:endParaRPr lang="en-US" sz="1000" dirty="0"/>
          </a:p>
        </p:txBody>
      </p:sp>
      <p:sp>
        <p:nvSpPr>
          <p:cNvPr id="25" name="Text 23"/>
          <p:cNvSpPr/>
          <p:nvPr/>
        </p:nvSpPr>
        <p:spPr>
          <a:xfrm>
            <a:off x="365760" y="4279392"/>
            <a:ext cx="1901952" cy="292608"/>
          </a:xfrm>
          <a:prstGeom prst="rect">
            <a:avLst/>
          </a:prstGeom>
          <a:noFill/>
          <a:ln/>
        </p:spPr>
        <p:txBody>
          <a:bodyPr wrap="square" lIns="0" tIns="0" rIns="0" bIns="0" rtlCol="0" anchor="ctr"/>
          <a:lstStyle/>
          <a:p>
            <a:pPr marL="0" indent="0">
              <a:buNone/>
            </a:pPr>
            <a:r>
              <a:rPr lang="en-US" sz="1100" b="1" dirty="0">
                <a:solidFill>
                  <a:srgbClr val="EF4444"/>
                </a:solidFill>
                <a:latin typeface="Arial" pitchFamily="34" charset="0"/>
                <a:ea typeface="Arial" pitchFamily="34" charset="-122"/>
                <a:cs typeface="Arial" pitchFamily="34" charset="-120"/>
              </a:rPr>
              <a:t>Vérification rôle</a:t>
            </a:r>
            <a:endParaRPr lang="en-US" sz="1100" dirty="0"/>
          </a:p>
        </p:txBody>
      </p:sp>
      <p:sp>
        <p:nvSpPr>
          <p:cNvPr id="26" name="Text 24"/>
          <p:cNvSpPr/>
          <p:nvPr/>
        </p:nvSpPr>
        <p:spPr>
          <a:xfrm>
            <a:off x="365760" y="4590288"/>
            <a:ext cx="1901952" cy="43891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L'utilisateur doit être authentifié comme chef de programme</a:t>
            </a:r>
            <a:endParaRPr lang="en-US" sz="950" dirty="0"/>
          </a:p>
        </p:txBody>
      </p:sp>
      <p:sp>
        <p:nvSpPr>
          <p:cNvPr id="27" name="Shape 25"/>
          <p:cNvSpPr/>
          <p:nvPr/>
        </p:nvSpPr>
        <p:spPr>
          <a:xfrm>
            <a:off x="2468880" y="3886200"/>
            <a:ext cx="2084832" cy="1207008"/>
          </a:xfrm>
          <a:prstGeom prst="roundRect">
            <a:avLst>
              <a:gd name="adj" fmla="val 9091"/>
            </a:avLst>
          </a:prstGeom>
          <a:solidFill>
            <a:srgbClr val="FEF3C7"/>
          </a:solidFill>
          <a:ln w="19050">
            <a:solidFill>
              <a:srgbClr val="F59E0B"/>
            </a:solidFill>
            <a:prstDash val="solid"/>
          </a:ln>
          <a:effectLst>
            <a:outerShdw blurRad="88900" dist="25400" dir="2700000" algn="bl" rotWithShape="0">
              <a:srgbClr val="000000">
                <a:alpha val="13000"/>
              </a:srgbClr>
            </a:outerShdw>
          </a:effectLst>
        </p:spPr>
      </p:sp>
      <p:sp>
        <p:nvSpPr>
          <p:cNvPr id="28" name="Shape 26"/>
          <p:cNvSpPr/>
          <p:nvPr/>
        </p:nvSpPr>
        <p:spPr>
          <a:xfrm>
            <a:off x="2560320" y="3950208"/>
            <a:ext cx="457200" cy="274320"/>
          </a:xfrm>
          <a:prstGeom prst="roundRect">
            <a:avLst>
              <a:gd name="adj" fmla="val 16667"/>
            </a:avLst>
          </a:prstGeom>
          <a:solidFill>
            <a:srgbClr val="F59E0B"/>
          </a:solidFill>
          <a:ln w="12700">
            <a:solidFill>
              <a:srgbClr val="F59E0B"/>
            </a:solidFill>
            <a:prstDash val="solid"/>
          </a:ln>
        </p:spPr>
      </p:sp>
      <p:sp>
        <p:nvSpPr>
          <p:cNvPr id="29" name="Text 27"/>
          <p:cNvSpPr/>
          <p:nvPr/>
        </p:nvSpPr>
        <p:spPr>
          <a:xfrm>
            <a:off x="2560320" y="3950208"/>
            <a:ext cx="4572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V2</a:t>
            </a:r>
            <a:endParaRPr lang="en-US" sz="1000" dirty="0"/>
          </a:p>
        </p:txBody>
      </p:sp>
      <p:sp>
        <p:nvSpPr>
          <p:cNvPr id="30" name="Text 28"/>
          <p:cNvSpPr/>
          <p:nvPr/>
        </p:nvSpPr>
        <p:spPr>
          <a:xfrm>
            <a:off x="2560320" y="4279392"/>
            <a:ext cx="1901952" cy="292608"/>
          </a:xfrm>
          <a:prstGeom prst="rect">
            <a:avLst/>
          </a:prstGeom>
          <a:noFill/>
          <a:ln/>
        </p:spPr>
        <p:txBody>
          <a:bodyPr wrap="square" lIns="0" tIns="0" rIns="0" bIns="0" rtlCol="0" anchor="ctr"/>
          <a:lstStyle/>
          <a:p>
            <a:pPr marL="0" indent="0">
              <a:buNone/>
            </a:pPr>
            <a:r>
              <a:rPr lang="en-US" sz="1100" b="1" dirty="0">
                <a:solidFill>
                  <a:srgbClr val="F59E0B"/>
                </a:solidFill>
                <a:latin typeface="Arial" pitchFamily="34" charset="0"/>
                <a:ea typeface="Arial" pitchFamily="34" charset="-122"/>
                <a:cs typeface="Arial" pitchFamily="34" charset="-120"/>
              </a:rPr>
              <a:t>Vérification filière source</a:t>
            </a:r>
            <a:endParaRPr lang="en-US" sz="1100" dirty="0"/>
          </a:p>
        </p:txBody>
      </p:sp>
      <p:sp>
        <p:nvSpPr>
          <p:cNvPr id="31" name="Text 29"/>
          <p:cNvSpPr/>
          <p:nvPr/>
        </p:nvSpPr>
        <p:spPr>
          <a:xfrm>
            <a:off x="2560320" y="4590288"/>
            <a:ext cx="1901952" cy="43891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Le niveau source doit appartenir à la filière du chef connecté</a:t>
            </a:r>
            <a:endParaRPr lang="en-US" sz="950" dirty="0"/>
          </a:p>
        </p:txBody>
      </p:sp>
      <p:sp>
        <p:nvSpPr>
          <p:cNvPr id="32" name="Shape 30"/>
          <p:cNvSpPr/>
          <p:nvPr/>
        </p:nvSpPr>
        <p:spPr>
          <a:xfrm>
            <a:off x="4663440" y="3886200"/>
            <a:ext cx="2084832" cy="1207008"/>
          </a:xfrm>
          <a:prstGeom prst="roundRect">
            <a:avLst>
              <a:gd name="adj" fmla="val 9091"/>
            </a:avLst>
          </a:prstGeom>
          <a:solidFill>
            <a:srgbClr val="D1FAE5"/>
          </a:solidFill>
          <a:ln w="19050">
            <a:solidFill>
              <a:srgbClr val="10B981"/>
            </a:solidFill>
            <a:prstDash val="solid"/>
          </a:ln>
          <a:effectLst>
            <a:outerShdw blurRad="88900" dist="25400" dir="2700000" algn="bl" rotWithShape="0">
              <a:srgbClr val="000000">
                <a:alpha val="13000"/>
              </a:srgbClr>
            </a:outerShdw>
          </a:effectLst>
        </p:spPr>
      </p:sp>
      <p:sp>
        <p:nvSpPr>
          <p:cNvPr id="33" name="Shape 31"/>
          <p:cNvSpPr/>
          <p:nvPr/>
        </p:nvSpPr>
        <p:spPr>
          <a:xfrm>
            <a:off x="4754880" y="3950208"/>
            <a:ext cx="457200" cy="274320"/>
          </a:xfrm>
          <a:prstGeom prst="roundRect">
            <a:avLst>
              <a:gd name="adj" fmla="val 16667"/>
            </a:avLst>
          </a:prstGeom>
          <a:solidFill>
            <a:srgbClr val="10B981"/>
          </a:solidFill>
          <a:ln w="12700">
            <a:solidFill>
              <a:srgbClr val="10B981"/>
            </a:solidFill>
            <a:prstDash val="solid"/>
          </a:ln>
        </p:spPr>
      </p:sp>
      <p:sp>
        <p:nvSpPr>
          <p:cNvPr id="34" name="Text 32"/>
          <p:cNvSpPr/>
          <p:nvPr/>
        </p:nvSpPr>
        <p:spPr>
          <a:xfrm>
            <a:off x="4754880" y="3950208"/>
            <a:ext cx="4572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V3</a:t>
            </a:r>
            <a:endParaRPr lang="en-US" sz="1000" dirty="0"/>
          </a:p>
        </p:txBody>
      </p:sp>
      <p:sp>
        <p:nvSpPr>
          <p:cNvPr id="35" name="Text 33"/>
          <p:cNvSpPr/>
          <p:nvPr/>
        </p:nvSpPr>
        <p:spPr>
          <a:xfrm>
            <a:off x="4754880" y="4279392"/>
            <a:ext cx="1901952" cy="292608"/>
          </a:xfrm>
          <a:prstGeom prst="rect">
            <a:avLst/>
          </a:prstGeom>
          <a:noFill/>
          <a:ln/>
        </p:spPr>
        <p:txBody>
          <a:bodyPr wrap="square" lIns="0" tIns="0" rIns="0" bIns="0" rtlCol="0" anchor="ctr"/>
          <a:lstStyle/>
          <a:p>
            <a:pPr marL="0" indent="0">
              <a:buNone/>
            </a:pPr>
            <a:r>
              <a:rPr lang="en-US" sz="1100" b="1" dirty="0">
                <a:solidFill>
                  <a:srgbClr val="10B981"/>
                </a:solidFill>
                <a:latin typeface="Arial" pitchFamily="34" charset="0"/>
                <a:ea typeface="Arial" pitchFamily="34" charset="-122"/>
                <a:cs typeface="Arial" pitchFamily="34" charset="-120"/>
              </a:rPr>
              <a:t>Vérification filière cible</a:t>
            </a:r>
            <a:endParaRPr lang="en-US" sz="1100" dirty="0"/>
          </a:p>
        </p:txBody>
      </p:sp>
      <p:sp>
        <p:nvSpPr>
          <p:cNvPr id="36" name="Text 34"/>
          <p:cNvSpPr/>
          <p:nvPr/>
        </p:nvSpPr>
        <p:spPr>
          <a:xfrm>
            <a:off x="4754880" y="4590288"/>
            <a:ext cx="1901952" cy="43891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Le niveau cible doit appartenir à la même filière du chef</a:t>
            </a:r>
            <a:endParaRPr lang="en-US" sz="950" dirty="0"/>
          </a:p>
        </p:txBody>
      </p:sp>
      <p:sp>
        <p:nvSpPr>
          <p:cNvPr id="37" name="Shape 35"/>
          <p:cNvSpPr/>
          <p:nvPr/>
        </p:nvSpPr>
        <p:spPr>
          <a:xfrm>
            <a:off x="6858000" y="3886200"/>
            <a:ext cx="2084832" cy="1207008"/>
          </a:xfrm>
          <a:prstGeom prst="roundRect">
            <a:avLst>
              <a:gd name="adj" fmla="val 9091"/>
            </a:avLst>
          </a:prstGeom>
          <a:solidFill>
            <a:srgbClr val="DBEAFE"/>
          </a:solidFill>
          <a:ln w="19050">
            <a:solidFill>
              <a:srgbClr val="1B4FD8"/>
            </a:solidFill>
            <a:prstDash val="solid"/>
          </a:ln>
          <a:effectLst>
            <a:outerShdw blurRad="88900" dist="25400" dir="2700000" algn="bl" rotWithShape="0">
              <a:srgbClr val="000000">
                <a:alpha val="13000"/>
              </a:srgbClr>
            </a:outerShdw>
          </a:effectLst>
        </p:spPr>
      </p:sp>
      <p:sp>
        <p:nvSpPr>
          <p:cNvPr id="38" name="Shape 36"/>
          <p:cNvSpPr/>
          <p:nvPr/>
        </p:nvSpPr>
        <p:spPr>
          <a:xfrm>
            <a:off x="6949440" y="3950208"/>
            <a:ext cx="457200" cy="274320"/>
          </a:xfrm>
          <a:prstGeom prst="roundRect">
            <a:avLst>
              <a:gd name="adj" fmla="val 16667"/>
            </a:avLst>
          </a:prstGeom>
          <a:solidFill>
            <a:srgbClr val="1B4FD8"/>
          </a:solidFill>
          <a:ln w="12700">
            <a:solidFill>
              <a:srgbClr val="1B4FD8"/>
            </a:solidFill>
            <a:prstDash val="solid"/>
          </a:ln>
        </p:spPr>
      </p:sp>
      <p:sp>
        <p:nvSpPr>
          <p:cNvPr id="39" name="Text 37"/>
          <p:cNvSpPr/>
          <p:nvPr/>
        </p:nvSpPr>
        <p:spPr>
          <a:xfrm>
            <a:off x="6949440" y="3950208"/>
            <a:ext cx="4572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V4</a:t>
            </a:r>
            <a:endParaRPr lang="en-US" sz="1000" dirty="0"/>
          </a:p>
        </p:txBody>
      </p:sp>
      <p:sp>
        <p:nvSpPr>
          <p:cNvPr id="40" name="Text 38"/>
          <p:cNvSpPr/>
          <p:nvPr/>
        </p:nvSpPr>
        <p:spPr>
          <a:xfrm>
            <a:off x="6949440" y="4279392"/>
            <a:ext cx="1901952" cy="292608"/>
          </a:xfrm>
          <a:prstGeom prst="rect">
            <a:avLst/>
          </a:prstGeom>
          <a:noFill/>
          <a:ln/>
        </p:spPr>
        <p:txBody>
          <a:bodyPr wrap="square" lIns="0" tIns="0" rIns="0" bIns="0" rtlCol="0" anchor="ctr"/>
          <a:lstStyle/>
          <a:p>
            <a:pPr marL="0" indent="0">
              <a:buNone/>
            </a:pPr>
            <a:r>
              <a:rPr lang="en-US" sz="1100" b="1" dirty="0">
                <a:solidFill>
                  <a:srgbClr val="1B4FD8"/>
                </a:solidFill>
                <a:latin typeface="Arial" pitchFamily="34" charset="0"/>
                <a:ea typeface="Arial" pitchFamily="34" charset="-122"/>
                <a:cs typeface="Arial" pitchFamily="34" charset="-120"/>
              </a:rPr>
              <a:t>Notification individuelle</a:t>
            </a:r>
            <a:endParaRPr lang="en-US" sz="1100" dirty="0"/>
          </a:p>
        </p:txBody>
      </p:sp>
      <p:sp>
        <p:nvSpPr>
          <p:cNvPr id="41" name="Text 39"/>
          <p:cNvSpPr/>
          <p:nvPr/>
        </p:nvSpPr>
        <p:spPr>
          <a:xfrm>
            <a:off x="6949440" y="4590288"/>
            <a:ext cx="1901952" cy="438912"/>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Chaque étudiant promu reçoit une notification personnalisée</a:t>
            </a:r>
            <a:endParaRPr lang="en-US" sz="950" dirty="0"/>
          </a:p>
        </p:txBody>
      </p:sp>
      <p:sp>
        <p:nvSpPr>
          <p:cNvPr id="42" name="Shape 40"/>
          <p:cNvSpPr/>
          <p:nvPr/>
        </p:nvSpPr>
        <p:spPr>
          <a:xfrm>
            <a:off x="274320" y="5138928"/>
            <a:ext cx="8595360" cy="384048"/>
          </a:xfrm>
          <a:prstGeom prst="roundRect">
            <a:avLst>
              <a:gd name="adj" fmla="val 19048"/>
            </a:avLst>
          </a:prstGeom>
          <a:solidFill>
            <a:srgbClr val="D1FAE5"/>
          </a:solidFill>
          <a:ln w="12700">
            <a:solidFill>
              <a:srgbClr val="10B981"/>
            </a:solidFill>
            <a:prstDash val="solid"/>
          </a:ln>
        </p:spPr>
      </p:sp>
      <p:sp>
        <p:nvSpPr>
          <p:cNvPr id="43" name="Text 41"/>
          <p:cNvSpPr/>
          <p:nvPr/>
        </p:nvSpPr>
        <p:spPr>
          <a:xfrm>
            <a:off x="411480" y="5138928"/>
            <a:ext cx="8321040" cy="384048"/>
          </a:xfrm>
          <a:prstGeom prst="rect">
            <a:avLst/>
          </a:prstGeom>
          <a:noFill/>
          <a:ln/>
        </p:spPr>
        <p:txBody>
          <a:bodyPr wrap="square" lIns="0" tIns="0" rIns="0" bIns="0" rtlCol="0" anchor="ctr"/>
          <a:lstStyle/>
          <a:p>
            <a:pPr marL="0" indent="0">
              <a:buNone/>
            </a:pPr>
            <a:r>
              <a:rPr lang="en-US" sz="1100" b="1" dirty="0">
                <a:solidFill>
                  <a:srgbClr val="10B981"/>
                </a:solidFill>
                <a:latin typeface="Arial" pitchFamily="34" charset="0"/>
                <a:ea typeface="Arial" pitchFamily="34" charset="-122"/>
                <a:cs typeface="Arial" pitchFamily="34" charset="-120"/>
              </a:rPr>
              <a:t>✅  Résultat : Chef NTIC lance L1→L2 → SEULEMENT les étudiants NTIC-L1 sont déplacés vers NTIC-L2. Les étudiants DL ne sont PAS affectés.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0D1B2A"/>
          </a:solidFill>
          <a:ln w="12700">
            <a:solidFill>
              <a:srgbClr val="0D1B2A"/>
            </a:solidFill>
            <a:prstDash val="solid"/>
          </a:ln>
        </p:spPr>
      </p:sp>
      <p:sp>
        <p:nvSpPr>
          <p:cNvPr id="3" name="Text 1"/>
          <p:cNvSpPr/>
          <p:nvPr/>
        </p:nvSpPr>
        <p:spPr>
          <a:xfrm>
            <a:off x="457200" y="64008"/>
            <a:ext cx="8229600" cy="329184"/>
          </a:xfrm>
          <a:prstGeom prst="rect">
            <a:avLst/>
          </a:prstGeom>
          <a:noFill/>
          <a:ln/>
        </p:spPr>
        <p:txBody>
          <a:bodyPr wrap="square" lIns="0" tIns="0" rIns="0" bIns="0" rtlCol="0" anchor="ctr"/>
          <a:lstStyle/>
          <a:p>
            <a:pPr marL="0" indent="0">
              <a:buNone/>
            </a:pPr>
            <a:r>
              <a:rPr lang="en-US" sz="1000" b="1" kern="0" spc="400" dirty="0">
                <a:solidFill>
                  <a:srgbClr val="0EA5E9"/>
                </a:solidFill>
                <a:latin typeface="Arial" pitchFamily="34" charset="0"/>
                <a:ea typeface="Arial" pitchFamily="34" charset="-122"/>
                <a:cs typeface="Arial" pitchFamily="34" charset="-120"/>
              </a:rPr>
              <a:t>SECTION 14 — DÉFIS TECHNIQUES</a:t>
            </a:r>
            <a:endParaRPr lang="en-US" sz="1000" dirty="0"/>
          </a:p>
        </p:txBody>
      </p:sp>
      <p:sp>
        <p:nvSpPr>
          <p:cNvPr id="4" name="Text 2"/>
          <p:cNvSpPr/>
          <p:nvPr/>
        </p:nvSpPr>
        <p:spPr>
          <a:xfrm>
            <a:off x="457200" y="402336"/>
            <a:ext cx="6217920" cy="493776"/>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Problèmes rencontrés &amp; Solutions appliquées</a:t>
            </a:r>
            <a:endParaRPr lang="en-US" sz="2000" dirty="0"/>
          </a:p>
        </p:txBody>
      </p:sp>
      <p:sp>
        <p:nvSpPr>
          <p:cNvPr id="5" name="Text 3"/>
          <p:cNvSpPr/>
          <p:nvPr/>
        </p:nvSpPr>
        <p:spPr>
          <a:xfrm>
            <a:off x="6400800" y="457200"/>
            <a:ext cx="2560320" cy="384048"/>
          </a:xfrm>
          <a:prstGeom prst="rect">
            <a:avLst/>
          </a:prstGeom>
          <a:noFill/>
          <a:ln/>
        </p:spPr>
        <p:txBody>
          <a:bodyPr wrap="square" lIns="0" tIns="0" rIns="0" bIns="0" rtlCol="0" anchor="ctr"/>
          <a:lstStyle/>
          <a:p>
            <a:pPr marL="0" indent="0" algn="r">
              <a:buNone/>
            </a:pPr>
            <a:r>
              <a:rPr lang="en-US" sz="1100" dirty="0">
                <a:solidFill>
                  <a:srgbClr val="0EA5E9"/>
                </a:solidFill>
                <a:latin typeface="Arial" pitchFamily="34" charset="0"/>
                <a:ea typeface="Arial" pitchFamily="34" charset="-122"/>
                <a:cs typeface="Arial" pitchFamily="34" charset="-120"/>
              </a:rPr>
              <a:t>8 défis résolus</a:t>
            </a:r>
            <a:endParaRPr lang="en-US" sz="1100" dirty="0"/>
          </a:p>
        </p:txBody>
      </p:sp>
      <p:sp>
        <p:nvSpPr>
          <p:cNvPr id="6" name="Shape 4"/>
          <p:cNvSpPr/>
          <p:nvPr/>
        </p:nvSpPr>
        <p:spPr>
          <a:xfrm>
            <a:off x="274320" y="1051560"/>
            <a:ext cx="8595360" cy="530352"/>
          </a:xfrm>
          <a:prstGeom prst="roundRect">
            <a:avLst>
              <a:gd name="adj" fmla="val 17241"/>
            </a:avLst>
          </a:prstGeom>
          <a:solidFill>
            <a:srgbClr val="FEE2E2"/>
          </a:solidFill>
          <a:ln w="15240">
            <a:solidFill>
              <a:srgbClr val="EF4444"/>
            </a:solidFill>
            <a:prstDash val="solid"/>
          </a:ln>
          <a:effectLst>
            <a:outerShdw blurRad="88900" dist="25400" dir="2700000" algn="bl" rotWithShape="0">
              <a:srgbClr val="000000">
                <a:alpha val="13000"/>
              </a:srgbClr>
            </a:outerShdw>
          </a:effectLst>
        </p:spPr>
      </p:sp>
      <p:sp>
        <p:nvSpPr>
          <p:cNvPr id="7" name="Text 5"/>
          <p:cNvSpPr/>
          <p:nvPr/>
        </p:nvSpPr>
        <p:spPr>
          <a:xfrm>
            <a:off x="347472" y="1106424"/>
            <a:ext cx="292608" cy="402336"/>
          </a:xfrm>
          <a:prstGeom prst="rect">
            <a:avLst/>
          </a:prstGeom>
          <a:noFill/>
          <a:ln/>
        </p:spPr>
        <p:txBody>
          <a:bodyPr wrap="square" lIns="0" tIns="0" rIns="0" bIns="0" rtlCol="0" anchor="ctr"/>
          <a:lstStyle/>
          <a:p>
            <a:pPr marL="0" indent="0">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8" name="Text 6"/>
          <p:cNvSpPr/>
          <p:nvPr/>
        </p:nvSpPr>
        <p:spPr>
          <a:xfrm>
            <a:off x="713232" y="1106424"/>
            <a:ext cx="2286000" cy="402336"/>
          </a:xfrm>
          <a:prstGeom prst="rect">
            <a:avLst/>
          </a:prstGeom>
          <a:noFill/>
          <a:ln/>
        </p:spPr>
        <p:txBody>
          <a:bodyPr wrap="square" lIns="0" tIns="0" rIns="0" bIns="0" rtlCol="0" anchor="ctr"/>
          <a:lstStyle/>
          <a:p>
            <a:pPr marL="0" indent="0">
              <a:buNone/>
            </a:pPr>
            <a:r>
              <a:rPr lang="en-US" sz="1000" b="1" dirty="0">
                <a:solidFill>
                  <a:srgbClr val="EF4444"/>
                </a:solidFill>
                <a:latin typeface="Arial" pitchFamily="34" charset="0"/>
                <a:ea typeface="Arial" pitchFamily="34" charset="-122"/>
                <a:cs typeface="Arial" pitchFamily="34" charset="-120"/>
              </a:rPr>
              <a:t>API Gemini : quota = 0</a:t>
            </a:r>
            <a:endParaRPr lang="en-US" sz="1000" dirty="0"/>
          </a:p>
        </p:txBody>
      </p:sp>
      <p:sp>
        <p:nvSpPr>
          <p:cNvPr id="9" name="Shape 7"/>
          <p:cNvSpPr/>
          <p:nvPr/>
        </p:nvSpPr>
        <p:spPr>
          <a:xfrm>
            <a:off x="3063240" y="1088136"/>
            <a:ext cx="18288" cy="457200"/>
          </a:xfrm>
          <a:prstGeom prst="rect">
            <a:avLst/>
          </a:prstGeom>
          <a:solidFill>
            <a:srgbClr val="94A3B8"/>
          </a:solidFill>
          <a:ln w="12700">
            <a:solidFill>
              <a:srgbClr val="94A3B8"/>
            </a:solidFill>
            <a:prstDash val="solid"/>
          </a:ln>
        </p:spPr>
      </p:sp>
      <p:sp>
        <p:nvSpPr>
          <p:cNvPr id="10" name="Text 8"/>
          <p:cNvSpPr/>
          <p:nvPr/>
        </p:nvSpPr>
        <p:spPr>
          <a:xfrm>
            <a:off x="3127248" y="1106424"/>
            <a:ext cx="2633472" cy="402336"/>
          </a:xfrm>
          <a:prstGeom prst="rect">
            <a:avLst/>
          </a:prstGeom>
          <a:noFill/>
          <a:ln/>
        </p:spPr>
        <p:txBody>
          <a:bodyPr wrap="square" lIns="0" tIns="0" rIns="0" bIns="0" rtlCol="0" anchor="ctr"/>
          <a:lstStyle/>
          <a:p>
            <a:pPr marL="0" indent="0">
              <a:buNone/>
            </a:pPr>
            <a:r>
              <a:rPr lang="en-US" sz="950" dirty="0">
                <a:solidFill>
                  <a:srgbClr val="475569"/>
                </a:solidFill>
                <a:latin typeface="Arial" pitchFamily="34" charset="0"/>
                <a:ea typeface="Arial" pitchFamily="34" charset="-122"/>
                <a:cs typeface="Arial" pitchFamily="34" charset="-120"/>
              </a:rPr>
              <a:t>Cause: Compte Google sans accès API</a:t>
            </a:r>
            <a:endParaRPr lang="en-US" sz="950" dirty="0"/>
          </a:p>
        </p:txBody>
      </p:sp>
      <p:sp>
        <p:nvSpPr>
          <p:cNvPr id="11" name="Shape 9"/>
          <p:cNvSpPr/>
          <p:nvPr/>
        </p:nvSpPr>
        <p:spPr>
          <a:xfrm>
            <a:off x="5833872" y="1088136"/>
            <a:ext cx="18288" cy="457200"/>
          </a:xfrm>
          <a:prstGeom prst="rect">
            <a:avLst/>
          </a:prstGeom>
          <a:solidFill>
            <a:srgbClr val="94A3B8"/>
          </a:solidFill>
          <a:ln w="12700">
            <a:solidFill>
              <a:srgbClr val="94A3B8"/>
            </a:solidFill>
            <a:prstDash val="solid"/>
          </a:ln>
        </p:spPr>
      </p:sp>
      <p:sp>
        <p:nvSpPr>
          <p:cNvPr id="12" name="Text 10"/>
          <p:cNvSpPr/>
          <p:nvPr/>
        </p:nvSpPr>
        <p:spPr>
          <a:xfrm>
            <a:off x="5897880" y="1106424"/>
            <a:ext cx="2880360" cy="402336"/>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  Migration vers Groq (gratuit, immédiat)</a:t>
            </a:r>
            <a:endParaRPr lang="en-US" sz="950" dirty="0"/>
          </a:p>
        </p:txBody>
      </p:sp>
      <p:sp>
        <p:nvSpPr>
          <p:cNvPr id="13" name="Shape 11"/>
          <p:cNvSpPr/>
          <p:nvPr/>
        </p:nvSpPr>
        <p:spPr>
          <a:xfrm>
            <a:off x="274320" y="1636776"/>
            <a:ext cx="8595360" cy="530352"/>
          </a:xfrm>
          <a:prstGeom prst="roundRect">
            <a:avLst>
              <a:gd name="adj" fmla="val 17241"/>
            </a:avLst>
          </a:prstGeom>
          <a:solidFill>
            <a:srgbClr val="FEE2E2"/>
          </a:solidFill>
          <a:ln w="15240">
            <a:solidFill>
              <a:srgbClr val="EF4444"/>
            </a:solidFill>
            <a:prstDash val="solid"/>
          </a:ln>
          <a:effectLst>
            <a:outerShdw blurRad="88900" dist="25400" dir="2700000" algn="bl" rotWithShape="0">
              <a:srgbClr val="000000">
                <a:alpha val="13000"/>
              </a:srgbClr>
            </a:outerShdw>
          </a:effectLst>
        </p:spPr>
      </p:sp>
      <p:sp>
        <p:nvSpPr>
          <p:cNvPr id="14" name="Text 12"/>
          <p:cNvSpPr/>
          <p:nvPr/>
        </p:nvSpPr>
        <p:spPr>
          <a:xfrm>
            <a:off x="347472" y="1691640"/>
            <a:ext cx="292608" cy="402336"/>
          </a:xfrm>
          <a:prstGeom prst="rect">
            <a:avLst/>
          </a:prstGeom>
          <a:noFill/>
          <a:ln/>
        </p:spPr>
        <p:txBody>
          <a:bodyPr wrap="square" lIns="0" tIns="0" rIns="0" bIns="0" rtlCol="0" anchor="ctr"/>
          <a:lstStyle/>
          <a:p>
            <a:pPr marL="0" indent="0">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15" name="Text 13"/>
          <p:cNvSpPr/>
          <p:nvPr/>
        </p:nvSpPr>
        <p:spPr>
          <a:xfrm>
            <a:off x="713232" y="1691640"/>
            <a:ext cx="2286000" cy="402336"/>
          </a:xfrm>
          <a:prstGeom prst="rect">
            <a:avLst/>
          </a:prstGeom>
          <a:noFill/>
          <a:ln/>
        </p:spPr>
        <p:txBody>
          <a:bodyPr wrap="square" lIns="0" tIns="0" rIns="0" bIns="0" rtlCol="0" anchor="ctr"/>
          <a:lstStyle/>
          <a:p>
            <a:pPr marL="0" indent="0">
              <a:buNone/>
            </a:pPr>
            <a:r>
              <a:rPr lang="en-US" sz="1000" b="1" dirty="0">
                <a:solidFill>
                  <a:srgbClr val="EF4444"/>
                </a:solidFill>
                <a:latin typeface="Arial" pitchFamily="34" charset="0"/>
                <a:ea typeface="Arial" pitchFamily="34" charset="-122"/>
                <a:cs typeface="Arial" pitchFamily="34" charset="-120"/>
              </a:rPr>
              <a:t>Erreur 'Rate limit' Groq</a:t>
            </a:r>
            <a:endParaRPr lang="en-US" sz="1000" dirty="0"/>
          </a:p>
        </p:txBody>
      </p:sp>
      <p:sp>
        <p:nvSpPr>
          <p:cNvPr id="16" name="Shape 14"/>
          <p:cNvSpPr/>
          <p:nvPr/>
        </p:nvSpPr>
        <p:spPr>
          <a:xfrm>
            <a:off x="3063240" y="1673352"/>
            <a:ext cx="18288" cy="457200"/>
          </a:xfrm>
          <a:prstGeom prst="rect">
            <a:avLst/>
          </a:prstGeom>
          <a:solidFill>
            <a:srgbClr val="94A3B8"/>
          </a:solidFill>
          <a:ln w="12700">
            <a:solidFill>
              <a:srgbClr val="94A3B8"/>
            </a:solidFill>
            <a:prstDash val="solid"/>
          </a:ln>
        </p:spPr>
      </p:sp>
      <p:sp>
        <p:nvSpPr>
          <p:cNvPr id="17" name="Text 15"/>
          <p:cNvSpPr/>
          <p:nvPr/>
        </p:nvSpPr>
        <p:spPr>
          <a:xfrm>
            <a:off x="3127248" y="1691640"/>
            <a:ext cx="2633472" cy="402336"/>
          </a:xfrm>
          <a:prstGeom prst="rect">
            <a:avLst/>
          </a:prstGeom>
          <a:noFill/>
          <a:ln/>
        </p:spPr>
        <p:txBody>
          <a:bodyPr wrap="square" lIns="0" tIns="0" rIns="0" bIns="0" rtlCol="0" anchor="ctr"/>
          <a:lstStyle/>
          <a:p>
            <a:pPr marL="0" indent="0">
              <a:buNone/>
            </a:pPr>
            <a:r>
              <a:rPr lang="en-US" sz="950" dirty="0">
                <a:solidFill>
                  <a:srgbClr val="475569"/>
                </a:solidFill>
                <a:latin typeface="Arial" pitchFamily="34" charset="0"/>
                <a:ea typeface="Arial" pitchFamily="34" charset="-122"/>
                <a:cs typeface="Arial" pitchFamily="34" charset="-120"/>
              </a:rPr>
              <a:t>Cause: Prompt 3 400 tokens, limite 6 000 TPM</a:t>
            </a:r>
            <a:endParaRPr lang="en-US" sz="950" dirty="0"/>
          </a:p>
        </p:txBody>
      </p:sp>
      <p:sp>
        <p:nvSpPr>
          <p:cNvPr id="18" name="Shape 16"/>
          <p:cNvSpPr/>
          <p:nvPr/>
        </p:nvSpPr>
        <p:spPr>
          <a:xfrm>
            <a:off x="5833872" y="1673352"/>
            <a:ext cx="18288" cy="457200"/>
          </a:xfrm>
          <a:prstGeom prst="rect">
            <a:avLst/>
          </a:prstGeom>
          <a:solidFill>
            <a:srgbClr val="94A3B8"/>
          </a:solidFill>
          <a:ln w="12700">
            <a:solidFill>
              <a:srgbClr val="94A3B8"/>
            </a:solidFill>
            <a:prstDash val="solid"/>
          </a:ln>
        </p:spPr>
      </p:sp>
      <p:sp>
        <p:nvSpPr>
          <p:cNvPr id="19" name="Text 17"/>
          <p:cNvSpPr/>
          <p:nvPr/>
        </p:nvSpPr>
        <p:spPr>
          <a:xfrm>
            <a:off x="5897880" y="1691640"/>
            <a:ext cx="2880360" cy="402336"/>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  Optimisation prompt → ~800 tokens (-76%)</a:t>
            </a:r>
            <a:endParaRPr lang="en-US" sz="950" dirty="0"/>
          </a:p>
        </p:txBody>
      </p:sp>
      <p:sp>
        <p:nvSpPr>
          <p:cNvPr id="20" name="Shape 18"/>
          <p:cNvSpPr/>
          <p:nvPr/>
        </p:nvSpPr>
        <p:spPr>
          <a:xfrm>
            <a:off x="274320" y="2221992"/>
            <a:ext cx="8595360" cy="530352"/>
          </a:xfrm>
          <a:prstGeom prst="roundRect">
            <a:avLst>
              <a:gd name="adj" fmla="val 17241"/>
            </a:avLst>
          </a:prstGeom>
          <a:solidFill>
            <a:srgbClr val="FEF3C7"/>
          </a:solidFill>
          <a:ln w="15240">
            <a:solidFill>
              <a:srgbClr val="F59E0B"/>
            </a:solidFill>
            <a:prstDash val="solid"/>
          </a:ln>
          <a:effectLst>
            <a:outerShdw blurRad="88900" dist="25400" dir="2700000" algn="bl" rotWithShape="0">
              <a:srgbClr val="000000">
                <a:alpha val="13000"/>
              </a:srgbClr>
            </a:outerShdw>
          </a:effectLst>
        </p:spPr>
      </p:sp>
      <p:sp>
        <p:nvSpPr>
          <p:cNvPr id="21" name="Text 19"/>
          <p:cNvSpPr/>
          <p:nvPr/>
        </p:nvSpPr>
        <p:spPr>
          <a:xfrm>
            <a:off x="347472" y="2276856"/>
            <a:ext cx="292608" cy="402336"/>
          </a:xfrm>
          <a:prstGeom prst="rect">
            <a:avLst/>
          </a:prstGeom>
          <a:noFill/>
          <a:ln/>
        </p:spPr>
        <p:txBody>
          <a:bodyPr wrap="square" lIns="0" tIns="0" rIns="0" bIns="0" rtlCol="0" anchor="ctr"/>
          <a:lstStyle/>
          <a:p>
            <a:pPr marL="0" indent="0">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22" name="Text 20"/>
          <p:cNvSpPr/>
          <p:nvPr/>
        </p:nvSpPr>
        <p:spPr>
          <a:xfrm>
            <a:off x="713232" y="2276856"/>
            <a:ext cx="2286000" cy="402336"/>
          </a:xfrm>
          <a:prstGeom prst="rect">
            <a:avLst/>
          </a:prstGeom>
          <a:noFill/>
          <a:ln/>
        </p:spPr>
        <p:txBody>
          <a:bodyPr wrap="square" lIns="0" tIns="0" rIns="0" bIns="0" rtlCol="0" anchor="ctr"/>
          <a:lstStyle/>
          <a:p>
            <a:pPr marL="0" indent="0">
              <a:buNone/>
            </a:pPr>
            <a:r>
              <a:rPr lang="en-US" sz="1000" b="1" dirty="0">
                <a:solidFill>
                  <a:srgbClr val="F59E0B"/>
                </a:solidFill>
                <a:latin typeface="Arial" pitchFamily="34" charset="0"/>
                <a:ea typeface="Arial" pitchFamily="34" charset="-122"/>
                <a:cs typeface="Arial" pitchFamily="34" charset="-120"/>
              </a:rPr>
              <a:t>IA invente 'Sophie connectée'</a:t>
            </a:r>
            <a:endParaRPr lang="en-US" sz="1000" dirty="0"/>
          </a:p>
        </p:txBody>
      </p:sp>
      <p:sp>
        <p:nvSpPr>
          <p:cNvPr id="23" name="Shape 21"/>
          <p:cNvSpPr/>
          <p:nvPr/>
        </p:nvSpPr>
        <p:spPr>
          <a:xfrm>
            <a:off x="3063240" y="2258568"/>
            <a:ext cx="18288" cy="457200"/>
          </a:xfrm>
          <a:prstGeom prst="rect">
            <a:avLst/>
          </a:prstGeom>
          <a:solidFill>
            <a:srgbClr val="94A3B8"/>
          </a:solidFill>
          <a:ln w="12700">
            <a:solidFill>
              <a:srgbClr val="94A3B8"/>
            </a:solidFill>
            <a:prstDash val="solid"/>
          </a:ln>
        </p:spPr>
      </p:sp>
      <p:sp>
        <p:nvSpPr>
          <p:cNvPr id="24" name="Text 22"/>
          <p:cNvSpPr/>
          <p:nvPr/>
        </p:nvSpPr>
        <p:spPr>
          <a:xfrm>
            <a:off x="3127248" y="2276856"/>
            <a:ext cx="2633472" cy="402336"/>
          </a:xfrm>
          <a:prstGeom prst="rect">
            <a:avLst/>
          </a:prstGeom>
          <a:noFill/>
          <a:ln/>
        </p:spPr>
        <p:txBody>
          <a:bodyPr wrap="square" lIns="0" tIns="0" rIns="0" bIns="0" rtlCol="0" anchor="ctr"/>
          <a:lstStyle/>
          <a:p>
            <a:pPr marL="0" indent="0">
              <a:buNone/>
            </a:pPr>
            <a:r>
              <a:rPr lang="en-US" sz="950" dirty="0">
                <a:solidFill>
                  <a:srgbClr val="475569"/>
                </a:solidFill>
                <a:latin typeface="Arial" pitchFamily="34" charset="0"/>
                <a:ea typeface="Arial" pitchFamily="34" charset="-122"/>
                <a:cs typeface="Arial" pitchFamily="34" charset="-120"/>
              </a:rPr>
              <a:t>Cause: Règle mal formulée sur accès données</a:t>
            </a:r>
            <a:endParaRPr lang="en-US" sz="950" dirty="0"/>
          </a:p>
        </p:txBody>
      </p:sp>
      <p:sp>
        <p:nvSpPr>
          <p:cNvPr id="25" name="Shape 23"/>
          <p:cNvSpPr/>
          <p:nvPr/>
        </p:nvSpPr>
        <p:spPr>
          <a:xfrm>
            <a:off x="5833872" y="2258568"/>
            <a:ext cx="18288" cy="457200"/>
          </a:xfrm>
          <a:prstGeom prst="rect">
            <a:avLst/>
          </a:prstGeom>
          <a:solidFill>
            <a:srgbClr val="94A3B8"/>
          </a:solidFill>
          <a:ln w="12700">
            <a:solidFill>
              <a:srgbClr val="94A3B8"/>
            </a:solidFill>
            <a:prstDash val="solid"/>
          </a:ln>
        </p:spPr>
      </p:sp>
      <p:sp>
        <p:nvSpPr>
          <p:cNvPr id="26" name="Text 24"/>
          <p:cNvSpPr/>
          <p:nvPr/>
        </p:nvSpPr>
        <p:spPr>
          <a:xfrm>
            <a:off x="5897880" y="2276856"/>
            <a:ext cx="2880360" cy="402336"/>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  Règle explicite : 'JAMAIS inventer de données app'</a:t>
            </a:r>
            <a:endParaRPr lang="en-US" sz="950" dirty="0"/>
          </a:p>
        </p:txBody>
      </p:sp>
      <p:sp>
        <p:nvSpPr>
          <p:cNvPr id="27" name="Shape 25"/>
          <p:cNvSpPr/>
          <p:nvPr/>
        </p:nvSpPr>
        <p:spPr>
          <a:xfrm>
            <a:off x="274320" y="2807208"/>
            <a:ext cx="8595360" cy="530352"/>
          </a:xfrm>
          <a:prstGeom prst="roundRect">
            <a:avLst>
              <a:gd name="adj" fmla="val 17241"/>
            </a:avLst>
          </a:prstGeom>
          <a:solidFill>
            <a:srgbClr val="FEF3C7"/>
          </a:solidFill>
          <a:ln w="15240">
            <a:solidFill>
              <a:srgbClr val="F59E0B"/>
            </a:solidFill>
            <a:prstDash val="solid"/>
          </a:ln>
          <a:effectLst>
            <a:outerShdw blurRad="88900" dist="25400" dir="2700000" algn="bl" rotWithShape="0">
              <a:srgbClr val="000000">
                <a:alpha val="13000"/>
              </a:srgbClr>
            </a:outerShdw>
          </a:effectLst>
        </p:spPr>
      </p:sp>
      <p:sp>
        <p:nvSpPr>
          <p:cNvPr id="28" name="Text 26"/>
          <p:cNvSpPr/>
          <p:nvPr/>
        </p:nvSpPr>
        <p:spPr>
          <a:xfrm>
            <a:off x="347472" y="2862072"/>
            <a:ext cx="292608" cy="402336"/>
          </a:xfrm>
          <a:prstGeom prst="rect">
            <a:avLst/>
          </a:prstGeom>
          <a:noFill/>
          <a:ln/>
        </p:spPr>
        <p:txBody>
          <a:bodyPr wrap="square" lIns="0" tIns="0" rIns="0" bIns="0" rtlCol="0" anchor="ctr"/>
          <a:lstStyle/>
          <a:p>
            <a:pPr marL="0" indent="0">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29" name="Text 27"/>
          <p:cNvSpPr/>
          <p:nvPr/>
        </p:nvSpPr>
        <p:spPr>
          <a:xfrm>
            <a:off x="713232" y="2862072"/>
            <a:ext cx="2286000" cy="402336"/>
          </a:xfrm>
          <a:prstGeom prst="rect">
            <a:avLst/>
          </a:prstGeom>
          <a:noFill/>
          <a:ln/>
        </p:spPr>
        <p:txBody>
          <a:bodyPr wrap="square" lIns="0" tIns="0" rIns="0" bIns="0" rtlCol="0" anchor="ctr"/>
          <a:lstStyle/>
          <a:p>
            <a:pPr marL="0" indent="0">
              <a:buNone/>
            </a:pPr>
            <a:r>
              <a:rPr lang="en-US" sz="1000" b="1" dirty="0">
                <a:solidFill>
                  <a:srgbClr val="F59E0B"/>
                </a:solidFill>
                <a:latin typeface="Arial" pitchFamily="34" charset="0"/>
                <a:ea typeface="Arial" pitchFamily="34" charset="-122"/>
                <a:cs typeface="Arial" pitchFamily="34" charset="-120"/>
              </a:rPr>
              <a:t>IA refuse questions guinéennes</a:t>
            </a:r>
            <a:endParaRPr lang="en-US" sz="1000" dirty="0"/>
          </a:p>
        </p:txBody>
      </p:sp>
      <p:sp>
        <p:nvSpPr>
          <p:cNvPr id="30" name="Shape 28"/>
          <p:cNvSpPr/>
          <p:nvPr/>
        </p:nvSpPr>
        <p:spPr>
          <a:xfrm>
            <a:off x="3063240" y="2843784"/>
            <a:ext cx="18288" cy="457200"/>
          </a:xfrm>
          <a:prstGeom prst="rect">
            <a:avLst/>
          </a:prstGeom>
          <a:solidFill>
            <a:srgbClr val="94A3B8"/>
          </a:solidFill>
          <a:ln w="12700">
            <a:solidFill>
              <a:srgbClr val="94A3B8"/>
            </a:solidFill>
            <a:prstDash val="solid"/>
          </a:ln>
        </p:spPr>
      </p:sp>
      <p:sp>
        <p:nvSpPr>
          <p:cNvPr id="31" name="Text 29"/>
          <p:cNvSpPr/>
          <p:nvPr/>
        </p:nvSpPr>
        <p:spPr>
          <a:xfrm>
            <a:off x="3127248" y="2862072"/>
            <a:ext cx="2633472" cy="402336"/>
          </a:xfrm>
          <a:prstGeom prst="rect">
            <a:avLst/>
          </a:prstGeom>
          <a:noFill/>
          <a:ln/>
        </p:spPr>
        <p:txBody>
          <a:bodyPr wrap="square" lIns="0" tIns="0" rIns="0" bIns="0" rtlCol="0" anchor="ctr"/>
          <a:lstStyle/>
          <a:p>
            <a:pPr marL="0" indent="0">
              <a:buNone/>
            </a:pPr>
            <a:r>
              <a:rPr lang="en-US" sz="950" dirty="0">
                <a:solidFill>
                  <a:srgbClr val="475569"/>
                </a:solidFill>
                <a:latin typeface="Arial" pitchFamily="34" charset="0"/>
                <a:ea typeface="Arial" pitchFamily="34" charset="-122"/>
                <a:cs typeface="Arial" pitchFamily="34" charset="-120"/>
              </a:rPr>
              <a:t>Cause: Règle 'n'invente rien' trop restrictive</a:t>
            </a:r>
            <a:endParaRPr lang="en-US" sz="950" dirty="0"/>
          </a:p>
        </p:txBody>
      </p:sp>
      <p:sp>
        <p:nvSpPr>
          <p:cNvPr id="32" name="Shape 30"/>
          <p:cNvSpPr/>
          <p:nvPr/>
        </p:nvSpPr>
        <p:spPr>
          <a:xfrm>
            <a:off x="5833872" y="2843784"/>
            <a:ext cx="18288" cy="457200"/>
          </a:xfrm>
          <a:prstGeom prst="rect">
            <a:avLst/>
          </a:prstGeom>
          <a:solidFill>
            <a:srgbClr val="94A3B8"/>
          </a:solidFill>
          <a:ln w="12700">
            <a:solidFill>
              <a:srgbClr val="94A3B8"/>
            </a:solidFill>
            <a:prstDash val="solid"/>
          </a:ln>
        </p:spPr>
      </p:sp>
      <p:sp>
        <p:nvSpPr>
          <p:cNvPr id="33" name="Text 31"/>
          <p:cNvSpPr/>
          <p:nvPr/>
        </p:nvSpPr>
        <p:spPr>
          <a:xfrm>
            <a:off x="5897880" y="2862072"/>
            <a:ext cx="2880360" cy="402336"/>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  Séparation : données app vs connaissances générales</a:t>
            </a:r>
            <a:endParaRPr lang="en-US" sz="950" dirty="0"/>
          </a:p>
        </p:txBody>
      </p:sp>
      <p:sp>
        <p:nvSpPr>
          <p:cNvPr id="34" name="Shape 32"/>
          <p:cNvSpPr/>
          <p:nvPr/>
        </p:nvSpPr>
        <p:spPr>
          <a:xfrm>
            <a:off x="274320" y="3392424"/>
            <a:ext cx="8595360" cy="530352"/>
          </a:xfrm>
          <a:prstGeom prst="roundRect">
            <a:avLst>
              <a:gd name="adj" fmla="val 17241"/>
            </a:avLst>
          </a:prstGeom>
          <a:solidFill>
            <a:srgbClr val="FEF3C7"/>
          </a:solidFill>
          <a:ln w="15240">
            <a:solidFill>
              <a:srgbClr val="F59E0B"/>
            </a:solidFill>
            <a:prstDash val="solid"/>
          </a:ln>
          <a:effectLst>
            <a:outerShdw blurRad="88900" dist="25400" dir="2700000" algn="bl" rotWithShape="0">
              <a:srgbClr val="000000">
                <a:alpha val="13000"/>
              </a:srgbClr>
            </a:outerShdw>
          </a:effectLst>
        </p:spPr>
      </p:sp>
      <p:sp>
        <p:nvSpPr>
          <p:cNvPr id="35" name="Text 33"/>
          <p:cNvSpPr/>
          <p:nvPr/>
        </p:nvSpPr>
        <p:spPr>
          <a:xfrm>
            <a:off x="347472" y="3447288"/>
            <a:ext cx="292608" cy="402336"/>
          </a:xfrm>
          <a:prstGeom prst="rect">
            <a:avLst/>
          </a:prstGeom>
          <a:noFill/>
          <a:ln/>
        </p:spPr>
        <p:txBody>
          <a:bodyPr wrap="square" lIns="0" tIns="0" rIns="0" bIns="0" rtlCol="0" anchor="ctr"/>
          <a:lstStyle/>
          <a:p>
            <a:pPr marL="0" indent="0">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36" name="Text 34"/>
          <p:cNvSpPr/>
          <p:nvPr/>
        </p:nvSpPr>
        <p:spPr>
          <a:xfrm>
            <a:off x="713232" y="3447288"/>
            <a:ext cx="2286000" cy="402336"/>
          </a:xfrm>
          <a:prstGeom prst="rect">
            <a:avLst/>
          </a:prstGeom>
          <a:noFill/>
          <a:ln/>
        </p:spPr>
        <p:txBody>
          <a:bodyPr wrap="square" lIns="0" tIns="0" rIns="0" bIns="0" rtlCol="0" anchor="ctr"/>
          <a:lstStyle/>
          <a:p>
            <a:pPr marL="0" indent="0">
              <a:buNone/>
            </a:pPr>
            <a:r>
              <a:rPr lang="en-US" sz="1000" b="1" dirty="0">
                <a:solidFill>
                  <a:srgbClr val="F59E0B"/>
                </a:solidFill>
                <a:latin typeface="Arial" pitchFamily="34" charset="0"/>
                <a:ea typeface="Arial" pitchFamily="34" charset="-122"/>
                <a:cs typeface="Arial" pitchFamily="34" charset="-120"/>
              </a:rPr>
              <a:t>IA répond 'diplopie' hors sujet</a:t>
            </a:r>
            <a:endParaRPr lang="en-US" sz="1000" dirty="0"/>
          </a:p>
        </p:txBody>
      </p:sp>
      <p:sp>
        <p:nvSpPr>
          <p:cNvPr id="37" name="Shape 35"/>
          <p:cNvSpPr/>
          <p:nvPr/>
        </p:nvSpPr>
        <p:spPr>
          <a:xfrm>
            <a:off x="3063240" y="3429000"/>
            <a:ext cx="18288" cy="457200"/>
          </a:xfrm>
          <a:prstGeom prst="rect">
            <a:avLst/>
          </a:prstGeom>
          <a:solidFill>
            <a:srgbClr val="94A3B8"/>
          </a:solidFill>
          <a:ln w="12700">
            <a:solidFill>
              <a:srgbClr val="94A3B8"/>
            </a:solidFill>
            <a:prstDash val="solid"/>
          </a:ln>
        </p:spPr>
      </p:sp>
      <p:sp>
        <p:nvSpPr>
          <p:cNvPr id="38" name="Text 36"/>
          <p:cNvSpPr/>
          <p:nvPr/>
        </p:nvSpPr>
        <p:spPr>
          <a:xfrm>
            <a:off x="3127248" y="3447288"/>
            <a:ext cx="2633472" cy="402336"/>
          </a:xfrm>
          <a:prstGeom prst="rect">
            <a:avLst/>
          </a:prstGeom>
          <a:noFill/>
          <a:ln/>
        </p:spPr>
        <p:txBody>
          <a:bodyPr wrap="square" lIns="0" tIns="0" rIns="0" bIns="0" rtlCol="0" anchor="ctr"/>
          <a:lstStyle/>
          <a:p>
            <a:pPr marL="0" indent="0">
              <a:buNone/>
            </a:pPr>
            <a:r>
              <a:rPr lang="en-US" sz="950" dirty="0">
                <a:solidFill>
                  <a:srgbClr val="475569"/>
                </a:solidFill>
                <a:latin typeface="Arial" pitchFamily="34" charset="0"/>
                <a:ea typeface="Arial" pitchFamily="34" charset="-122"/>
                <a:cs typeface="Arial" pitchFamily="34" charset="-120"/>
              </a:rPr>
              <a:t>Cause: 'Voir tout en même temps' mal interprété</a:t>
            </a:r>
            <a:endParaRPr lang="en-US" sz="950" dirty="0"/>
          </a:p>
        </p:txBody>
      </p:sp>
      <p:sp>
        <p:nvSpPr>
          <p:cNvPr id="39" name="Shape 37"/>
          <p:cNvSpPr/>
          <p:nvPr/>
        </p:nvSpPr>
        <p:spPr>
          <a:xfrm>
            <a:off x="5833872" y="3429000"/>
            <a:ext cx="18288" cy="457200"/>
          </a:xfrm>
          <a:prstGeom prst="rect">
            <a:avLst/>
          </a:prstGeom>
          <a:solidFill>
            <a:srgbClr val="94A3B8"/>
          </a:solidFill>
          <a:ln w="12700">
            <a:solidFill>
              <a:srgbClr val="94A3B8"/>
            </a:solidFill>
            <a:prstDash val="solid"/>
          </a:ln>
        </p:spPr>
      </p:sp>
      <p:sp>
        <p:nvSpPr>
          <p:cNvPr id="40" name="Text 38"/>
          <p:cNvSpPr/>
          <p:nvPr/>
        </p:nvSpPr>
        <p:spPr>
          <a:xfrm>
            <a:off x="5897880" y="3447288"/>
            <a:ext cx="2880360" cy="402336"/>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  Règles 7-9 : maintien du contexte EDT</a:t>
            </a:r>
            <a:endParaRPr lang="en-US" sz="950" dirty="0"/>
          </a:p>
        </p:txBody>
      </p:sp>
      <p:sp>
        <p:nvSpPr>
          <p:cNvPr id="41" name="Shape 39"/>
          <p:cNvSpPr/>
          <p:nvPr/>
        </p:nvSpPr>
        <p:spPr>
          <a:xfrm>
            <a:off x="274320" y="3977640"/>
            <a:ext cx="8595360" cy="530352"/>
          </a:xfrm>
          <a:prstGeom prst="roundRect">
            <a:avLst>
              <a:gd name="adj" fmla="val 17241"/>
            </a:avLst>
          </a:prstGeom>
          <a:solidFill>
            <a:srgbClr val="D1FAE5"/>
          </a:solidFill>
          <a:ln w="15240">
            <a:solidFill>
              <a:srgbClr val="10B981"/>
            </a:solidFill>
            <a:prstDash val="solid"/>
          </a:ln>
          <a:effectLst>
            <a:outerShdw blurRad="88900" dist="25400" dir="2700000" algn="bl" rotWithShape="0">
              <a:srgbClr val="000000">
                <a:alpha val="13000"/>
              </a:srgbClr>
            </a:outerShdw>
          </a:effectLst>
        </p:spPr>
      </p:sp>
      <p:sp>
        <p:nvSpPr>
          <p:cNvPr id="42" name="Text 40"/>
          <p:cNvSpPr/>
          <p:nvPr/>
        </p:nvSpPr>
        <p:spPr>
          <a:xfrm>
            <a:off x="347472" y="4032504"/>
            <a:ext cx="292608" cy="402336"/>
          </a:xfrm>
          <a:prstGeom prst="rect">
            <a:avLst/>
          </a:prstGeom>
          <a:noFill/>
          <a:ln/>
        </p:spPr>
        <p:txBody>
          <a:bodyPr wrap="square" lIns="0" tIns="0" rIns="0" bIns="0" rtlCol="0" anchor="ctr"/>
          <a:lstStyle/>
          <a:p>
            <a:pPr marL="0" indent="0">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43" name="Text 41"/>
          <p:cNvSpPr/>
          <p:nvPr/>
        </p:nvSpPr>
        <p:spPr>
          <a:xfrm>
            <a:off x="713232" y="4032504"/>
            <a:ext cx="2286000" cy="402336"/>
          </a:xfrm>
          <a:prstGeom prst="rect">
            <a:avLst/>
          </a:prstGeom>
          <a:noFill/>
          <a:ln/>
        </p:spPr>
        <p:txBody>
          <a:bodyPr wrap="square" lIns="0" tIns="0" rIns="0" bIns="0" rtlCol="0" anchor="ctr"/>
          <a:lstStyle/>
          <a:p>
            <a:pPr marL="0" indent="0">
              <a:buNone/>
            </a:pPr>
            <a:r>
              <a:rPr lang="en-US" sz="1000" b="1" dirty="0">
                <a:solidFill>
                  <a:srgbClr val="10B981"/>
                </a:solidFill>
                <a:latin typeface="Arial" pitchFamily="34" charset="0"/>
                <a:ea typeface="Arial" pitchFamily="34" charset="-122"/>
                <a:cs typeface="Arial" pitchFamily="34" charset="-120"/>
              </a:rPr>
              <a:t>Erreur MySQL FIELD() vide</a:t>
            </a:r>
            <a:endParaRPr lang="en-US" sz="1000" dirty="0"/>
          </a:p>
        </p:txBody>
      </p:sp>
      <p:sp>
        <p:nvSpPr>
          <p:cNvPr id="44" name="Shape 42"/>
          <p:cNvSpPr/>
          <p:nvPr/>
        </p:nvSpPr>
        <p:spPr>
          <a:xfrm>
            <a:off x="3063240" y="4014216"/>
            <a:ext cx="18288" cy="457200"/>
          </a:xfrm>
          <a:prstGeom prst="rect">
            <a:avLst/>
          </a:prstGeom>
          <a:solidFill>
            <a:srgbClr val="94A3B8"/>
          </a:solidFill>
          <a:ln w="12700">
            <a:solidFill>
              <a:srgbClr val="94A3B8"/>
            </a:solidFill>
            <a:prstDash val="solid"/>
          </a:ln>
        </p:spPr>
      </p:sp>
      <p:sp>
        <p:nvSpPr>
          <p:cNvPr id="45" name="Text 43"/>
          <p:cNvSpPr/>
          <p:nvPr/>
        </p:nvSpPr>
        <p:spPr>
          <a:xfrm>
            <a:off x="3127248" y="4032504"/>
            <a:ext cx="2633472" cy="402336"/>
          </a:xfrm>
          <a:prstGeom prst="rect">
            <a:avLst/>
          </a:prstGeom>
          <a:noFill/>
          <a:ln/>
        </p:spPr>
        <p:txBody>
          <a:bodyPr wrap="square" lIns="0" tIns="0" rIns="0" bIns="0" rtlCol="0" anchor="ctr"/>
          <a:lstStyle/>
          <a:p>
            <a:pPr marL="0" indent="0">
              <a:buNone/>
            </a:pPr>
            <a:r>
              <a:rPr lang="en-US" sz="950" dirty="0">
                <a:solidFill>
                  <a:srgbClr val="475569"/>
                </a:solidFill>
                <a:latin typeface="Arial" pitchFamily="34" charset="0"/>
                <a:ea typeface="Arial" pitchFamily="34" charset="-122"/>
                <a:cs typeface="Arial" pitchFamily="34" charset="-120"/>
              </a:rPr>
              <a:t>Cause: Liste IDs enseignants vide dans requête</a:t>
            </a:r>
            <a:endParaRPr lang="en-US" sz="950" dirty="0"/>
          </a:p>
        </p:txBody>
      </p:sp>
      <p:sp>
        <p:nvSpPr>
          <p:cNvPr id="46" name="Shape 44"/>
          <p:cNvSpPr/>
          <p:nvPr/>
        </p:nvSpPr>
        <p:spPr>
          <a:xfrm>
            <a:off x="5833872" y="4014216"/>
            <a:ext cx="18288" cy="457200"/>
          </a:xfrm>
          <a:prstGeom prst="rect">
            <a:avLst/>
          </a:prstGeom>
          <a:solidFill>
            <a:srgbClr val="94A3B8"/>
          </a:solidFill>
          <a:ln w="12700">
            <a:solidFill>
              <a:srgbClr val="94A3B8"/>
            </a:solidFill>
            <a:prstDash val="solid"/>
          </a:ln>
        </p:spPr>
      </p:sp>
      <p:sp>
        <p:nvSpPr>
          <p:cNvPr id="47" name="Text 45"/>
          <p:cNvSpPr/>
          <p:nvPr/>
        </p:nvSpPr>
        <p:spPr>
          <a:xfrm>
            <a:off x="5897880" y="4032504"/>
            <a:ext cx="2880360" cy="402336"/>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  Simplification : orderBy('nom') sans FIELD()</a:t>
            </a:r>
            <a:endParaRPr lang="en-US" sz="950" dirty="0"/>
          </a:p>
        </p:txBody>
      </p:sp>
      <p:sp>
        <p:nvSpPr>
          <p:cNvPr id="48" name="Shape 46"/>
          <p:cNvSpPr/>
          <p:nvPr/>
        </p:nvSpPr>
        <p:spPr>
          <a:xfrm>
            <a:off x="274320" y="4562856"/>
            <a:ext cx="8595360" cy="530352"/>
          </a:xfrm>
          <a:prstGeom prst="roundRect">
            <a:avLst>
              <a:gd name="adj" fmla="val 17241"/>
            </a:avLst>
          </a:prstGeom>
          <a:solidFill>
            <a:srgbClr val="D1FAE5"/>
          </a:solidFill>
          <a:ln w="15240">
            <a:solidFill>
              <a:srgbClr val="10B981"/>
            </a:solidFill>
            <a:prstDash val="solid"/>
          </a:ln>
          <a:effectLst>
            <a:outerShdw blurRad="88900" dist="25400" dir="2700000" algn="bl" rotWithShape="0">
              <a:srgbClr val="000000">
                <a:alpha val="13000"/>
              </a:srgbClr>
            </a:outerShdw>
          </a:effectLst>
        </p:spPr>
      </p:sp>
      <p:sp>
        <p:nvSpPr>
          <p:cNvPr id="49" name="Text 47"/>
          <p:cNvSpPr/>
          <p:nvPr/>
        </p:nvSpPr>
        <p:spPr>
          <a:xfrm>
            <a:off x="347472" y="4617720"/>
            <a:ext cx="292608" cy="402336"/>
          </a:xfrm>
          <a:prstGeom prst="rect">
            <a:avLst/>
          </a:prstGeom>
          <a:noFill/>
          <a:ln/>
        </p:spPr>
        <p:txBody>
          <a:bodyPr wrap="square" lIns="0" tIns="0" rIns="0" bIns="0" rtlCol="0" anchor="ctr"/>
          <a:lstStyle/>
          <a:p>
            <a:pPr marL="0" indent="0">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50" name="Text 48"/>
          <p:cNvSpPr/>
          <p:nvPr/>
        </p:nvSpPr>
        <p:spPr>
          <a:xfrm>
            <a:off x="713232" y="4617720"/>
            <a:ext cx="2286000" cy="402336"/>
          </a:xfrm>
          <a:prstGeom prst="rect">
            <a:avLst/>
          </a:prstGeom>
          <a:noFill/>
          <a:ln/>
        </p:spPr>
        <p:txBody>
          <a:bodyPr wrap="square" lIns="0" tIns="0" rIns="0" bIns="0" rtlCol="0" anchor="ctr"/>
          <a:lstStyle/>
          <a:p>
            <a:pPr marL="0" indent="0">
              <a:buNone/>
            </a:pPr>
            <a:r>
              <a:rPr lang="en-US" sz="1000" b="1" dirty="0">
                <a:solidFill>
                  <a:srgbClr val="10B981"/>
                </a:solidFill>
                <a:latin typeface="Arial" pitchFamily="34" charset="0"/>
                <a:ea typeface="Arial" pitchFamily="34" charset="-122"/>
                <a:cs typeface="Arial" pitchFamily="34" charset="-120"/>
              </a:rPr>
              <a:t>Dropdown enseignant à chaque fois</a:t>
            </a:r>
            <a:endParaRPr lang="en-US" sz="1000" dirty="0"/>
          </a:p>
        </p:txBody>
      </p:sp>
      <p:sp>
        <p:nvSpPr>
          <p:cNvPr id="51" name="Shape 49"/>
          <p:cNvSpPr/>
          <p:nvPr/>
        </p:nvSpPr>
        <p:spPr>
          <a:xfrm>
            <a:off x="3063240" y="4599432"/>
            <a:ext cx="18288" cy="457200"/>
          </a:xfrm>
          <a:prstGeom prst="rect">
            <a:avLst/>
          </a:prstGeom>
          <a:solidFill>
            <a:srgbClr val="94A3B8"/>
          </a:solidFill>
          <a:ln w="12700">
            <a:solidFill>
              <a:srgbClr val="94A3B8"/>
            </a:solidFill>
            <a:prstDash val="solid"/>
          </a:ln>
        </p:spPr>
      </p:sp>
      <p:sp>
        <p:nvSpPr>
          <p:cNvPr id="52" name="Text 50"/>
          <p:cNvSpPr/>
          <p:nvPr/>
        </p:nvSpPr>
        <p:spPr>
          <a:xfrm>
            <a:off x="3127248" y="4617720"/>
            <a:ext cx="2633472" cy="402336"/>
          </a:xfrm>
          <a:prstGeom prst="rect">
            <a:avLst/>
          </a:prstGeom>
          <a:noFill/>
          <a:ln/>
        </p:spPr>
        <p:txBody>
          <a:bodyPr wrap="square" lIns="0" tIns="0" rIns="0" bIns="0" rtlCol="0" anchor="ctr"/>
          <a:lstStyle/>
          <a:p>
            <a:pPr marL="0" indent="0">
              <a:buNone/>
            </a:pPr>
            <a:r>
              <a:rPr lang="en-US" sz="950" dirty="0">
                <a:solidFill>
                  <a:srgbClr val="475569"/>
                </a:solidFill>
                <a:latin typeface="Arial" pitchFamily="34" charset="0"/>
                <a:ea typeface="Arial" pitchFamily="34" charset="-122"/>
                <a:cs typeface="Arial" pitchFamily="34" charset="-120"/>
              </a:rPr>
              <a:t>Cause: Action show_planning_enseignant = dropdown systématique</a:t>
            </a:r>
            <a:endParaRPr lang="en-US" sz="950" dirty="0"/>
          </a:p>
        </p:txBody>
      </p:sp>
      <p:sp>
        <p:nvSpPr>
          <p:cNvPr id="53" name="Shape 51"/>
          <p:cNvSpPr/>
          <p:nvPr/>
        </p:nvSpPr>
        <p:spPr>
          <a:xfrm>
            <a:off x="5833872" y="4599432"/>
            <a:ext cx="18288" cy="457200"/>
          </a:xfrm>
          <a:prstGeom prst="rect">
            <a:avLst/>
          </a:prstGeom>
          <a:solidFill>
            <a:srgbClr val="94A3B8"/>
          </a:solidFill>
          <a:ln w="12700">
            <a:solidFill>
              <a:srgbClr val="94A3B8"/>
            </a:solidFill>
            <a:prstDash val="solid"/>
          </a:ln>
        </p:spPr>
      </p:sp>
      <p:sp>
        <p:nvSpPr>
          <p:cNvPr id="54" name="Text 52"/>
          <p:cNvSpPr/>
          <p:nvPr/>
        </p:nvSpPr>
        <p:spPr>
          <a:xfrm>
            <a:off x="5897880" y="4617720"/>
            <a:ext cx="2880360" cy="402336"/>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  Si enseignant_id dans params → chargement direct</a:t>
            </a:r>
            <a:endParaRPr lang="en-US" sz="950" dirty="0"/>
          </a:p>
        </p:txBody>
      </p:sp>
      <p:sp>
        <p:nvSpPr>
          <p:cNvPr id="55" name="Shape 53"/>
          <p:cNvSpPr/>
          <p:nvPr/>
        </p:nvSpPr>
        <p:spPr>
          <a:xfrm>
            <a:off x="274320" y="5148072"/>
            <a:ext cx="8595360" cy="530352"/>
          </a:xfrm>
          <a:prstGeom prst="roundRect">
            <a:avLst>
              <a:gd name="adj" fmla="val 17241"/>
            </a:avLst>
          </a:prstGeom>
          <a:solidFill>
            <a:srgbClr val="D1FAE5"/>
          </a:solidFill>
          <a:ln w="15240">
            <a:solidFill>
              <a:srgbClr val="10B981"/>
            </a:solidFill>
            <a:prstDash val="solid"/>
          </a:ln>
          <a:effectLst>
            <a:outerShdw blurRad="88900" dist="25400" dir="2700000" algn="bl" rotWithShape="0">
              <a:srgbClr val="000000">
                <a:alpha val="13000"/>
              </a:srgbClr>
            </a:outerShdw>
          </a:effectLst>
        </p:spPr>
      </p:sp>
      <p:sp>
        <p:nvSpPr>
          <p:cNvPr id="56" name="Text 54"/>
          <p:cNvSpPr/>
          <p:nvPr/>
        </p:nvSpPr>
        <p:spPr>
          <a:xfrm>
            <a:off x="347472" y="5202936"/>
            <a:ext cx="292608" cy="402336"/>
          </a:xfrm>
          <a:prstGeom prst="rect">
            <a:avLst/>
          </a:prstGeom>
          <a:noFill/>
          <a:ln/>
        </p:spPr>
        <p:txBody>
          <a:bodyPr wrap="square" lIns="0" tIns="0" rIns="0" bIns="0" rtlCol="0" anchor="ctr"/>
          <a:lstStyle/>
          <a:p>
            <a:pPr marL="0" indent="0">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57" name="Text 55"/>
          <p:cNvSpPr/>
          <p:nvPr/>
        </p:nvSpPr>
        <p:spPr>
          <a:xfrm>
            <a:off x="713232" y="5202936"/>
            <a:ext cx="2286000" cy="402336"/>
          </a:xfrm>
          <a:prstGeom prst="rect">
            <a:avLst/>
          </a:prstGeom>
          <a:noFill/>
          <a:ln/>
        </p:spPr>
        <p:txBody>
          <a:bodyPr wrap="square" lIns="0" tIns="0" rIns="0" bIns="0" rtlCol="0" anchor="ctr"/>
          <a:lstStyle/>
          <a:p>
            <a:pPr marL="0" indent="0">
              <a:buNone/>
            </a:pPr>
            <a:r>
              <a:rPr lang="en-US" sz="1000" b="1" dirty="0">
                <a:solidFill>
                  <a:srgbClr val="10B981"/>
                </a:solidFill>
                <a:latin typeface="Arial" pitchFamily="34" charset="0"/>
                <a:ea typeface="Arial" pitchFamily="34" charset="-122"/>
                <a:cs typeface="Arial" pitchFamily="34" charset="-120"/>
              </a:rPr>
              <a:t>Bouton prof erreur JavaScript</a:t>
            </a:r>
            <a:endParaRPr lang="en-US" sz="1000" dirty="0"/>
          </a:p>
        </p:txBody>
      </p:sp>
      <p:sp>
        <p:nvSpPr>
          <p:cNvPr id="58" name="Shape 56"/>
          <p:cNvSpPr/>
          <p:nvPr/>
        </p:nvSpPr>
        <p:spPr>
          <a:xfrm>
            <a:off x="3063240" y="5184648"/>
            <a:ext cx="18288" cy="457200"/>
          </a:xfrm>
          <a:prstGeom prst="rect">
            <a:avLst/>
          </a:prstGeom>
          <a:solidFill>
            <a:srgbClr val="94A3B8"/>
          </a:solidFill>
          <a:ln w="12700">
            <a:solidFill>
              <a:srgbClr val="94A3B8"/>
            </a:solidFill>
            <a:prstDash val="solid"/>
          </a:ln>
        </p:spPr>
      </p:sp>
      <p:sp>
        <p:nvSpPr>
          <p:cNvPr id="59" name="Text 57"/>
          <p:cNvSpPr/>
          <p:nvPr/>
        </p:nvSpPr>
        <p:spPr>
          <a:xfrm>
            <a:off x="3127248" y="5202936"/>
            <a:ext cx="2633472" cy="402336"/>
          </a:xfrm>
          <a:prstGeom prst="rect">
            <a:avLst/>
          </a:prstGeom>
          <a:noFill/>
          <a:ln/>
        </p:spPr>
        <p:txBody>
          <a:bodyPr wrap="square" lIns="0" tIns="0" rIns="0" bIns="0" rtlCol="0" anchor="ctr"/>
          <a:lstStyle/>
          <a:p>
            <a:pPr marL="0" indent="0">
              <a:buNone/>
            </a:pPr>
            <a:r>
              <a:rPr lang="en-US" sz="950" dirty="0">
                <a:solidFill>
                  <a:srgbClr val="475569"/>
                </a:solidFill>
                <a:latin typeface="Arial" pitchFamily="34" charset="0"/>
                <a:ea typeface="Arial" pitchFamily="34" charset="-122"/>
                <a:cs typeface="Arial" pitchFamily="34" charset="-120"/>
              </a:rPr>
              <a:t>Cause: Appel à fonction inexistante chargerEdtEnseignant</a:t>
            </a:r>
            <a:endParaRPr lang="en-US" sz="950" dirty="0"/>
          </a:p>
        </p:txBody>
      </p:sp>
      <p:sp>
        <p:nvSpPr>
          <p:cNvPr id="60" name="Shape 58"/>
          <p:cNvSpPr/>
          <p:nvPr/>
        </p:nvSpPr>
        <p:spPr>
          <a:xfrm>
            <a:off x="5833872" y="5184648"/>
            <a:ext cx="18288" cy="457200"/>
          </a:xfrm>
          <a:prstGeom prst="rect">
            <a:avLst/>
          </a:prstGeom>
          <a:solidFill>
            <a:srgbClr val="94A3B8"/>
          </a:solidFill>
          <a:ln w="12700">
            <a:solidFill>
              <a:srgbClr val="94A3B8"/>
            </a:solidFill>
            <a:prstDash val="solid"/>
          </a:ln>
        </p:spPr>
      </p:sp>
      <p:sp>
        <p:nvSpPr>
          <p:cNvPr id="61" name="Text 59"/>
          <p:cNvSpPr/>
          <p:nvPr/>
        </p:nvSpPr>
        <p:spPr>
          <a:xfrm>
            <a:off x="5897880" y="5202936"/>
            <a:ext cx="2880360" cy="402336"/>
          </a:xfrm>
          <a:prstGeom prst="rect">
            <a:avLst/>
          </a:prstGeom>
          <a:noFill/>
          <a:ln/>
        </p:spPr>
        <p:txBody>
          <a:bodyPr wrap="square" lIns="0" tIns="0" rIns="0" bIns="0" rtlCol="0" anchor="ctr"/>
          <a:lstStyle/>
          <a:p>
            <a:pPr marL="0" indent="0">
              <a:buNone/>
            </a:pPr>
            <a:r>
              <a:rPr lang="en-US" sz="950" dirty="0">
                <a:solidFill>
                  <a:srgbClr val="1E293B"/>
                </a:solidFill>
                <a:latin typeface="Arial" pitchFamily="34" charset="0"/>
                <a:ea typeface="Arial" pitchFamily="34" charset="-122"/>
                <a:cs typeface="Arial" pitchFamily="34" charset="-120"/>
              </a:rPr>
              <a:t>→  Corrigé → chargerPlanningEnseignant</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0D1B2A"/>
          </a:solidFill>
          <a:ln w="12700">
            <a:solidFill>
              <a:srgbClr val="0D1B2A"/>
            </a:solidFill>
            <a:prstDash val="solid"/>
          </a:ln>
        </p:spPr>
      </p:sp>
      <p:sp>
        <p:nvSpPr>
          <p:cNvPr id="3" name="Text 1"/>
          <p:cNvSpPr/>
          <p:nvPr/>
        </p:nvSpPr>
        <p:spPr>
          <a:xfrm>
            <a:off x="457200" y="64008"/>
            <a:ext cx="8229600" cy="329184"/>
          </a:xfrm>
          <a:prstGeom prst="rect">
            <a:avLst/>
          </a:prstGeom>
          <a:noFill/>
          <a:ln/>
        </p:spPr>
        <p:txBody>
          <a:bodyPr wrap="square" lIns="0" tIns="0" rIns="0" bIns="0" rtlCol="0" anchor="ctr"/>
          <a:lstStyle/>
          <a:p>
            <a:pPr marL="0" indent="0">
              <a:buNone/>
            </a:pPr>
            <a:r>
              <a:rPr lang="en-US" sz="1000" b="1" kern="0" spc="400" dirty="0">
                <a:solidFill>
                  <a:srgbClr val="0EA5E9"/>
                </a:solidFill>
                <a:latin typeface="Arial" pitchFamily="34" charset="0"/>
                <a:ea typeface="Arial" pitchFamily="34" charset="-122"/>
                <a:cs typeface="Arial" pitchFamily="34" charset="-120"/>
              </a:rPr>
              <a:t>EXTRAITS DE CODE</a:t>
            </a:r>
            <a:endParaRPr lang="en-US" sz="1000" dirty="0"/>
          </a:p>
        </p:txBody>
      </p:sp>
      <p:sp>
        <p:nvSpPr>
          <p:cNvPr id="4" name="Text 2"/>
          <p:cNvSpPr/>
          <p:nvPr/>
        </p:nvSpPr>
        <p:spPr>
          <a:xfrm>
            <a:off x="457200" y="402336"/>
            <a:ext cx="6217920" cy="493776"/>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ChatbotAIController — Méthode ask() simplifiée</a:t>
            </a:r>
            <a:endParaRPr lang="en-US" sz="2000" dirty="0"/>
          </a:p>
        </p:txBody>
      </p:sp>
      <p:sp>
        <p:nvSpPr>
          <p:cNvPr id="5" name="Text 3"/>
          <p:cNvSpPr/>
          <p:nvPr/>
        </p:nvSpPr>
        <p:spPr>
          <a:xfrm>
            <a:off x="6400800" y="457200"/>
            <a:ext cx="2560320" cy="384048"/>
          </a:xfrm>
          <a:prstGeom prst="rect">
            <a:avLst/>
          </a:prstGeom>
          <a:noFill/>
          <a:ln/>
        </p:spPr>
        <p:txBody>
          <a:bodyPr wrap="square" lIns="0" tIns="0" rIns="0" bIns="0" rtlCol="0" anchor="ctr"/>
          <a:lstStyle/>
          <a:p>
            <a:pPr marL="0" indent="0" algn="r">
              <a:buNone/>
            </a:pPr>
            <a:r>
              <a:rPr lang="en-US" sz="1100" dirty="0">
                <a:solidFill>
                  <a:srgbClr val="0EA5E9"/>
                </a:solidFill>
                <a:latin typeface="Arial" pitchFamily="34" charset="0"/>
                <a:ea typeface="Arial" pitchFamily="34" charset="-122"/>
                <a:cs typeface="Arial" pitchFamily="34" charset="-120"/>
              </a:rPr>
              <a:t>PHP Laravel 10</a:t>
            </a:r>
            <a:endParaRPr lang="en-US" sz="1100" dirty="0"/>
          </a:p>
        </p:txBody>
      </p:sp>
      <p:sp>
        <p:nvSpPr>
          <p:cNvPr id="6" name="Shape 4"/>
          <p:cNvSpPr/>
          <p:nvPr/>
        </p:nvSpPr>
        <p:spPr>
          <a:xfrm>
            <a:off x="274320" y="1051559"/>
            <a:ext cx="8595360" cy="8056721"/>
          </a:xfrm>
          <a:prstGeom prst="roundRect">
            <a:avLst>
              <a:gd name="adj" fmla="val 2119"/>
            </a:avLst>
          </a:prstGeom>
          <a:solidFill>
            <a:srgbClr val="0D1B2A"/>
          </a:solidFill>
          <a:ln w="12700">
            <a:solidFill>
              <a:srgbClr val="0EA5E9"/>
            </a:solidFill>
            <a:prstDash val="solid"/>
          </a:ln>
          <a:effectLst>
            <a:outerShdw blurRad="88900" dist="25400" dir="2700000" algn="bl" rotWithShape="0">
              <a:srgbClr val="000000">
                <a:alpha val="13000"/>
              </a:srgbClr>
            </a:outerShdw>
          </a:effectLst>
        </p:spPr>
      </p:sp>
      <p:sp>
        <p:nvSpPr>
          <p:cNvPr id="7" name="Text 5"/>
          <p:cNvSpPr/>
          <p:nvPr/>
        </p:nvSpPr>
        <p:spPr>
          <a:xfrm>
            <a:off x="411480" y="114300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app/Http/Controllers/ChatbotAIController.php</a:t>
            </a:r>
            <a:endParaRPr lang="en-US" sz="850" dirty="0"/>
          </a:p>
        </p:txBody>
      </p:sp>
      <p:sp>
        <p:nvSpPr>
          <p:cNvPr id="8" name="Text 6"/>
          <p:cNvSpPr/>
          <p:nvPr/>
        </p:nvSpPr>
        <p:spPr>
          <a:xfrm>
            <a:off x="411480" y="1325880"/>
            <a:ext cx="8321040" cy="182880"/>
          </a:xfrm>
          <a:prstGeom prst="rect">
            <a:avLst/>
          </a:prstGeom>
          <a:noFill/>
          <a:ln/>
        </p:spPr>
        <p:txBody>
          <a:bodyPr wrap="square" lIns="0" tIns="0" rIns="0" bIns="0" rtlCol="0" anchor="ctr"/>
          <a:lstStyle/>
          <a:p>
            <a:pPr marL="0" indent="0">
              <a:buNone/>
            </a:pPr>
            <a:endParaRPr lang="en-US" sz="850" dirty="0"/>
          </a:p>
        </p:txBody>
      </p:sp>
      <p:sp>
        <p:nvSpPr>
          <p:cNvPr id="9" name="Text 7"/>
          <p:cNvSpPr/>
          <p:nvPr/>
        </p:nvSpPr>
        <p:spPr>
          <a:xfrm>
            <a:off x="411480" y="150876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public function ask(Request $request) {</a:t>
            </a:r>
            <a:endParaRPr lang="en-US" sz="850" dirty="0"/>
          </a:p>
        </p:txBody>
      </p:sp>
      <p:sp>
        <p:nvSpPr>
          <p:cNvPr id="10" name="Text 8"/>
          <p:cNvSpPr/>
          <p:nvPr/>
        </p:nvSpPr>
        <p:spPr>
          <a:xfrm>
            <a:off x="411480" y="169164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$message   = $request-&gt;input('message');</a:t>
            </a:r>
            <a:endParaRPr lang="en-US" sz="850" dirty="0"/>
          </a:p>
        </p:txBody>
      </p:sp>
      <p:sp>
        <p:nvSpPr>
          <p:cNvPr id="11" name="Text 9"/>
          <p:cNvSpPr/>
          <p:nvPr/>
        </p:nvSpPr>
        <p:spPr>
          <a:xfrm>
            <a:off x="411480" y="187452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$history   = $request-&gt;input('history', []);</a:t>
            </a:r>
            <a:endParaRPr lang="en-US" sz="850" dirty="0"/>
          </a:p>
        </p:txBody>
      </p:sp>
      <p:sp>
        <p:nvSpPr>
          <p:cNvPr id="12" name="Text 10"/>
          <p:cNvSpPr/>
          <p:nvPr/>
        </p:nvSpPr>
        <p:spPr>
          <a:xfrm>
            <a:off x="411480" y="205740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$filiereId = $request-&gt;input('filiere_id');</a:t>
            </a:r>
            <a:endParaRPr lang="en-US" sz="850" dirty="0"/>
          </a:p>
        </p:txBody>
      </p:sp>
      <p:sp>
        <p:nvSpPr>
          <p:cNvPr id="13" name="Text 11"/>
          <p:cNvSpPr/>
          <p:nvPr/>
        </p:nvSpPr>
        <p:spPr>
          <a:xfrm>
            <a:off x="411480" y="224028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$niveauId  = $request-&gt;input('niveau_id');</a:t>
            </a:r>
            <a:endParaRPr lang="en-US" sz="850" dirty="0"/>
          </a:p>
        </p:txBody>
      </p:sp>
      <p:sp>
        <p:nvSpPr>
          <p:cNvPr id="14" name="Text 12"/>
          <p:cNvSpPr/>
          <p:nvPr/>
        </p:nvSpPr>
        <p:spPr>
          <a:xfrm>
            <a:off x="411480" y="2423160"/>
            <a:ext cx="8321040" cy="182880"/>
          </a:xfrm>
          <a:prstGeom prst="rect">
            <a:avLst/>
          </a:prstGeom>
          <a:noFill/>
          <a:ln/>
        </p:spPr>
        <p:txBody>
          <a:bodyPr wrap="square" lIns="0" tIns="0" rIns="0" bIns="0" rtlCol="0" anchor="ctr"/>
          <a:lstStyle/>
          <a:p>
            <a:pPr marL="0" indent="0">
              <a:buNone/>
            </a:pPr>
            <a:endParaRPr lang="en-US" sz="850" dirty="0"/>
          </a:p>
        </p:txBody>
      </p:sp>
      <p:sp>
        <p:nvSpPr>
          <p:cNvPr id="15" name="Text 13"/>
          <p:cNvSpPr/>
          <p:nvPr/>
        </p:nvSpPr>
        <p:spPr>
          <a:xfrm>
            <a:off x="411480" y="260604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 1. Collecte des données en base de données</a:t>
            </a:r>
            <a:endParaRPr lang="en-US" sz="850" dirty="0"/>
          </a:p>
        </p:txBody>
      </p:sp>
      <p:sp>
        <p:nvSpPr>
          <p:cNvPr id="16" name="Text 14"/>
          <p:cNvSpPr/>
          <p:nvPr/>
        </p:nvSpPr>
        <p:spPr>
          <a:xfrm>
            <a:off x="411480" y="278892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$edt         = $this-&gt;fetchEdt($filiereId, $niveauId, $enseignantId);</a:t>
            </a:r>
            <a:endParaRPr lang="en-US" sz="850" dirty="0"/>
          </a:p>
        </p:txBody>
      </p:sp>
      <p:sp>
        <p:nvSpPr>
          <p:cNvPr id="17" name="Text 15"/>
          <p:cNvSpPr/>
          <p:nvPr/>
        </p:nvSpPr>
        <p:spPr>
          <a:xfrm>
            <a:off x="411480" y="297180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$alertes     = $this-&gt;fetchAlertes($filiereId);</a:t>
            </a:r>
            <a:endParaRPr lang="en-US" sz="850" dirty="0"/>
          </a:p>
        </p:txBody>
      </p:sp>
      <p:sp>
        <p:nvSpPr>
          <p:cNvPr id="18" name="Text 16"/>
          <p:cNvSpPr/>
          <p:nvPr/>
        </p:nvSpPr>
        <p:spPr>
          <a:xfrm>
            <a:off x="411480" y="315468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$enseignants = $this-&gt;fetchEnseignants($filiereId);</a:t>
            </a:r>
            <a:endParaRPr lang="en-US" sz="850" dirty="0"/>
          </a:p>
        </p:txBody>
      </p:sp>
      <p:sp>
        <p:nvSpPr>
          <p:cNvPr id="19" name="Text 17"/>
          <p:cNvSpPr/>
          <p:nvPr/>
        </p:nvSpPr>
        <p:spPr>
          <a:xfrm>
            <a:off x="411480" y="333756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$stats       = $this-&gt;fetchStats();</a:t>
            </a:r>
            <a:endParaRPr lang="en-US" sz="850" dirty="0"/>
          </a:p>
        </p:txBody>
      </p:sp>
      <p:sp>
        <p:nvSpPr>
          <p:cNvPr id="20" name="Text 18"/>
          <p:cNvSpPr/>
          <p:nvPr/>
        </p:nvSpPr>
        <p:spPr>
          <a:xfrm>
            <a:off x="411480" y="352044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 ... (8 méthodes de collecte au total)</a:t>
            </a:r>
            <a:endParaRPr lang="en-US" sz="850" dirty="0"/>
          </a:p>
        </p:txBody>
      </p:sp>
      <p:sp>
        <p:nvSpPr>
          <p:cNvPr id="21" name="Text 19"/>
          <p:cNvSpPr/>
          <p:nvPr/>
        </p:nvSpPr>
        <p:spPr>
          <a:xfrm>
            <a:off x="411480" y="3703320"/>
            <a:ext cx="8321040" cy="182880"/>
          </a:xfrm>
          <a:prstGeom prst="rect">
            <a:avLst/>
          </a:prstGeom>
          <a:noFill/>
          <a:ln/>
        </p:spPr>
        <p:txBody>
          <a:bodyPr wrap="square" lIns="0" tIns="0" rIns="0" bIns="0" rtlCol="0" anchor="ctr"/>
          <a:lstStyle/>
          <a:p>
            <a:pPr marL="0" indent="0">
              <a:buNone/>
            </a:pPr>
            <a:endParaRPr lang="en-US" sz="850" dirty="0"/>
          </a:p>
        </p:txBody>
      </p:sp>
      <p:sp>
        <p:nvSpPr>
          <p:cNvPr id="22" name="Text 20"/>
          <p:cNvSpPr/>
          <p:nvPr/>
        </p:nvSpPr>
        <p:spPr>
          <a:xfrm>
            <a:off x="411480" y="388620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 2. Décision de recherche web</a:t>
            </a:r>
            <a:endParaRPr lang="en-US" sz="850" dirty="0"/>
          </a:p>
        </p:txBody>
      </p:sp>
      <p:sp>
        <p:nvSpPr>
          <p:cNvPr id="23" name="Text 21"/>
          <p:cNvSpPr/>
          <p:nvPr/>
        </p:nvSpPr>
        <p:spPr>
          <a:xfrm>
            <a:off x="411480" y="406908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$webResults = $this-&gt;needsWebSearch($message)</a:t>
            </a:r>
            <a:endParaRPr lang="en-US" sz="850" dirty="0"/>
          </a:p>
        </p:txBody>
      </p:sp>
      <p:sp>
        <p:nvSpPr>
          <p:cNvPr id="24" name="Text 22"/>
          <p:cNvSpPr/>
          <p:nvPr/>
        </p:nvSpPr>
        <p:spPr>
          <a:xfrm>
            <a:off x="411480" y="425196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 $this-&gt;searchWeb($message) : null;</a:t>
            </a:r>
            <a:endParaRPr lang="en-US" sz="850" dirty="0"/>
          </a:p>
        </p:txBody>
      </p:sp>
      <p:sp>
        <p:nvSpPr>
          <p:cNvPr id="25" name="Text 23"/>
          <p:cNvSpPr/>
          <p:nvPr/>
        </p:nvSpPr>
        <p:spPr>
          <a:xfrm>
            <a:off x="411480" y="4434840"/>
            <a:ext cx="8321040" cy="182880"/>
          </a:xfrm>
          <a:prstGeom prst="rect">
            <a:avLst/>
          </a:prstGeom>
          <a:noFill/>
          <a:ln/>
        </p:spPr>
        <p:txBody>
          <a:bodyPr wrap="square" lIns="0" tIns="0" rIns="0" bIns="0" rtlCol="0" anchor="ctr"/>
          <a:lstStyle/>
          <a:p>
            <a:pPr marL="0" indent="0">
              <a:buNone/>
            </a:pPr>
            <a:endParaRPr lang="en-US" sz="850" dirty="0"/>
          </a:p>
        </p:txBody>
      </p:sp>
      <p:sp>
        <p:nvSpPr>
          <p:cNvPr id="26" name="Text 24"/>
          <p:cNvSpPr/>
          <p:nvPr/>
        </p:nvSpPr>
        <p:spPr>
          <a:xfrm>
            <a:off x="411480" y="461772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 3. Construction du prompt système complet</a:t>
            </a:r>
            <a:endParaRPr lang="en-US" sz="850" dirty="0"/>
          </a:p>
        </p:txBody>
      </p:sp>
      <p:sp>
        <p:nvSpPr>
          <p:cNvPr id="27" name="Text 25"/>
          <p:cNvSpPr/>
          <p:nvPr/>
        </p:nvSpPr>
        <p:spPr>
          <a:xfrm>
            <a:off x="411480" y="480060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$systemPrompt = $this-&gt;buildSystemPrompt(</a:t>
            </a:r>
            <a:endParaRPr lang="en-US" sz="850" dirty="0"/>
          </a:p>
        </p:txBody>
      </p:sp>
      <p:sp>
        <p:nvSpPr>
          <p:cNvPr id="28" name="Text 26"/>
          <p:cNvSpPr/>
          <p:nvPr/>
        </p:nvSpPr>
        <p:spPr>
          <a:xfrm>
            <a:off x="411480" y="498348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$edt, $alertes, $enseignants, $stats,</a:t>
            </a:r>
            <a:endParaRPr lang="en-US" sz="850" dirty="0"/>
          </a:p>
        </p:txBody>
      </p:sp>
      <p:sp>
        <p:nvSpPr>
          <p:cNvPr id="29" name="Text 27"/>
          <p:cNvSpPr/>
          <p:nvPr/>
        </p:nvSpPr>
        <p:spPr>
          <a:xfrm>
            <a:off x="411480" y="516636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$user, $webResults</a:t>
            </a:r>
            <a:endParaRPr lang="en-US" sz="850" dirty="0"/>
          </a:p>
        </p:txBody>
      </p:sp>
      <p:sp>
        <p:nvSpPr>
          <p:cNvPr id="30" name="Text 28"/>
          <p:cNvSpPr/>
          <p:nvPr/>
        </p:nvSpPr>
        <p:spPr>
          <a:xfrm>
            <a:off x="411480" y="534924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a:t>
            </a:r>
            <a:endParaRPr lang="en-US" sz="850" dirty="0"/>
          </a:p>
        </p:txBody>
      </p:sp>
      <p:sp>
        <p:nvSpPr>
          <p:cNvPr id="31" name="Text 29"/>
          <p:cNvSpPr/>
          <p:nvPr/>
        </p:nvSpPr>
        <p:spPr>
          <a:xfrm>
            <a:off x="411480" y="5532120"/>
            <a:ext cx="8321040" cy="182880"/>
          </a:xfrm>
          <a:prstGeom prst="rect">
            <a:avLst/>
          </a:prstGeom>
          <a:noFill/>
          <a:ln/>
        </p:spPr>
        <p:txBody>
          <a:bodyPr wrap="square" lIns="0" tIns="0" rIns="0" bIns="0" rtlCol="0" anchor="ctr"/>
          <a:lstStyle/>
          <a:p>
            <a:pPr marL="0" indent="0">
              <a:buNone/>
            </a:pPr>
            <a:endParaRPr lang="en-US" sz="850" dirty="0"/>
          </a:p>
        </p:txBody>
      </p:sp>
      <p:sp>
        <p:nvSpPr>
          <p:cNvPr id="32" name="Text 30"/>
          <p:cNvSpPr/>
          <p:nvPr/>
        </p:nvSpPr>
        <p:spPr>
          <a:xfrm>
            <a:off x="411480" y="571500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 4. Appel à l'API Groq (format OpenAI)</a:t>
            </a:r>
            <a:endParaRPr lang="en-US" sz="850" dirty="0"/>
          </a:p>
        </p:txBody>
      </p:sp>
      <p:sp>
        <p:nvSpPr>
          <p:cNvPr id="33" name="Text 31"/>
          <p:cNvSpPr/>
          <p:nvPr/>
        </p:nvSpPr>
        <p:spPr>
          <a:xfrm>
            <a:off x="411480" y="589788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$messages = [</a:t>
            </a:r>
            <a:endParaRPr lang="en-US" sz="850" dirty="0"/>
          </a:p>
        </p:txBody>
      </p:sp>
      <p:sp>
        <p:nvSpPr>
          <p:cNvPr id="34" name="Text 32"/>
          <p:cNvSpPr/>
          <p:nvPr/>
        </p:nvSpPr>
        <p:spPr>
          <a:xfrm>
            <a:off x="411480" y="608076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['role'=&gt;'system', 'content'=&gt;$systemPrompt],</a:t>
            </a:r>
            <a:endParaRPr lang="en-US" sz="850" dirty="0"/>
          </a:p>
        </p:txBody>
      </p:sp>
      <p:sp>
        <p:nvSpPr>
          <p:cNvPr id="35" name="Text 33"/>
          <p:cNvSpPr/>
          <p:nvPr/>
        </p:nvSpPr>
        <p:spPr>
          <a:xfrm>
            <a:off x="411480" y="626364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...$history,</a:t>
            </a:r>
            <a:endParaRPr lang="en-US" sz="850" dirty="0"/>
          </a:p>
        </p:txBody>
      </p:sp>
      <p:sp>
        <p:nvSpPr>
          <p:cNvPr id="36" name="Text 34"/>
          <p:cNvSpPr/>
          <p:nvPr/>
        </p:nvSpPr>
        <p:spPr>
          <a:xfrm>
            <a:off x="411480" y="644652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['role'=&gt;'user',   'content'=&gt;$message]</a:t>
            </a:r>
            <a:endParaRPr lang="en-US" sz="850" dirty="0"/>
          </a:p>
        </p:txBody>
      </p:sp>
      <p:sp>
        <p:nvSpPr>
          <p:cNvPr id="37" name="Text 35"/>
          <p:cNvSpPr/>
          <p:nvPr/>
        </p:nvSpPr>
        <p:spPr>
          <a:xfrm>
            <a:off x="411480" y="662940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a:t>
            </a:r>
            <a:endParaRPr lang="en-US" sz="850" dirty="0"/>
          </a:p>
        </p:txBody>
      </p:sp>
      <p:sp>
        <p:nvSpPr>
          <p:cNvPr id="38" name="Text 36"/>
          <p:cNvSpPr/>
          <p:nvPr/>
        </p:nvSpPr>
        <p:spPr>
          <a:xfrm>
            <a:off x="411480" y="681228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$res = Http::withToken(env('GROQ_API_KEY'))</a:t>
            </a:r>
            <a:endParaRPr lang="en-US" sz="850" dirty="0"/>
          </a:p>
        </p:txBody>
      </p:sp>
      <p:sp>
        <p:nvSpPr>
          <p:cNvPr id="39" name="Text 37"/>
          <p:cNvSpPr/>
          <p:nvPr/>
        </p:nvSpPr>
        <p:spPr>
          <a:xfrm>
            <a:off x="411480" y="699516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-&gt;post('https://api.groq.com/openai/v1/chat/completions', [</a:t>
            </a:r>
            <a:endParaRPr lang="en-US" sz="850" dirty="0"/>
          </a:p>
        </p:txBody>
      </p:sp>
      <p:sp>
        <p:nvSpPr>
          <p:cNvPr id="40" name="Text 38"/>
          <p:cNvSpPr/>
          <p:nvPr/>
        </p:nvSpPr>
        <p:spPr>
          <a:xfrm>
            <a:off x="411480" y="717804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'model'       =&gt; 'llama-3.1-8b-instant',</a:t>
            </a:r>
            <a:endParaRPr lang="en-US" sz="850" dirty="0"/>
          </a:p>
        </p:txBody>
      </p:sp>
      <p:sp>
        <p:nvSpPr>
          <p:cNvPr id="41" name="Text 39"/>
          <p:cNvSpPr/>
          <p:nvPr/>
        </p:nvSpPr>
        <p:spPr>
          <a:xfrm>
            <a:off x="411480" y="736092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'messages'    =&gt; $messages,</a:t>
            </a:r>
            <a:endParaRPr lang="en-US" sz="850" dirty="0"/>
          </a:p>
        </p:txBody>
      </p:sp>
      <p:sp>
        <p:nvSpPr>
          <p:cNvPr id="42" name="Text 40"/>
          <p:cNvSpPr/>
          <p:nvPr/>
        </p:nvSpPr>
        <p:spPr>
          <a:xfrm>
            <a:off x="411480" y="754380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'temperature' =&gt; 0.3,</a:t>
            </a:r>
            <a:endParaRPr lang="en-US" sz="850" dirty="0"/>
          </a:p>
        </p:txBody>
      </p:sp>
      <p:sp>
        <p:nvSpPr>
          <p:cNvPr id="43" name="Text 41"/>
          <p:cNvSpPr/>
          <p:nvPr/>
        </p:nvSpPr>
        <p:spPr>
          <a:xfrm>
            <a:off x="411480" y="772668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'max_tokens'  =&gt; 500,</a:t>
            </a:r>
            <a:endParaRPr lang="en-US" sz="850" dirty="0"/>
          </a:p>
        </p:txBody>
      </p:sp>
      <p:sp>
        <p:nvSpPr>
          <p:cNvPr id="44" name="Text 42"/>
          <p:cNvSpPr/>
          <p:nvPr/>
        </p:nvSpPr>
        <p:spPr>
          <a:xfrm>
            <a:off x="411480" y="790956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a:t>
            </a:r>
            <a:endParaRPr lang="en-US" sz="850" dirty="0"/>
          </a:p>
        </p:txBody>
      </p:sp>
      <p:sp>
        <p:nvSpPr>
          <p:cNvPr id="45" name="Text 43"/>
          <p:cNvSpPr/>
          <p:nvPr/>
        </p:nvSpPr>
        <p:spPr>
          <a:xfrm>
            <a:off x="411480" y="8092440"/>
            <a:ext cx="8321040" cy="182880"/>
          </a:xfrm>
          <a:prstGeom prst="rect">
            <a:avLst/>
          </a:prstGeom>
          <a:noFill/>
          <a:ln/>
        </p:spPr>
        <p:txBody>
          <a:bodyPr wrap="square" lIns="0" tIns="0" rIns="0" bIns="0" rtlCol="0" anchor="ctr"/>
          <a:lstStyle/>
          <a:p>
            <a:pPr marL="0" indent="0">
              <a:buNone/>
            </a:pPr>
            <a:endParaRPr lang="en-US" sz="850" dirty="0"/>
          </a:p>
        </p:txBody>
      </p:sp>
      <p:sp>
        <p:nvSpPr>
          <p:cNvPr id="46" name="Text 44"/>
          <p:cNvSpPr/>
          <p:nvPr/>
        </p:nvSpPr>
        <p:spPr>
          <a:xfrm>
            <a:off x="411480" y="827532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 5. Retour JSON { message, action, params }</a:t>
            </a:r>
            <a:endParaRPr lang="en-US" sz="850" dirty="0"/>
          </a:p>
        </p:txBody>
      </p:sp>
      <p:sp>
        <p:nvSpPr>
          <p:cNvPr id="47" name="Text 45"/>
          <p:cNvSpPr/>
          <p:nvPr/>
        </p:nvSpPr>
        <p:spPr>
          <a:xfrm>
            <a:off x="411480" y="845820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return response()-&gt;json(</a:t>
            </a:r>
            <a:endParaRPr lang="en-US" sz="850" dirty="0"/>
          </a:p>
        </p:txBody>
      </p:sp>
      <p:sp>
        <p:nvSpPr>
          <p:cNvPr id="48" name="Text 46"/>
          <p:cNvSpPr/>
          <p:nvPr/>
        </p:nvSpPr>
        <p:spPr>
          <a:xfrm>
            <a:off x="411480" y="864108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json_decode($res-&gt;json('choices.0.message.content'))</a:t>
            </a:r>
            <a:endParaRPr lang="en-US" sz="850" dirty="0"/>
          </a:p>
        </p:txBody>
      </p:sp>
      <p:sp>
        <p:nvSpPr>
          <p:cNvPr id="49" name="Text 47"/>
          <p:cNvSpPr/>
          <p:nvPr/>
        </p:nvSpPr>
        <p:spPr>
          <a:xfrm>
            <a:off x="411480" y="882396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  );</a:t>
            </a:r>
            <a:endParaRPr lang="en-US" sz="850" dirty="0"/>
          </a:p>
        </p:txBody>
      </p:sp>
      <p:sp>
        <p:nvSpPr>
          <p:cNvPr id="50" name="Text 48"/>
          <p:cNvSpPr/>
          <p:nvPr/>
        </p:nvSpPr>
        <p:spPr>
          <a:xfrm>
            <a:off x="411480" y="9006840"/>
            <a:ext cx="8321040" cy="182880"/>
          </a:xfrm>
          <a:prstGeom prst="rect">
            <a:avLst/>
          </a:prstGeom>
          <a:noFill/>
          <a:ln/>
        </p:spPr>
        <p:txBody>
          <a:bodyPr wrap="square" lIns="0" tIns="0" rIns="0" bIns="0" rtlCol="0" anchor="ctr"/>
          <a:lstStyle/>
          <a:p>
            <a:pPr marL="0" indent="0">
              <a:buNone/>
            </a:pPr>
            <a:r>
              <a:rPr lang="en-US" sz="850" dirty="0">
                <a:solidFill>
                  <a:srgbClr val="6EE7B7"/>
                </a:solidFill>
                <a:latin typeface="Courier New" pitchFamily="34" charset="0"/>
                <a:ea typeface="Courier New" pitchFamily="34" charset="-122"/>
                <a:cs typeface="Courier New" pitchFamily="34" charset="-120"/>
              </a:rPr>
              <a:t>}</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0D1B2A"/>
          </a:solidFill>
          <a:ln w="12700">
            <a:solidFill>
              <a:srgbClr val="0D1B2A"/>
            </a:solidFill>
            <a:prstDash val="solid"/>
          </a:ln>
        </p:spPr>
      </p:sp>
      <p:sp>
        <p:nvSpPr>
          <p:cNvPr id="3" name="Text 1"/>
          <p:cNvSpPr/>
          <p:nvPr/>
        </p:nvSpPr>
        <p:spPr>
          <a:xfrm>
            <a:off x="457200" y="64008"/>
            <a:ext cx="8229600" cy="329184"/>
          </a:xfrm>
          <a:prstGeom prst="rect">
            <a:avLst/>
          </a:prstGeom>
          <a:noFill/>
          <a:ln/>
        </p:spPr>
        <p:txBody>
          <a:bodyPr wrap="square" lIns="0" tIns="0" rIns="0" bIns="0" rtlCol="0" anchor="ctr"/>
          <a:lstStyle/>
          <a:p>
            <a:pPr marL="0" indent="0">
              <a:buNone/>
            </a:pPr>
            <a:r>
              <a:rPr lang="en-US" sz="1000" b="1" kern="0" spc="400" dirty="0">
                <a:solidFill>
                  <a:srgbClr val="0EA5E9"/>
                </a:solidFill>
                <a:latin typeface="Arial" pitchFamily="34" charset="0"/>
                <a:ea typeface="Arial" pitchFamily="34" charset="-122"/>
                <a:cs typeface="Arial" pitchFamily="34" charset="-120"/>
              </a:rPr>
              <a:t>MÉTRIQUES &amp; PERFORMANCES</a:t>
            </a:r>
            <a:endParaRPr lang="en-US" sz="1000" dirty="0"/>
          </a:p>
        </p:txBody>
      </p:sp>
      <p:sp>
        <p:nvSpPr>
          <p:cNvPr id="4" name="Text 2"/>
          <p:cNvSpPr/>
          <p:nvPr/>
        </p:nvSpPr>
        <p:spPr>
          <a:xfrm>
            <a:off x="457200" y="402336"/>
            <a:ext cx="6217920" cy="493776"/>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Chiffres clés du système IA</a:t>
            </a:r>
            <a:endParaRPr lang="en-US" sz="2000" dirty="0"/>
          </a:p>
        </p:txBody>
      </p:sp>
      <p:sp>
        <p:nvSpPr>
          <p:cNvPr id="5" name="Text 3"/>
          <p:cNvSpPr/>
          <p:nvPr/>
        </p:nvSpPr>
        <p:spPr>
          <a:xfrm>
            <a:off x="6400800" y="457200"/>
            <a:ext cx="2560320" cy="384048"/>
          </a:xfrm>
          <a:prstGeom prst="rect">
            <a:avLst/>
          </a:prstGeom>
          <a:noFill/>
          <a:ln/>
        </p:spPr>
        <p:txBody>
          <a:bodyPr wrap="square" lIns="0" tIns="0" rIns="0" bIns="0" rtlCol="0" anchor="ctr"/>
          <a:lstStyle/>
          <a:p>
            <a:pPr marL="0" indent="0" algn="r">
              <a:buNone/>
            </a:pPr>
            <a:r>
              <a:rPr lang="en-US" sz="1100" dirty="0">
                <a:solidFill>
                  <a:srgbClr val="0EA5E9"/>
                </a:solidFill>
                <a:latin typeface="Arial" pitchFamily="34" charset="0"/>
                <a:ea typeface="Arial" pitchFamily="34" charset="-122"/>
                <a:cs typeface="Arial" pitchFamily="34" charset="-120"/>
              </a:rPr>
              <a:t>Groq · Tavily · Optimisations</a:t>
            </a:r>
            <a:endParaRPr lang="en-US" sz="1100" dirty="0"/>
          </a:p>
        </p:txBody>
      </p:sp>
      <p:sp>
        <p:nvSpPr>
          <p:cNvPr id="6" name="Shape 4"/>
          <p:cNvSpPr/>
          <p:nvPr/>
        </p:nvSpPr>
        <p:spPr>
          <a:xfrm>
            <a:off x="274320" y="1051560"/>
            <a:ext cx="2084832" cy="1993392"/>
          </a:xfrm>
          <a:prstGeom prst="roundRect">
            <a:avLst>
              <a:gd name="adj" fmla="val 6422"/>
            </a:avLst>
          </a:prstGeom>
          <a:solidFill>
            <a:srgbClr val="D1FAE5"/>
          </a:solidFill>
          <a:ln w="19050">
            <a:solidFill>
              <a:srgbClr val="10B981"/>
            </a:solidFill>
            <a:prstDash val="solid"/>
          </a:ln>
          <a:effectLst>
            <a:outerShdw blurRad="88900" dist="25400" dir="2700000" algn="bl" rotWithShape="0">
              <a:srgbClr val="000000">
                <a:alpha val="13000"/>
              </a:srgbClr>
            </a:outerShdw>
          </a:effectLst>
        </p:spPr>
      </p:sp>
      <p:sp>
        <p:nvSpPr>
          <p:cNvPr id="7" name="Text 5"/>
          <p:cNvSpPr/>
          <p:nvPr/>
        </p:nvSpPr>
        <p:spPr>
          <a:xfrm>
            <a:off x="274320" y="1188720"/>
            <a:ext cx="2084832" cy="658368"/>
          </a:xfrm>
          <a:prstGeom prst="rect">
            <a:avLst/>
          </a:prstGeom>
          <a:noFill/>
          <a:ln/>
        </p:spPr>
        <p:txBody>
          <a:bodyPr wrap="square" lIns="0" tIns="0" rIns="0" bIns="0" rtlCol="0" anchor="ctr"/>
          <a:lstStyle/>
          <a:p>
            <a:pPr marL="0" indent="0" algn="ctr">
              <a:buNone/>
            </a:pPr>
            <a:r>
              <a:rPr lang="en-US" sz="3600" b="1" dirty="0">
                <a:solidFill>
                  <a:srgbClr val="10B981"/>
                </a:solidFill>
                <a:latin typeface="Arial" pitchFamily="34" charset="0"/>
                <a:ea typeface="Arial" pitchFamily="34" charset="-122"/>
                <a:cs typeface="Arial" pitchFamily="34" charset="-120"/>
              </a:rPr>
              <a:t>~800</a:t>
            </a:r>
            <a:endParaRPr lang="en-US" sz="3600" dirty="0"/>
          </a:p>
        </p:txBody>
      </p:sp>
      <p:sp>
        <p:nvSpPr>
          <p:cNvPr id="8" name="Text 6"/>
          <p:cNvSpPr/>
          <p:nvPr/>
        </p:nvSpPr>
        <p:spPr>
          <a:xfrm>
            <a:off x="365760" y="1828800"/>
            <a:ext cx="1901952" cy="292608"/>
          </a:xfrm>
          <a:prstGeom prst="rect">
            <a:avLst/>
          </a:prstGeom>
          <a:noFill/>
          <a:ln/>
        </p:spPr>
        <p:txBody>
          <a:bodyPr wrap="square" lIns="0" tIns="0" rIns="0" bIns="0" rtlCol="0" anchor="ctr"/>
          <a:lstStyle/>
          <a:p>
            <a:pPr marL="0" indent="0" algn="ctr">
              <a:buNone/>
            </a:pPr>
            <a:r>
              <a:rPr lang="en-US" sz="1300" b="1" dirty="0">
                <a:solidFill>
                  <a:srgbClr val="1E293B"/>
                </a:solidFill>
                <a:latin typeface="Arial" pitchFamily="34" charset="0"/>
                <a:ea typeface="Arial" pitchFamily="34" charset="-122"/>
                <a:cs typeface="Arial" pitchFamily="34" charset="-120"/>
              </a:rPr>
              <a:t>tokens/prompt</a:t>
            </a:r>
            <a:endParaRPr lang="en-US" sz="1300" dirty="0"/>
          </a:p>
        </p:txBody>
      </p:sp>
      <p:sp>
        <p:nvSpPr>
          <p:cNvPr id="9" name="Shape 7"/>
          <p:cNvSpPr/>
          <p:nvPr/>
        </p:nvSpPr>
        <p:spPr>
          <a:xfrm>
            <a:off x="457200" y="2130552"/>
            <a:ext cx="1719072" cy="18288"/>
          </a:xfrm>
          <a:prstGeom prst="rect">
            <a:avLst/>
          </a:prstGeom>
          <a:solidFill>
            <a:srgbClr val="10B981">
              <a:alpha val="40000"/>
            </a:srgbClr>
          </a:solidFill>
          <a:ln w="12700">
            <a:solidFill>
              <a:srgbClr val="10B981"/>
            </a:solidFill>
            <a:prstDash val="solid"/>
          </a:ln>
        </p:spPr>
      </p:sp>
      <p:sp>
        <p:nvSpPr>
          <p:cNvPr id="10" name="Text 8"/>
          <p:cNvSpPr/>
          <p:nvPr/>
        </p:nvSpPr>
        <p:spPr>
          <a:xfrm>
            <a:off x="365760" y="2194560"/>
            <a:ext cx="1901952" cy="749808"/>
          </a:xfrm>
          <a:prstGeom prst="rect">
            <a:avLst/>
          </a:prstGeom>
          <a:noFill/>
          <a:ln/>
        </p:spPr>
        <p:txBody>
          <a:bodyPr wrap="square" lIns="0" tIns="0" rIns="0" bIns="0" rtlCol="0" anchor="ctr"/>
          <a:lstStyle/>
          <a:p>
            <a:pPr marL="0" indent="0" algn="ctr">
              <a:buNone/>
            </a:pPr>
            <a:r>
              <a:rPr lang="en-US" sz="950" dirty="0">
                <a:solidFill>
                  <a:srgbClr val="475569"/>
                </a:solidFill>
                <a:latin typeface="Arial" pitchFamily="34" charset="0"/>
                <a:ea typeface="Arial" pitchFamily="34" charset="-122"/>
                <a:cs typeface="Arial" pitchFamily="34" charset="-120"/>
              </a:rPr>
              <a:t>Après optimisation (-76% vs initial 3 400)</a:t>
            </a:r>
            <a:endParaRPr lang="en-US" sz="950" dirty="0"/>
          </a:p>
        </p:txBody>
      </p:sp>
      <p:sp>
        <p:nvSpPr>
          <p:cNvPr id="11" name="Shape 9"/>
          <p:cNvSpPr/>
          <p:nvPr/>
        </p:nvSpPr>
        <p:spPr>
          <a:xfrm>
            <a:off x="2468880" y="1051560"/>
            <a:ext cx="2084832" cy="1993392"/>
          </a:xfrm>
          <a:prstGeom prst="roundRect">
            <a:avLst>
              <a:gd name="adj" fmla="val 6422"/>
            </a:avLst>
          </a:prstGeom>
          <a:solidFill>
            <a:srgbClr val="DBEAFE"/>
          </a:solidFill>
          <a:ln w="19050">
            <a:solidFill>
              <a:srgbClr val="1B4FD8"/>
            </a:solidFill>
            <a:prstDash val="solid"/>
          </a:ln>
          <a:effectLst>
            <a:outerShdw blurRad="88900" dist="25400" dir="2700000" algn="bl" rotWithShape="0">
              <a:srgbClr val="000000">
                <a:alpha val="13000"/>
              </a:srgbClr>
            </a:outerShdw>
          </a:effectLst>
        </p:spPr>
      </p:sp>
      <p:sp>
        <p:nvSpPr>
          <p:cNvPr id="12" name="Text 10"/>
          <p:cNvSpPr/>
          <p:nvPr/>
        </p:nvSpPr>
        <p:spPr>
          <a:xfrm>
            <a:off x="2468880" y="1188720"/>
            <a:ext cx="2084832" cy="658368"/>
          </a:xfrm>
          <a:prstGeom prst="rect">
            <a:avLst/>
          </a:prstGeom>
          <a:noFill/>
          <a:ln/>
        </p:spPr>
        <p:txBody>
          <a:bodyPr wrap="square" lIns="0" tIns="0" rIns="0" bIns="0" rtlCol="0" anchor="ctr"/>
          <a:lstStyle/>
          <a:p>
            <a:pPr marL="0" indent="0" algn="ctr">
              <a:buNone/>
            </a:pPr>
            <a:r>
              <a:rPr lang="en-US" sz="3600" b="1" dirty="0">
                <a:solidFill>
                  <a:srgbClr val="1B4FD8"/>
                </a:solidFill>
                <a:latin typeface="Arial" pitchFamily="34" charset="0"/>
                <a:ea typeface="Arial" pitchFamily="34" charset="-122"/>
                <a:cs typeface="Arial" pitchFamily="34" charset="-120"/>
              </a:rPr>
              <a:t>14 400</a:t>
            </a:r>
            <a:endParaRPr lang="en-US" sz="3600" dirty="0"/>
          </a:p>
        </p:txBody>
      </p:sp>
      <p:sp>
        <p:nvSpPr>
          <p:cNvPr id="13" name="Text 11"/>
          <p:cNvSpPr/>
          <p:nvPr/>
        </p:nvSpPr>
        <p:spPr>
          <a:xfrm>
            <a:off x="2560320" y="1828800"/>
            <a:ext cx="1901952" cy="292608"/>
          </a:xfrm>
          <a:prstGeom prst="rect">
            <a:avLst/>
          </a:prstGeom>
          <a:noFill/>
          <a:ln/>
        </p:spPr>
        <p:txBody>
          <a:bodyPr wrap="square" lIns="0" tIns="0" rIns="0" bIns="0" rtlCol="0" anchor="ctr"/>
          <a:lstStyle/>
          <a:p>
            <a:pPr marL="0" indent="0" algn="ctr">
              <a:buNone/>
            </a:pPr>
            <a:r>
              <a:rPr lang="en-US" sz="1300" b="1" dirty="0">
                <a:solidFill>
                  <a:srgbClr val="1E293B"/>
                </a:solidFill>
                <a:latin typeface="Arial" pitchFamily="34" charset="0"/>
                <a:ea typeface="Arial" pitchFamily="34" charset="-122"/>
                <a:cs typeface="Arial" pitchFamily="34" charset="-120"/>
              </a:rPr>
              <a:t>req/jour</a:t>
            </a:r>
            <a:endParaRPr lang="en-US" sz="1300" dirty="0"/>
          </a:p>
        </p:txBody>
      </p:sp>
      <p:sp>
        <p:nvSpPr>
          <p:cNvPr id="14" name="Shape 12"/>
          <p:cNvSpPr/>
          <p:nvPr/>
        </p:nvSpPr>
        <p:spPr>
          <a:xfrm>
            <a:off x="2651760" y="2130552"/>
            <a:ext cx="1719072" cy="18288"/>
          </a:xfrm>
          <a:prstGeom prst="rect">
            <a:avLst/>
          </a:prstGeom>
          <a:solidFill>
            <a:srgbClr val="1B4FD8">
              <a:alpha val="40000"/>
            </a:srgbClr>
          </a:solidFill>
          <a:ln w="12700">
            <a:solidFill>
              <a:srgbClr val="1B4FD8"/>
            </a:solidFill>
            <a:prstDash val="solid"/>
          </a:ln>
        </p:spPr>
      </p:sp>
      <p:sp>
        <p:nvSpPr>
          <p:cNvPr id="15" name="Text 13"/>
          <p:cNvSpPr/>
          <p:nvPr/>
        </p:nvSpPr>
        <p:spPr>
          <a:xfrm>
            <a:off x="2560320" y="2194560"/>
            <a:ext cx="1901952" cy="749808"/>
          </a:xfrm>
          <a:prstGeom prst="rect">
            <a:avLst/>
          </a:prstGeom>
          <a:noFill/>
          <a:ln/>
        </p:spPr>
        <p:txBody>
          <a:bodyPr wrap="square" lIns="0" tIns="0" rIns="0" bIns="0" rtlCol="0" anchor="ctr"/>
          <a:lstStyle/>
          <a:p>
            <a:pPr marL="0" indent="0" algn="ctr">
              <a:buNone/>
            </a:pPr>
            <a:r>
              <a:rPr lang="en-US" sz="950" dirty="0">
                <a:solidFill>
                  <a:srgbClr val="475569"/>
                </a:solidFill>
                <a:latin typeface="Arial" pitchFamily="34" charset="0"/>
                <a:ea typeface="Arial" pitchFamily="34" charset="-122"/>
                <a:cs typeface="Arial" pitchFamily="34" charset="-120"/>
              </a:rPr>
              <a:t>Quota Groq gratuit — largement suffisant</a:t>
            </a:r>
            <a:endParaRPr lang="en-US" sz="950" dirty="0"/>
          </a:p>
        </p:txBody>
      </p:sp>
      <p:sp>
        <p:nvSpPr>
          <p:cNvPr id="16" name="Shape 14"/>
          <p:cNvSpPr/>
          <p:nvPr/>
        </p:nvSpPr>
        <p:spPr>
          <a:xfrm>
            <a:off x="4663440" y="1051560"/>
            <a:ext cx="2084832" cy="1993392"/>
          </a:xfrm>
          <a:prstGeom prst="roundRect">
            <a:avLst>
              <a:gd name="adj" fmla="val 6422"/>
            </a:avLst>
          </a:prstGeom>
          <a:solidFill>
            <a:srgbClr val="EDE9FE"/>
          </a:solidFill>
          <a:ln w="19050">
            <a:solidFill>
              <a:srgbClr val="4C1D95"/>
            </a:solidFill>
            <a:prstDash val="solid"/>
          </a:ln>
          <a:effectLst>
            <a:outerShdw blurRad="88900" dist="25400" dir="2700000" algn="bl" rotWithShape="0">
              <a:srgbClr val="000000">
                <a:alpha val="13000"/>
              </a:srgbClr>
            </a:outerShdw>
          </a:effectLst>
        </p:spPr>
      </p:sp>
      <p:sp>
        <p:nvSpPr>
          <p:cNvPr id="17" name="Text 15"/>
          <p:cNvSpPr/>
          <p:nvPr/>
        </p:nvSpPr>
        <p:spPr>
          <a:xfrm>
            <a:off x="4663440" y="1188720"/>
            <a:ext cx="2084832" cy="658368"/>
          </a:xfrm>
          <a:prstGeom prst="rect">
            <a:avLst/>
          </a:prstGeom>
          <a:noFill/>
          <a:ln/>
        </p:spPr>
        <p:txBody>
          <a:bodyPr wrap="square" lIns="0" tIns="0" rIns="0" bIns="0" rtlCol="0" anchor="ctr"/>
          <a:lstStyle/>
          <a:p>
            <a:pPr marL="0" indent="0" algn="ctr">
              <a:buNone/>
            </a:pPr>
            <a:r>
              <a:rPr lang="en-US" sz="3600" b="1" dirty="0">
                <a:solidFill>
                  <a:srgbClr val="4C1D95"/>
                </a:solidFill>
                <a:latin typeface="Arial" pitchFamily="34" charset="0"/>
                <a:ea typeface="Arial" pitchFamily="34" charset="-122"/>
                <a:cs typeface="Arial" pitchFamily="34" charset="-120"/>
              </a:rPr>
              <a:t>6 000</a:t>
            </a:r>
            <a:endParaRPr lang="en-US" sz="3600" dirty="0"/>
          </a:p>
        </p:txBody>
      </p:sp>
      <p:sp>
        <p:nvSpPr>
          <p:cNvPr id="18" name="Text 16"/>
          <p:cNvSpPr/>
          <p:nvPr/>
        </p:nvSpPr>
        <p:spPr>
          <a:xfrm>
            <a:off x="4754880" y="1828800"/>
            <a:ext cx="1901952" cy="292608"/>
          </a:xfrm>
          <a:prstGeom prst="rect">
            <a:avLst/>
          </a:prstGeom>
          <a:noFill/>
          <a:ln/>
        </p:spPr>
        <p:txBody>
          <a:bodyPr wrap="square" lIns="0" tIns="0" rIns="0" bIns="0" rtlCol="0" anchor="ctr"/>
          <a:lstStyle/>
          <a:p>
            <a:pPr marL="0" indent="0" algn="ctr">
              <a:buNone/>
            </a:pPr>
            <a:r>
              <a:rPr lang="en-US" sz="1300" b="1" dirty="0">
                <a:solidFill>
                  <a:srgbClr val="1E293B"/>
                </a:solidFill>
                <a:latin typeface="Arial" pitchFamily="34" charset="0"/>
                <a:ea typeface="Arial" pitchFamily="34" charset="-122"/>
                <a:cs typeface="Arial" pitchFamily="34" charset="-120"/>
              </a:rPr>
              <a:t>tokens/min</a:t>
            </a:r>
            <a:endParaRPr lang="en-US" sz="1300" dirty="0"/>
          </a:p>
        </p:txBody>
      </p:sp>
      <p:sp>
        <p:nvSpPr>
          <p:cNvPr id="19" name="Shape 17"/>
          <p:cNvSpPr/>
          <p:nvPr/>
        </p:nvSpPr>
        <p:spPr>
          <a:xfrm>
            <a:off x="4846320" y="2130552"/>
            <a:ext cx="1719072" cy="18288"/>
          </a:xfrm>
          <a:prstGeom prst="rect">
            <a:avLst/>
          </a:prstGeom>
          <a:solidFill>
            <a:srgbClr val="4C1D95">
              <a:alpha val="40000"/>
            </a:srgbClr>
          </a:solidFill>
          <a:ln w="12700">
            <a:solidFill>
              <a:srgbClr val="4C1D95"/>
            </a:solidFill>
            <a:prstDash val="solid"/>
          </a:ln>
        </p:spPr>
      </p:sp>
      <p:sp>
        <p:nvSpPr>
          <p:cNvPr id="20" name="Text 18"/>
          <p:cNvSpPr/>
          <p:nvPr/>
        </p:nvSpPr>
        <p:spPr>
          <a:xfrm>
            <a:off x="4754880" y="2194560"/>
            <a:ext cx="1901952" cy="749808"/>
          </a:xfrm>
          <a:prstGeom prst="rect">
            <a:avLst/>
          </a:prstGeom>
          <a:noFill/>
          <a:ln/>
        </p:spPr>
        <p:txBody>
          <a:bodyPr wrap="square" lIns="0" tIns="0" rIns="0" bIns="0" rtlCol="0" anchor="ctr"/>
          <a:lstStyle/>
          <a:p>
            <a:pPr marL="0" indent="0" algn="ctr">
              <a:buNone/>
            </a:pPr>
            <a:r>
              <a:rPr lang="en-US" sz="950" dirty="0">
                <a:solidFill>
                  <a:srgbClr val="475569"/>
                </a:solidFill>
                <a:latin typeface="Arial" pitchFamily="34" charset="0"/>
                <a:ea typeface="Arial" pitchFamily="34" charset="-122"/>
                <a:cs typeface="Arial" pitchFamily="34" charset="-120"/>
              </a:rPr>
              <a:t>Limite TPM Groq — maintenant respectée</a:t>
            </a:r>
            <a:endParaRPr lang="en-US" sz="950" dirty="0"/>
          </a:p>
        </p:txBody>
      </p:sp>
      <p:sp>
        <p:nvSpPr>
          <p:cNvPr id="21" name="Shape 19"/>
          <p:cNvSpPr/>
          <p:nvPr/>
        </p:nvSpPr>
        <p:spPr>
          <a:xfrm>
            <a:off x="6858000" y="1051560"/>
            <a:ext cx="2084832" cy="1993392"/>
          </a:xfrm>
          <a:prstGeom prst="roundRect">
            <a:avLst>
              <a:gd name="adj" fmla="val 6422"/>
            </a:avLst>
          </a:prstGeom>
          <a:solidFill>
            <a:srgbClr val="E0F7FA"/>
          </a:solidFill>
          <a:ln w="19050">
            <a:solidFill>
              <a:srgbClr val="0EA5E9"/>
            </a:solidFill>
            <a:prstDash val="solid"/>
          </a:ln>
          <a:effectLst>
            <a:outerShdw blurRad="88900" dist="25400" dir="2700000" algn="bl" rotWithShape="0">
              <a:srgbClr val="000000">
                <a:alpha val="13000"/>
              </a:srgbClr>
            </a:outerShdw>
          </a:effectLst>
        </p:spPr>
      </p:sp>
      <p:sp>
        <p:nvSpPr>
          <p:cNvPr id="22" name="Text 20"/>
          <p:cNvSpPr/>
          <p:nvPr/>
        </p:nvSpPr>
        <p:spPr>
          <a:xfrm>
            <a:off x="6858000" y="1188720"/>
            <a:ext cx="2084832" cy="658368"/>
          </a:xfrm>
          <a:prstGeom prst="rect">
            <a:avLst/>
          </a:prstGeom>
          <a:noFill/>
          <a:ln/>
        </p:spPr>
        <p:txBody>
          <a:bodyPr wrap="square" lIns="0" tIns="0" rIns="0" bIns="0" rtlCol="0" anchor="ctr"/>
          <a:lstStyle/>
          <a:p>
            <a:pPr marL="0" indent="0" algn="ctr">
              <a:buNone/>
            </a:pPr>
            <a:r>
              <a:rPr lang="en-US" sz="3600" b="1" dirty="0">
                <a:solidFill>
                  <a:srgbClr val="0EA5E9"/>
                </a:solidFill>
                <a:latin typeface="Arial" pitchFamily="34" charset="0"/>
                <a:ea typeface="Arial" pitchFamily="34" charset="-122"/>
                <a:cs typeface="Arial" pitchFamily="34" charset="-120"/>
              </a:rPr>
              <a:t>&lt; 2s</a:t>
            </a:r>
            <a:endParaRPr lang="en-US" sz="3600" dirty="0"/>
          </a:p>
        </p:txBody>
      </p:sp>
      <p:sp>
        <p:nvSpPr>
          <p:cNvPr id="23" name="Text 21"/>
          <p:cNvSpPr/>
          <p:nvPr/>
        </p:nvSpPr>
        <p:spPr>
          <a:xfrm>
            <a:off x="6949440" y="1828800"/>
            <a:ext cx="1901952" cy="292608"/>
          </a:xfrm>
          <a:prstGeom prst="rect">
            <a:avLst/>
          </a:prstGeom>
          <a:noFill/>
          <a:ln/>
        </p:spPr>
        <p:txBody>
          <a:bodyPr wrap="square" lIns="0" tIns="0" rIns="0" bIns="0" rtlCol="0" anchor="ctr"/>
          <a:lstStyle/>
          <a:p>
            <a:pPr marL="0" indent="0" algn="ctr">
              <a:buNone/>
            </a:pPr>
            <a:r>
              <a:rPr lang="en-US" sz="1300" b="1" dirty="0">
                <a:solidFill>
                  <a:srgbClr val="1E293B"/>
                </a:solidFill>
                <a:latin typeface="Arial" pitchFamily="34" charset="0"/>
                <a:ea typeface="Arial" pitchFamily="34" charset="-122"/>
                <a:cs typeface="Arial" pitchFamily="34" charset="-120"/>
              </a:rPr>
              <a:t>temps réponse</a:t>
            </a:r>
            <a:endParaRPr lang="en-US" sz="1300" dirty="0"/>
          </a:p>
        </p:txBody>
      </p:sp>
      <p:sp>
        <p:nvSpPr>
          <p:cNvPr id="24" name="Shape 22"/>
          <p:cNvSpPr/>
          <p:nvPr/>
        </p:nvSpPr>
        <p:spPr>
          <a:xfrm>
            <a:off x="7040880" y="2130552"/>
            <a:ext cx="1719072" cy="18288"/>
          </a:xfrm>
          <a:prstGeom prst="rect">
            <a:avLst/>
          </a:prstGeom>
          <a:solidFill>
            <a:srgbClr val="0EA5E9">
              <a:alpha val="40000"/>
            </a:srgbClr>
          </a:solidFill>
          <a:ln w="12700">
            <a:solidFill>
              <a:srgbClr val="0EA5E9"/>
            </a:solidFill>
            <a:prstDash val="solid"/>
          </a:ln>
        </p:spPr>
      </p:sp>
      <p:sp>
        <p:nvSpPr>
          <p:cNvPr id="25" name="Text 23"/>
          <p:cNvSpPr/>
          <p:nvPr/>
        </p:nvSpPr>
        <p:spPr>
          <a:xfrm>
            <a:off x="6949440" y="2194560"/>
            <a:ext cx="1901952" cy="749808"/>
          </a:xfrm>
          <a:prstGeom prst="rect">
            <a:avLst/>
          </a:prstGeom>
          <a:noFill/>
          <a:ln/>
        </p:spPr>
        <p:txBody>
          <a:bodyPr wrap="square" lIns="0" tIns="0" rIns="0" bIns="0" rtlCol="0" anchor="ctr"/>
          <a:lstStyle/>
          <a:p>
            <a:pPr marL="0" indent="0" algn="ctr">
              <a:buNone/>
            </a:pPr>
            <a:r>
              <a:rPr lang="en-US" sz="950" dirty="0">
                <a:solidFill>
                  <a:srgbClr val="475569"/>
                </a:solidFill>
                <a:latin typeface="Arial" pitchFamily="34" charset="0"/>
                <a:ea typeface="Arial" pitchFamily="34" charset="-122"/>
                <a:cs typeface="Arial" pitchFamily="34" charset="-120"/>
              </a:rPr>
              <a:t>Pour les questions sur l'application (BDD)</a:t>
            </a:r>
            <a:endParaRPr lang="en-US" sz="950" dirty="0"/>
          </a:p>
        </p:txBody>
      </p:sp>
      <p:sp>
        <p:nvSpPr>
          <p:cNvPr id="26" name="Shape 24"/>
          <p:cNvSpPr/>
          <p:nvPr/>
        </p:nvSpPr>
        <p:spPr>
          <a:xfrm>
            <a:off x="274320" y="3227832"/>
            <a:ext cx="2084832" cy="1993392"/>
          </a:xfrm>
          <a:prstGeom prst="roundRect">
            <a:avLst>
              <a:gd name="adj" fmla="val 6422"/>
            </a:avLst>
          </a:prstGeom>
          <a:solidFill>
            <a:srgbClr val="FEF3C7"/>
          </a:solidFill>
          <a:ln w="19050">
            <a:solidFill>
              <a:srgbClr val="F59E0B"/>
            </a:solidFill>
            <a:prstDash val="solid"/>
          </a:ln>
          <a:effectLst>
            <a:outerShdw blurRad="88900" dist="25400" dir="2700000" algn="bl" rotWithShape="0">
              <a:srgbClr val="000000">
                <a:alpha val="13000"/>
              </a:srgbClr>
            </a:outerShdw>
          </a:effectLst>
        </p:spPr>
      </p:sp>
      <p:sp>
        <p:nvSpPr>
          <p:cNvPr id="27" name="Text 25"/>
          <p:cNvSpPr/>
          <p:nvPr/>
        </p:nvSpPr>
        <p:spPr>
          <a:xfrm>
            <a:off x="274320" y="3364992"/>
            <a:ext cx="2084832" cy="658368"/>
          </a:xfrm>
          <a:prstGeom prst="rect">
            <a:avLst/>
          </a:prstGeom>
          <a:noFill/>
          <a:ln/>
        </p:spPr>
        <p:txBody>
          <a:bodyPr wrap="square" lIns="0" tIns="0" rIns="0" bIns="0" rtlCol="0" anchor="ctr"/>
          <a:lstStyle/>
          <a:p>
            <a:pPr marL="0" indent="0" algn="ctr">
              <a:buNone/>
            </a:pPr>
            <a:r>
              <a:rPr lang="en-US" sz="3600" b="1" dirty="0">
                <a:solidFill>
                  <a:srgbClr val="F59E0B"/>
                </a:solidFill>
                <a:latin typeface="Arial" pitchFamily="34" charset="0"/>
                <a:ea typeface="Arial" pitchFamily="34" charset="-122"/>
                <a:cs typeface="Arial" pitchFamily="34" charset="-120"/>
              </a:rPr>
              <a:t>&lt; 4s</a:t>
            </a:r>
            <a:endParaRPr lang="en-US" sz="3600" dirty="0"/>
          </a:p>
        </p:txBody>
      </p:sp>
      <p:sp>
        <p:nvSpPr>
          <p:cNvPr id="28" name="Text 26"/>
          <p:cNvSpPr/>
          <p:nvPr/>
        </p:nvSpPr>
        <p:spPr>
          <a:xfrm>
            <a:off x="365760" y="4005072"/>
            <a:ext cx="1901952" cy="292608"/>
          </a:xfrm>
          <a:prstGeom prst="rect">
            <a:avLst/>
          </a:prstGeom>
          <a:noFill/>
          <a:ln/>
        </p:spPr>
        <p:txBody>
          <a:bodyPr wrap="square" lIns="0" tIns="0" rIns="0" bIns="0" rtlCol="0" anchor="ctr"/>
          <a:lstStyle/>
          <a:p>
            <a:pPr marL="0" indent="0" algn="ctr">
              <a:buNone/>
            </a:pPr>
            <a:r>
              <a:rPr lang="en-US" sz="1300" b="1" dirty="0">
                <a:solidFill>
                  <a:srgbClr val="1E293B"/>
                </a:solidFill>
                <a:latin typeface="Arial" pitchFamily="34" charset="0"/>
                <a:ea typeface="Arial" pitchFamily="34" charset="-122"/>
                <a:cs typeface="Arial" pitchFamily="34" charset="-120"/>
              </a:rPr>
              <a:t>avec Tavily</a:t>
            </a:r>
            <a:endParaRPr lang="en-US" sz="1300" dirty="0"/>
          </a:p>
        </p:txBody>
      </p:sp>
      <p:sp>
        <p:nvSpPr>
          <p:cNvPr id="29" name="Shape 27"/>
          <p:cNvSpPr/>
          <p:nvPr/>
        </p:nvSpPr>
        <p:spPr>
          <a:xfrm>
            <a:off x="457200" y="4306824"/>
            <a:ext cx="1719072" cy="18288"/>
          </a:xfrm>
          <a:prstGeom prst="rect">
            <a:avLst/>
          </a:prstGeom>
          <a:solidFill>
            <a:srgbClr val="F59E0B">
              <a:alpha val="40000"/>
            </a:srgbClr>
          </a:solidFill>
          <a:ln w="12700">
            <a:solidFill>
              <a:srgbClr val="F59E0B"/>
            </a:solidFill>
            <a:prstDash val="solid"/>
          </a:ln>
        </p:spPr>
      </p:sp>
      <p:sp>
        <p:nvSpPr>
          <p:cNvPr id="30" name="Text 28"/>
          <p:cNvSpPr/>
          <p:nvPr/>
        </p:nvSpPr>
        <p:spPr>
          <a:xfrm>
            <a:off x="365760" y="4370832"/>
            <a:ext cx="1901952" cy="749808"/>
          </a:xfrm>
          <a:prstGeom prst="rect">
            <a:avLst/>
          </a:prstGeom>
          <a:noFill/>
          <a:ln/>
        </p:spPr>
        <p:txBody>
          <a:bodyPr wrap="square" lIns="0" tIns="0" rIns="0" bIns="0" rtlCol="0" anchor="ctr"/>
          <a:lstStyle/>
          <a:p>
            <a:pPr marL="0" indent="0" algn="ctr">
              <a:buNone/>
            </a:pPr>
            <a:r>
              <a:rPr lang="en-US" sz="950" dirty="0">
                <a:solidFill>
                  <a:srgbClr val="475569"/>
                </a:solidFill>
                <a:latin typeface="Arial" pitchFamily="34" charset="0"/>
                <a:ea typeface="Arial" pitchFamily="34" charset="-122"/>
                <a:cs typeface="Arial" pitchFamily="34" charset="-120"/>
              </a:rPr>
              <a:t>Pour les recherches web en temps réel</a:t>
            </a:r>
            <a:endParaRPr lang="en-US" sz="950" dirty="0"/>
          </a:p>
        </p:txBody>
      </p:sp>
      <p:sp>
        <p:nvSpPr>
          <p:cNvPr id="31" name="Shape 29"/>
          <p:cNvSpPr/>
          <p:nvPr/>
        </p:nvSpPr>
        <p:spPr>
          <a:xfrm>
            <a:off x="2468880" y="3227832"/>
            <a:ext cx="2084832" cy="1993392"/>
          </a:xfrm>
          <a:prstGeom prst="roundRect">
            <a:avLst>
              <a:gd name="adj" fmla="val 6422"/>
            </a:avLst>
          </a:prstGeom>
          <a:solidFill>
            <a:srgbClr val="FED7AA"/>
          </a:solidFill>
          <a:ln w="19050">
            <a:solidFill>
              <a:srgbClr val="EA580C"/>
            </a:solidFill>
            <a:prstDash val="solid"/>
          </a:ln>
          <a:effectLst>
            <a:outerShdw blurRad="88900" dist="25400" dir="2700000" algn="bl" rotWithShape="0">
              <a:srgbClr val="000000">
                <a:alpha val="13000"/>
              </a:srgbClr>
            </a:outerShdw>
          </a:effectLst>
        </p:spPr>
      </p:sp>
      <p:sp>
        <p:nvSpPr>
          <p:cNvPr id="32" name="Text 30"/>
          <p:cNvSpPr/>
          <p:nvPr/>
        </p:nvSpPr>
        <p:spPr>
          <a:xfrm>
            <a:off x="2468880" y="3364992"/>
            <a:ext cx="2084832" cy="658368"/>
          </a:xfrm>
          <a:prstGeom prst="rect">
            <a:avLst/>
          </a:prstGeom>
          <a:noFill/>
          <a:ln/>
        </p:spPr>
        <p:txBody>
          <a:bodyPr wrap="square" lIns="0" tIns="0" rIns="0" bIns="0" rtlCol="0" anchor="ctr"/>
          <a:lstStyle/>
          <a:p>
            <a:pPr marL="0" indent="0" algn="ctr">
              <a:buNone/>
            </a:pPr>
            <a:r>
              <a:rPr lang="en-US" sz="3600" b="1" dirty="0">
                <a:solidFill>
                  <a:srgbClr val="EA580C"/>
                </a:solidFill>
                <a:latin typeface="Arial" pitchFamily="34" charset="0"/>
                <a:ea typeface="Arial" pitchFamily="34" charset="-122"/>
                <a:cs typeface="Arial" pitchFamily="34" charset="-120"/>
              </a:rPr>
              <a:t>1 000</a:t>
            </a:r>
            <a:endParaRPr lang="en-US" sz="3600" dirty="0"/>
          </a:p>
        </p:txBody>
      </p:sp>
      <p:sp>
        <p:nvSpPr>
          <p:cNvPr id="33" name="Text 31"/>
          <p:cNvSpPr/>
          <p:nvPr/>
        </p:nvSpPr>
        <p:spPr>
          <a:xfrm>
            <a:off x="2560320" y="4005072"/>
            <a:ext cx="1901952" cy="292608"/>
          </a:xfrm>
          <a:prstGeom prst="rect">
            <a:avLst/>
          </a:prstGeom>
          <a:noFill/>
          <a:ln/>
        </p:spPr>
        <p:txBody>
          <a:bodyPr wrap="square" lIns="0" tIns="0" rIns="0" bIns="0" rtlCol="0" anchor="ctr"/>
          <a:lstStyle/>
          <a:p>
            <a:pPr marL="0" indent="0" algn="ctr">
              <a:buNone/>
            </a:pPr>
            <a:r>
              <a:rPr lang="en-US" sz="1300" b="1" dirty="0">
                <a:solidFill>
                  <a:srgbClr val="1E293B"/>
                </a:solidFill>
                <a:latin typeface="Arial" pitchFamily="34" charset="0"/>
                <a:ea typeface="Arial" pitchFamily="34" charset="-122"/>
                <a:cs typeface="Arial" pitchFamily="34" charset="-120"/>
              </a:rPr>
              <a:t>recherches/mois</a:t>
            </a:r>
            <a:endParaRPr lang="en-US" sz="1300" dirty="0"/>
          </a:p>
        </p:txBody>
      </p:sp>
      <p:sp>
        <p:nvSpPr>
          <p:cNvPr id="34" name="Shape 32"/>
          <p:cNvSpPr/>
          <p:nvPr/>
        </p:nvSpPr>
        <p:spPr>
          <a:xfrm>
            <a:off x="2651760" y="4306824"/>
            <a:ext cx="1719072" cy="18288"/>
          </a:xfrm>
          <a:prstGeom prst="rect">
            <a:avLst/>
          </a:prstGeom>
          <a:solidFill>
            <a:srgbClr val="EA580C">
              <a:alpha val="40000"/>
            </a:srgbClr>
          </a:solidFill>
          <a:ln w="12700">
            <a:solidFill>
              <a:srgbClr val="EA580C"/>
            </a:solidFill>
            <a:prstDash val="solid"/>
          </a:ln>
        </p:spPr>
      </p:sp>
      <p:sp>
        <p:nvSpPr>
          <p:cNvPr id="35" name="Text 33"/>
          <p:cNvSpPr/>
          <p:nvPr/>
        </p:nvSpPr>
        <p:spPr>
          <a:xfrm>
            <a:off x="2560320" y="4370832"/>
            <a:ext cx="1901952" cy="749808"/>
          </a:xfrm>
          <a:prstGeom prst="rect">
            <a:avLst/>
          </a:prstGeom>
          <a:noFill/>
          <a:ln/>
        </p:spPr>
        <p:txBody>
          <a:bodyPr wrap="square" lIns="0" tIns="0" rIns="0" bIns="0" rtlCol="0" anchor="ctr"/>
          <a:lstStyle/>
          <a:p>
            <a:pPr marL="0" indent="0" algn="ctr">
              <a:buNone/>
            </a:pPr>
            <a:r>
              <a:rPr lang="en-US" sz="950" dirty="0">
                <a:solidFill>
                  <a:srgbClr val="475569"/>
                </a:solidFill>
                <a:latin typeface="Arial" pitchFamily="34" charset="0"/>
                <a:ea typeface="Arial" pitchFamily="34" charset="-122"/>
                <a:cs typeface="Arial" pitchFamily="34" charset="-120"/>
              </a:rPr>
              <a:t>Quota Tavily gratuit — Web Search API</a:t>
            </a:r>
            <a:endParaRPr lang="en-US" sz="950" dirty="0"/>
          </a:p>
        </p:txBody>
      </p:sp>
      <p:sp>
        <p:nvSpPr>
          <p:cNvPr id="36" name="Shape 34"/>
          <p:cNvSpPr/>
          <p:nvPr/>
        </p:nvSpPr>
        <p:spPr>
          <a:xfrm>
            <a:off x="4663440" y="3227832"/>
            <a:ext cx="2084832" cy="1993392"/>
          </a:xfrm>
          <a:prstGeom prst="roundRect">
            <a:avLst>
              <a:gd name="adj" fmla="val 6422"/>
            </a:avLst>
          </a:prstGeom>
          <a:solidFill>
            <a:srgbClr val="FEE2E2"/>
          </a:solidFill>
          <a:ln w="19050">
            <a:solidFill>
              <a:srgbClr val="EF4444"/>
            </a:solidFill>
            <a:prstDash val="solid"/>
          </a:ln>
          <a:effectLst>
            <a:outerShdw blurRad="88900" dist="25400" dir="2700000" algn="bl" rotWithShape="0">
              <a:srgbClr val="000000">
                <a:alpha val="13000"/>
              </a:srgbClr>
            </a:outerShdw>
          </a:effectLst>
        </p:spPr>
      </p:sp>
      <p:sp>
        <p:nvSpPr>
          <p:cNvPr id="37" name="Text 35"/>
          <p:cNvSpPr/>
          <p:nvPr/>
        </p:nvSpPr>
        <p:spPr>
          <a:xfrm>
            <a:off x="4663440" y="3364992"/>
            <a:ext cx="2084832" cy="658368"/>
          </a:xfrm>
          <a:prstGeom prst="rect">
            <a:avLst/>
          </a:prstGeom>
          <a:noFill/>
          <a:ln/>
        </p:spPr>
        <p:txBody>
          <a:bodyPr wrap="square" lIns="0" tIns="0" rIns="0" bIns="0" rtlCol="0" anchor="ctr"/>
          <a:lstStyle/>
          <a:p>
            <a:pPr marL="0" indent="0" algn="ctr">
              <a:buNone/>
            </a:pPr>
            <a:r>
              <a:rPr lang="en-US" sz="3600" b="1" dirty="0">
                <a:solidFill>
                  <a:srgbClr val="EF4444"/>
                </a:solidFill>
                <a:latin typeface="Arial" pitchFamily="34" charset="0"/>
                <a:ea typeface="Arial" pitchFamily="34" charset="-122"/>
                <a:cs typeface="Arial" pitchFamily="34" charset="-120"/>
              </a:rPr>
              <a:t>10</a:t>
            </a:r>
            <a:endParaRPr lang="en-US" sz="3600" dirty="0"/>
          </a:p>
        </p:txBody>
      </p:sp>
      <p:sp>
        <p:nvSpPr>
          <p:cNvPr id="38" name="Text 36"/>
          <p:cNvSpPr/>
          <p:nvPr/>
        </p:nvSpPr>
        <p:spPr>
          <a:xfrm>
            <a:off x="4754880" y="4005072"/>
            <a:ext cx="1901952" cy="292608"/>
          </a:xfrm>
          <a:prstGeom prst="rect">
            <a:avLst/>
          </a:prstGeom>
          <a:noFill/>
          <a:ln/>
        </p:spPr>
        <p:txBody>
          <a:bodyPr wrap="square" lIns="0" tIns="0" rIns="0" bIns="0" rtlCol="0" anchor="ctr"/>
          <a:lstStyle/>
          <a:p>
            <a:pPr marL="0" indent="0" algn="ctr">
              <a:buNone/>
            </a:pPr>
            <a:r>
              <a:rPr lang="en-US" sz="1300" b="1" dirty="0">
                <a:solidFill>
                  <a:srgbClr val="1E293B"/>
                </a:solidFill>
                <a:latin typeface="Arial" pitchFamily="34" charset="0"/>
                <a:ea typeface="Arial" pitchFamily="34" charset="-122"/>
                <a:cs typeface="Arial" pitchFamily="34" charset="-120"/>
              </a:rPr>
              <a:t>derniers échanges</a:t>
            </a:r>
            <a:endParaRPr lang="en-US" sz="1300" dirty="0"/>
          </a:p>
        </p:txBody>
      </p:sp>
      <p:sp>
        <p:nvSpPr>
          <p:cNvPr id="39" name="Shape 37"/>
          <p:cNvSpPr/>
          <p:nvPr/>
        </p:nvSpPr>
        <p:spPr>
          <a:xfrm>
            <a:off x="4846320" y="4306824"/>
            <a:ext cx="1719072" cy="18288"/>
          </a:xfrm>
          <a:prstGeom prst="rect">
            <a:avLst/>
          </a:prstGeom>
          <a:solidFill>
            <a:srgbClr val="EF4444">
              <a:alpha val="40000"/>
            </a:srgbClr>
          </a:solidFill>
          <a:ln w="12700">
            <a:solidFill>
              <a:srgbClr val="EF4444"/>
            </a:solidFill>
            <a:prstDash val="solid"/>
          </a:ln>
        </p:spPr>
      </p:sp>
      <p:sp>
        <p:nvSpPr>
          <p:cNvPr id="40" name="Text 38"/>
          <p:cNvSpPr/>
          <p:nvPr/>
        </p:nvSpPr>
        <p:spPr>
          <a:xfrm>
            <a:off x="4754880" y="4370832"/>
            <a:ext cx="1901952" cy="749808"/>
          </a:xfrm>
          <a:prstGeom prst="rect">
            <a:avLst/>
          </a:prstGeom>
          <a:noFill/>
          <a:ln/>
        </p:spPr>
        <p:txBody>
          <a:bodyPr wrap="square" lIns="0" tIns="0" rIns="0" bIns="0" rtlCol="0" anchor="ctr"/>
          <a:lstStyle/>
          <a:p>
            <a:pPr marL="0" indent="0" algn="ctr">
              <a:buNone/>
            </a:pPr>
            <a:r>
              <a:rPr lang="en-US" sz="950" dirty="0">
                <a:solidFill>
                  <a:srgbClr val="475569"/>
                </a:solidFill>
                <a:latin typeface="Arial" pitchFamily="34" charset="0"/>
                <a:ea typeface="Arial" pitchFamily="34" charset="-122"/>
                <a:cs typeface="Arial" pitchFamily="34" charset="-120"/>
              </a:rPr>
              <a:t>Historique de conversation envoyé au modèle</a:t>
            </a:r>
            <a:endParaRPr lang="en-US" sz="950" dirty="0"/>
          </a:p>
        </p:txBody>
      </p:sp>
      <p:sp>
        <p:nvSpPr>
          <p:cNvPr id="41" name="Shape 39"/>
          <p:cNvSpPr/>
          <p:nvPr/>
        </p:nvSpPr>
        <p:spPr>
          <a:xfrm>
            <a:off x="6858000" y="3227832"/>
            <a:ext cx="2084832" cy="1993392"/>
          </a:xfrm>
          <a:prstGeom prst="roundRect">
            <a:avLst>
              <a:gd name="adj" fmla="val 6422"/>
            </a:avLst>
          </a:prstGeom>
          <a:solidFill>
            <a:srgbClr val="F1F5F9"/>
          </a:solidFill>
          <a:ln w="19050">
            <a:solidFill>
              <a:srgbClr val="475569"/>
            </a:solidFill>
            <a:prstDash val="solid"/>
          </a:ln>
          <a:effectLst>
            <a:outerShdw blurRad="88900" dist="25400" dir="2700000" algn="bl" rotWithShape="0">
              <a:srgbClr val="000000">
                <a:alpha val="13000"/>
              </a:srgbClr>
            </a:outerShdw>
          </a:effectLst>
        </p:spPr>
      </p:sp>
      <p:sp>
        <p:nvSpPr>
          <p:cNvPr id="42" name="Text 40"/>
          <p:cNvSpPr/>
          <p:nvPr/>
        </p:nvSpPr>
        <p:spPr>
          <a:xfrm>
            <a:off x="6858000" y="3364992"/>
            <a:ext cx="2084832" cy="658368"/>
          </a:xfrm>
          <a:prstGeom prst="rect">
            <a:avLst/>
          </a:prstGeom>
          <a:noFill/>
          <a:ln/>
        </p:spPr>
        <p:txBody>
          <a:bodyPr wrap="square" lIns="0" tIns="0" rIns="0" bIns="0" rtlCol="0" anchor="ctr"/>
          <a:lstStyle/>
          <a:p>
            <a:pPr marL="0" indent="0" algn="ctr">
              <a:buNone/>
            </a:pPr>
            <a:r>
              <a:rPr lang="en-US" sz="3600" b="1" dirty="0">
                <a:solidFill>
                  <a:srgbClr val="475569"/>
                </a:solidFill>
                <a:latin typeface="Arial" pitchFamily="34" charset="0"/>
                <a:ea typeface="Arial" pitchFamily="34" charset="-122"/>
                <a:cs typeface="Arial" pitchFamily="34" charset="-120"/>
              </a:rPr>
              <a:t>30s</a:t>
            </a:r>
            <a:endParaRPr lang="en-US" sz="3600" dirty="0"/>
          </a:p>
        </p:txBody>
      </p:sp>
      <p:sp>
        <p:nvSpPr>
          <p:cNvPr id="43" name="Text 41"/>
          <p:cNvSpPr/>
          <p:nvPr/>
        </p:nvSpPr>
        <p:spPr>
          <a:xfrm>
            <a:off x="6949440" y="4005072"/>
            <a:ext cx="1901952" cy="292608"/>
          </a:xfrm>
          <a:prstGeom prst="rect">
            <a:avLst/>
          </a:prstGeom>
          <a:noFill/>
          <a:ln/>
        </p:spPr>
        <p:txBody>
          <a:bodyPr wrap="square" lIns="0" tIns="0" rIns="0" bIns="0" rtlCol="0" anchor="ctr"/>
          <a:lstStyle/>
          <a:p>
            <a:pPr marL="0" indent="0" algn="ctr">
              <a:buNone/>
            </a:pPr>
            <a:r>
              <a:rPr lang="en-US" sz="1300" b="1" dirty="0">
                <a:solidFill>
                  <a:srgbClr val="1E293B"/>
                </a:solidFill>
                <a:latin typeface="Arial" pitchFamily="34" charset="0"/>
                <a:ea typeface="Arial" pitchFamily="34" charset="-122"/>
                <a:cs typeface="Arial" pitchFamily="34" charset="-120"/>
              </a:rPr>
              <a:t>polling notifs</a:t>
            </a:r>
            <a:endParaRPr lang="en-US" sz="1300" dirty="0"/>
          </a:p>
        </p:txBody>
      </p:sp>
      <p:sp>
        <p:nvSpPr>
          <p:cNvPr id="44" name="Shape 42"/>
          <p:cNvSpPr/>
          <p:nvPr/>
        </p:nvSpPr>
        <p:spPr>
          <a:xfrm>
            <a:off x="7040880" y="4306824"/>
            <a:ext cx="1719072" cy="18288"/>
          </a:xfrm>
          <a:prstGeom prst="rect">
            <a:avLst/>
          </a:prstGeom>
          <a:solidFill>
            <a:srgbClr val="475569">
              <a:alpha val="40000"/>
            </a:srgbClr>
          </a:solidFill>
          <a:ln w="12700">
            <a:solidFill>
              <a:srgbClr val="475569"/>
            </a:solidFill>
            <a:prstDash val="solid"/>
          </a:ln>
        </p:spPr>
      </p:sp>
      <p:sp>
        <p:nvSpPr>
          <p:cNvPr id="45" name="Text 43"/>
          <p:cNvSpPr/>
          <p:nvPr/>
        </p:nvSpPr>
        <p:spPr>
          <a:xfrm>
            <a:off x="6949440" y="4370832"/>
            <a:ext cx="1901952" cy="749808"/>
          </a:xfrm>
          <a:prstGeom prst="rect">
            <a:avLst/>
          </a:prstGeom>
          <a:noFill/>
          <a:ln/>
        </p:spPr>
        <p:txBody>
          <a:bodyPr wrap="square" lIns="0" tIns="0" rIns="0" bIns="0" rtlCol="0" anchor="ctr"/>
          <a:lstStyle/>
          <a:p>
            <a:pPr marL="0" indent="0" algn="ctr">
              <a:buNone/>
            </a:pPr>
            <a:r>
              <a:rPr lang="en-US" sz="950" dirty="0">
                <a:solidFill>
                  <a:srgbClr val="475569"/>
                </a:solidFill>
                <a:latin typeface="Arial" pitchFamily="34" charset="0"/>
                <a:ea typeface="Arial" pitchFamily="34" charset="-122"/>
                <a:cs typeface="Arial" pitchFamily="34" charset="-120"/>
              </a:rPr>
              <a:t>Intervalle de polling des notifications</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0D1B2A"/>
          </a:solidFill>
          <a:ln w="12700">
            <a:solidFill>
              <a:srgbClr val="0D1B2A"/>
            </a:solidFill>
            <a:prstDash val="solid"/>
          </a:ln>
        </p:spPr>
      </p:sp>
      <p:sp>
        <p:nvSpPr>
          <p:cNvPr id="3" name="Text 1"/>
          <p:cNvSpPr/>
          <p:nvPr/>
        </p:nvSpPr>
        <p:spPr>
          <a:xfrm>
            <a:off x="457200" y="64008"/>
            <a:ext cx="8229600" cy="329184"/>
          </a:xfrm>
          <a:prstGeom prst="rect">
            <a:avLst/>
          </a:prstGeom>
          <a:noFill/>
          <a:ln/>
        </p:spPr>
        <p:txBody>
          <a:bodyPr wrap="square" lIns="0" tIns="0" rIns="0" bIns="0" rtlCol="0" anchor="ctr"/>
          <a:lstStyle/>
          <a:p>
            <a:pPr marL="0" indent="0">
              <a:buNone/>
            </a:pPr>
            <a:r>
              <a:rPr lang="en-US" sz="1000" b="1" kern="0" spc="400" dirty="0">
                <a:solidFill>
                  <a:srgbClr val="0EA5E9"/>
                </a:solidFill>
                <a:latin typeface="Arial" pitchFamily="34" charset="0"/>
                <a:ea typeface="Arial" pitchFamily="34" charset="-122"/>
                <a:cs typeface="Arial" pitchFamily="34" charset="-120"/>
              </a:rPr>
              <a:t>SECTION 15 — PERSPECTIVES</a:t>
            </a:r>
            <a:endParaRPr lang="en-US" sz="1000" dirty="0"/>
          </a:p>
        </p:txBody>
      </p:sp>
      <p:sp>
        <p:nvSpPr>
          <p:cNvPr id="4" name="Text 2"/>
          <p:cNvSpPr/>
          <p:nvPr/>
        </p:nvSpPr>
        <p:spPr>
          <a:xfrm>
            <a:off x="457200" y="402336"/>
            <a:ext cx="6217920" cy="493776"/>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Évolutions futures du système IA</a:t>
            </a:r>
            <a:endParaRPr lang="en-US" sz="2000" dirty="0"/>
          </a:p>
        </p:txBody>
      </p:sp>
      <p:sp>
        <p:nvSpPr>
          <p:cNvPr id="5" name="Text 3"/>
          <p:cNvSpPr/>
          <p:nvPr/>
        </p:nvSpPr>
        <p:spPr>
          <a:xfrm>
            <a:off x="6400800" y="457200"/>
            <a:ext cx="2560320" cy="384048"/>
          </a:xfrm>
          <a:prstGeom prst="rect">
            <a:avLst/>
          </a:prstGeom>
          <a:noFill/>
          <a:ln/>
        </p:spPr>
        <p:txBody>
          <a:bodyPr wrap="square" lIns="0" tIns="0" rIns="0" bIns="0" rtlCol="0" anchor="ctr"/>
          <a:lstStyle/>
          <a:p>
            <a:pPr marL="0" indent="0" algn="r">
              <a:buNone/>
            </a:pPr>
            <a:r>
              <a:rPr lang="en-US" sz="1100" dirty="0">
                <a:solidFill>
                  <a:srgbClr val="0EA5E9"/>
                </a:solidFill>
                <a:latin typeface="Arial" pitchFamily="34" charset="0"/>
                <a:ea typeface="Arial" pitchFamily="34" charset="-122"/>
                <a:cs typeface="Arial" pitchFamily="34" charset="-120"/>
              </a:rPr>
              <a:t>v2.0 &amp; au-delà</a:t>
            </a:r>
            <a:endParaRPr lang="en-US" sz="1100" dirty="0"/>
          </a:p>
        </p:txBody>
      </p:sp>
      <p:sp>
        <p:nvSpPr>
          <p:cNvPr id="6" name="Shape 4"/>
          <p:cNvSpPr/>
          <p:nvPr/>
        </p:nvSpPr>
        <p:spPr>
          <a:xfrm>
            <a:off x="274320" y="1051560"/>
            <a:ext cx="2743200" cy="1993392"/>
          </a:xfrm>
          <a:prstGeom prst="roundRect">
            <a:avLst>
              <a:gd name="adj" fmla="val 6422"/>
            </a:avLst>
          </a:prstGeom>
          <a:solidFill>
            <a:srgbClr val="DBEAFE"/>
          </a:solidFill>
          <a:ln w="19050">
            <a:solidFill>
              <a:srgbClr val="1B4FD8"/>
            </a:solidFill>
            <a:prstDash val="solid"/>
          </a:ln>
          <a:effectLst>
            <a:outerShdw blurRad="88900" dist="25400" dir="2700000" algn="bl" rotWithShape="0">
              <a:srgbClr val="000000">
                <a:alpha val="13000"/>
              </a:srgbClr>
            </a:outerShdw>
          </a:effectLst>
        </p:spPr>
      </p:sp>
      <p:sp>
        <p:nvSpPr>
          <p:cNvPr id="7" name="Text 5"/>
          <p:cNvSpPr/>
          <p:nvPr/>
        </p:nvSpPr>
        <p:spPr>
          <a:xfrm>
            <a:off x="274320" y="1124712"/>
            <a:ext cx="2743200" cy="438912"/>
          </a:xfrm>
          <a:prstGeom prst="rect">
            <a:avLst/>
          </a:prstGeom>
          <a:noFill/>
          <a:ln/>
        </p:spPr>
        <p:txBody>
          <a:bodyPr wrap="square" lIns="0" tIns="0" rIns="0" bIns="0" rtlCol="0" anchor="ctr"/>
          <a:lstStyle/>
          <a:p>
            <a:pPr marL="0" indent="0" algn="ctr">
              <a:buNone/>
            </a:pPr>
            <a:r>
              <a:rPr lang="en-US" sz="2600" dirty="0">
                <a:solidFill>
                  <a:srgbClr val="000000"/>
                </a:solidFill>
                <a:latin typeface="Arial" pitchFamily="34" charset="0"/>
                <a:ea typeface="Arial" pitchFamily="34" charset="-122"/>
                <a:cs typeface="Arial" pitchFamily="34" charset="-120"/>
              </a:rPr>
              <a:t>⚡</a:t>
            </a:r>
            <a:endParaRPr lang="en-US" sz="2600" dirty="0"/>
          </a:p>
        </p:txBody>
      </p:sp>
      <p:sp>
        <p:nvSpPr>
          <p:cNvPr id="8" name="Shape 6"/>
          <p:cNvSpPr/>
          <p:nvPr/>
        </p:nvSpPr>
        <p:spPr>
          <a:xfrm>
            <a:off x="365760" y="1545336"/>
            <a:ext cx="749808" cy="219456"/>
          </a:xfrm>
          <a:prstGeom prst="roundRect">
            <a:avLst>
              <a:gd name="adj" fmla="val 20833"/>
            </a:avLst>
          </a:prstGeom>
          <a:solidFill>
            <a:srgbClr val="EF4444">
              <a:alpha val="20000"/>
            </a:srgbClr>
          </a:solidFill>
          <a:ln w="12700">
            <a:solidFill>
              <a:srgbClr val="1B4FD8"/>
            </a:solidFill>
            <a:prstDash val="solid"/>
          </a:ln>
        </p:spPr>
      </p:sp>
      <p:sp>
        <p:nvSpPr>
          <p:cNvPr id="9" name="Text 7"/>
          <p:cNvSpPr/>
          <p:nvPr/>
        </p:nvSpPr>
        <p:spPr>
          <a:xfrm>
            <a:off x="365760" y="1545336"/>
            <a:ext cx="749808" cy="219456"/>
          </a:xfrm>
          <a:prstGeom prst="rect">
            <a:avLst/>
          </a:prstGeom>
          <a:noFill/>
          <a:ln/>
        </p:spPr>
        <p:txBody>
          <a:bodyPr wrap="square" lIns="0" tIns="0" rIns="0" bIns="0" rtlCol="0" anchor="ctr"/>
          <a:lstStyle/>
          <a:p>
            <a:pPr marL="0" indent="0" algn="ctr">
              <a:buNone/>
            </a:pPr>
            <a:r>
              <a:rPr lang="en-US" sz="850" b="1" dirty="0">
                <a:solidFill>
                  <a:srgbClr val="EF4444"/>
                </a:solidFill>
                <a:latin typeface="Arial" pitchFamily="34" charset="0"/>
                <a:ea typeface="Arial" pitchFamily="34" charset="-122"/>
                <a:cs typeface="Arial" pitchFamily="34" charset="-120"/>
              </a:rPr>
              <a:t>Haute</a:t>
            </a:r>
            <a:endParaRPr lang="en-US" sz="850" dirty="0"/>
          </a:p>
        </p:txBody>
      </p:sp>
      <p:sp>
        <p:nvSpPr>
          <p:cNvPr id="10" name="Text 8"/>
          <p:cNvSpPr/>
          <p:nvPr/>
        </p:nvSpPr>
        <p:spPr>
          <a:xfrm>
            <a:off x="365760" y="1819656"/>
            <a:ext cx="2560320" cy="320040"/>
          </a:xfrm>
          <a:prstGeom prst="rect">
            <a:avLst/>
          </a:prstGeom>
          <a:noFill/>
          <a:ln/>
        </p:spPr>
        <p:txBody>
          <a:bodyPr wrap="square" lIns="0" tIns="0" rIns="0" bIns="0" rtlCol="0" anchor="ctr"/>
          <a:lstStyle/>
          <a:p>
            <a:pPr marL="0" indent="0">
              <a:buNone/>
            </a:pPr>
            <a:r>
              <a:rPr lang="en-US" sz="1150" b="1" dirty="0">
                <a:solidFill>
                  <a:srgbClr val="1B4FD8"/>
                </a:solidFill>
                <a:latin typeface="Arial" pitchFamily="34" charset="0"/>
                <a:ea typeface="Arial" pitchFamily="34" charset="-122"/>
                <a:cs typeface="Arial" pitchFamily="34" charset="-120"/>
              </a:rPr>
              <a:t>WebSockets (Laravel Echo + Pusher)</a:t>
            </a:r>
            <a:endParaRPr lang="en-US" sz="1150" dirty="0"/>
          </a:p>
        </p:txBody>
      </p:sp>
      <p:sp>
        <p:nvSpPr>
          <p:cNvPr id="11" name="Text 9"/>
          <p:cNvSpPr/>
          <p:nvPr/>
        </p:nvSpPr>
        <p:spPr>
          <a:xfrm>
            <a:off x="365760" y="2167128"/>
            <a:ext cx="2560320" cy="804672"/>
          </a:xfrm>
          <a:prstGeom prst="rect">
            <a:avLst/>
          </a:prstGeom>
          <a:noFill/>
          <a:ln/>
        </p:spPr>
        <p:txBody>
          <a:bodyPr wrap="square" lIns="0" tIns="0" rIns="0" bIns="0" rtlCol="0" anchor="ctr"/>
          <a:lstStyle/>
          <a:p>
            <a:pPr marL="0" indent="0">
              <a:buNone/>
            </a:pPr>
            <a:r>
              <a:rPr lang="en-US" sz="900" dirty="0">
                <a:solidFill>
                  <a:srgbClr val="1E293B"/>
                </a:solidFill>
                <a:latin typeface="Arial" pitchFamily="34" charset="0"/>
                <a:ea typeface="Arial" pitchFamily="34" charset="-122"/>
                <a:cs typeface="Arial" pitchFamily="34" charset="-120"/>
              </a:rPr>
              <a:t>Remplacement du polling 30s par des notifications instantanées push. L'étudiant reçoit l'alerte dans la seconde même où le chef modifie l'horaire — sans attendre le prochain cycle de 30 secondes.</a:t>
            </a:r>
            <a:endParaRPr lang="en-US" sz="900" dirty="0"/>
          </a:p>
        </p:txBody>
      </p:sp>
      <p:sp>
        <p:nvSpPr>
          <p:cNvPr id="12" name="Shape 10"/>
          <p:cNvSpPr/>
          <p:nvPr/>
        </p:nvSpPr>
        <p:spPr>
          <a:xfrm>
            <a:off x="3200400" y="1051560"/>
            <a:ext cx="2743200" cy="1993392"/>
          </a:xfrm>
          <a:prstGeom prst="roundRect">
            <a:avLst>
              <a:gd name="adj" fmla="val 6422"/>
            </a:avLst>
          </a:prstGeom>
          <a:solidFill>
            <a:srgbClr val="EDE9FE"/>
          </a:solidFill>
          <a:ln w="19050">
            <a:solidFill>
              <a:srgbClr val="4C1D95"/>
            </a:solidFill>
            <a:prstDash val="solid"/>
          </a:ln>
          <a:effectLst>
            <a:outerShdw blurRad="88900" dist="25400" dir="2700000" algn="bl" rotWithShape="0">
              <a:srgbClr val="000000">
                <a:alpha val="13000"/>
              </a:srgbClr>
            </a:outerShdw>
          </a:effectLst>
        </p:spPr>
      </p:sp>
      <p:sp>
        <p:nvSpPr>
          <p:cNvPr id="13" name="Text 11"/>
          <p:cNvSpPr/>
          <p:nvPr/>
        </p:nvSpPr>
        <p:spPr>
          <a:xfrm>
            <a:off x="3200400" y="1124712"/>
            <a:ext cx="2743200" cy="438912"/>
          </a:xfrm>
          <a:prstGeom prst="rect">
            <a:avLst/>
          </a:prstGeom>
          <a:noFill/>
          <a:ln/>
        </p:spPr>
        <p:txBody>
          <a:bodyPr wrap="square" lIns="0" tIns="0" rIns="0" bIns="0" rtlCol="0" anchor="ctr"/>
          <a:lstStyle/>
          <a:p>
            <a:pPr marL="0" indent="0" algn="ctr">
              <a:buNone/>
            </a:pPr>
            <a:r>
              <a:rPr lang="en-US" sz="2600" dirty="0">
                <a:solidFill>
                  <a:srgbClr val="000000"/>
                </a:solidFill>
                <a:latin typeface="Arial" pitchFamily="34" charset="0"/>
                <a:ea typeface="Arial" pitchFamily="34" charset="-122"/>
                <a:cs typeface="Arial" pitchFamily="34" charset="-120"/>
              </a:rPr>
              <a:t>🧠</a:t>
            </a:r>
            <a:endParaRPr lang="en-US" sz="2600" dirty="0"/>
          </a:p>
        </p:txBody>
      </p:sp>
      <p:sp>
        <p:nvSpPr>
          <p:cNvPr id="14" name="Shape 12"/>
          <p:cNvSpPr/>
          <p:nvPr/>
        </p:nvSpPr>
        <p:spPr>
          <a:xfrm>
            <a:off x="3291840" y="1545336"/>
            <a:ext cx="749808" cy="219456"/>
          </a:xfrm>
          <a:prstGeom prst="roundRect">
            <a:avLst>
              <a:gd name="adj" fmla="val 20833"/>
            </a:avLst>
          </a:prstGeom>
          <a:solidFill>
            <a:srgbClr val="EF4444">
              <a:alpha val="20000"/>
            </a:srgbClr>
          </a:solidFill>
          <a:ln w="12700">
            <a:solidFill>
              <a:srgbClr val="4C1D95"/>
            </a:solidFill>
            <a:prstDash val="solid"/>
          </a:ln>
        </p:spPr>
      </p:sp>
      <p:sp>
        <p:nvSpPr>
          <p:cNvPr id="15" name="Text 13"/>
          <p:cNvSpPr/>
          <p:nvPr/>
        </p:nvSpPr>
        <p:spPr>
          <a:xfrm>
            <a:off x="3291840" y="1545336"/>
            <a:ext cx="749808" cy="219456"/>
          </a:xfrm>
          <a:prstGeom prst="rect">
            <a:avLst/>
          </a:prstGeom>
          <a:noFill/>
          <a:ln/>
        </p:spPr>
        <p:txBody>
          <a:bodyPr wrap="square" lIns="0" tIns="0" rIns="0" bIns="0" rtlCol="0" anchor="ctr"/>
          <a:lstStyle/>
          <a:p>
            <a:pPr marL="0" indent="0" algn="ctr">
              <a:buNone/>
            </a:pPr>
            <a:r>
              <a:rPr lang="en-US" sz="850" b="1" dirty="0">
                <a:solidFill>
                  <a:srgbClr val="EF4444"/>
                </a:solidFill>
                <a:latin typeface="Arial" pitchFamily="34" charset="0"/>
                <a:ea typeface="Arial" pitchFamily="34" charset="-122"/>
                <a:cs typeface="Arial" pitchFamily="34" charset="-120"/>
              </a:rPr>
              <a:t>Haute</a:t>
            </a:r>
            <a:endParaRPr lang="en-US" sz="850" dirty="0"/>
          </a:p>
        </p:txBody>
      </p:sp>
      <p:sp>
        <p:nvSpPr>
          <p:cNvPr id="16" name="Text 14"/>
          <p:cNvSpPr/>
          <p:nvPr/>
        </p:nvSpPr>
        <p:spPr>
          <a:xfrm>
            <a:off x="3291840" y="1819656"/>
            <a:ext cx="2560320" cy="320040"/>
          </a:xfrm>
          <a:prstGeom prst="rect">
            <a:avLst/>
          </a:prstGeom>
          <a:noFill/>
          <a:ln/>
        </p:spPr>
        <p:txBody>
          <a:bodyPr wrap="square" lIns="0" tIns="0" rIns="0" bIns="0" rtlCol="0" anchor="ctr"/>
          <a:lstStyle/>
          <a:p>
            <a:pPr marL="0" indent="0">
              <a:buNone/>
            </a:pPr>
            <a:r>
              <a:rPr lang="en-US" sz="1150" b="1" dirty="0">
                <a:solidFill>
                  <a:srgbClr val="4C1D95"/>
                </a:solidFill>
                <a:latin typeface="Arial" pitchFamily="34" charset="0"/>
                <a:ea typeface="Arial" pitchFamily="34" charset="-122"/>
                <a:cs typeface="Arial" pitchFamily="34" charset="-120"/>
              </a:rPr>
              <a:t>Modèle plus puissant</a:t>
            </a:r>
            <a:endParaRPr lang="en-US" sz="1150" dirty="0"/>
          </a:p>
        </p:txBody>
      </p:sp>
      <p:sp>
        <p:nvSpPr>
          <p:cNvPr id="17" name="Text 15"/>
          <p:cNvSpPr/>
          <p:nvPr/>
        </p:nvSpPr>
        <p:spPr>
          <a:xfrm>
            <a:off x="3291840" y="2167128"/>
            <a:ext cx="2560320" cy="804672"/>
          </a:xfrm>
          <a:prstGeom prst="rect">
            <a:avLst/>
          </a:prstGeom>
          <a:noFill/>
          <a:ln/>
        </p:spPr>
        <p:txBody>
          <a:bodyPr wrap="square" lIns="0" tIns="0" rIns="0" bIns="0" rtlCol="0" anchor="ctr"/>
          <a:lstStyle/>
          <a:p>
            <a:pPr marL="0" indent="0">
              <a:buNone/>
            </a:pPr>
            <a:r>
              <a:rPr lang="en-US" sz="900" dirty="0">
                <a:solidFill>
                  <a:srgbClr val="1E293B"/>
                </a:solidFill>
                <a:latin typeface="Arial" pitchFamily="34" charset="0"/>
                <a:ea typeface="Arial" pitchFamily="34" charset="-122"/>
                <a:cs typeface="Arial" pitchFamily="34" charset="-120"/>
              </a:rPr>
              <a:t>Passage de LLaMA 3.1 8B à LLaMA 3.3 70B ou Mixtral 8x7B pour des réponses encore plus précises, une meilleure compréhension des nuances et une gestion plus fine des questions complexes multi-étapes.</a:t>
            </a:r>
            <a:endParaRPr lang="en-US" sz="900" dirty="0"/>
          </a:p>
        </p:txBody>
      </p:sp>
      <p:sp>
        <p:nvSpPr>
          <p:cNvPr id="18" name="Shape 16"/>
          <p:cNvSpPr/>
          <p:nvPr/>
        </p:nvSpPr>
        <p:spPr>
          <a:xfrm>
            <a:off x="6126480" y="1051560"/>
            <a:ext cx="2743200" cy="1993392"/>
          </a:xfrm>
          <a:prstGeom prst="roundRect">
            <a:avLst>
              <a:gd name="adj" fmla="val 6422"/>
            </a:avLst>
          </a:prstGeom>
          <a:solidFill>
            <a:srgbClr val="D1FAE5"/>
          </a:solidFill>
          <a:ln w="19050">
            <a:solidFill>
              <a:srgbClr val="10B981"/>
            </a:solidFill>
            <a:prstDash val="solid"/>
          </a:ln>
          <a:effectLst>
            <a:outerShdw blurRad="88900" dist="25400" dir="2700000" algn="bl" rotWithShape="0">
              <a:srgbClr val="000000">
                <a:alpha val="13000"/>
              </a:srgbClr>
            </a:outerShdw>
          </a:effectLst>
        </p:spPr>
      </p:sp>
      <p:sp>
        <p:nvSpPr>
          <p:cNvPr id="19" name="Text 17"/>
          <p:cNvSpPr/>
          <p:nvPr/>
        </p:nvSpPr>
        <p:spPr>
          <a:xfrm>
            <a:off x="6126480" y="1124712"/>
            <a:ext cx="2743200" cy="438912"/>
          </a:xfrm>
          <a:prstGeom prst="rect">
            <a:avLst/>
          </a:prstGeom>
          <a:noFill/>
          <a:ln/>
        </p:spPr>
        <p:txBody>
          <a:bodyPr wrap="square" lIns="0" tIns="0" rIns="0" bIns="0" rtlCol="0" anchor="ctr"/>
          <a:lstStyle/>
          <a:p>
            <a:pPr marL="0" indent="0" algn="ctr">
              <a:buNone/>
            </a:pPr>
            <a:r>
              <a:rPr lang="en-US" sz="2600" dirty="0">
                <a:solidFill>
                  <a:srgbClr val="000000"/>
                </a:solidFill>
                <a:latin typeface="Arial" pitchFamily="34" charset="0"/>
                <a:ea typeface="Arial" pitchFamily="34" charset="-122"/>
                <a:cs typeface="Arial" pitchFamily="34" charset="-120"/>
              </a:rPr>
              <a:t>🔊</a:t>
            </a:r>
            <a:endParaRPr lang="en-US" sz="2600" dirty="0"/>
          </a:p>
        </p:txBody>
      </p:sp>
      <p:sp>
        <p:nvSpPr>
          <p:cNvPr id="20" name="Shape 18"/>
          <p:cNvSpPr/>
          <p:nvPr/>
        </p:nvSpPr>
        <p:spPr>
          <a:xfrm>
            <a:off x="6217920" y="1545336"/>
            <a:ext cx="749808" cy="219456"/>
          </a:xfrm>
          <a:prstGeom prst="roundRect">
            <a:avLst>
              <a:gd name="adj" fmla="val 20833"/>
            </a:avLst>
          </a:prstGeom>
          <a:solidFill>
            <a:srgbClr val="F59E0B">
              <a:alpha val="20000"/>
            </a:srgbClr>
          </a:solidFill>
          <a:ln w="12700">
            <a:solidFill>
              <a:srgbClr val="10B981"/>
            </a:solidFill>
            <a:prstDash val="solid"/>
          </a:ln>
        </p:spPr>
      </p:sp>
      <p:sp>
        <p:nvSpPr>
          <p:cNvPr id="21" name="Text 19"/>
          <p:cNvSpPr/>
          <p:nvPr/>
        </p:nvSpPr>
        <p:spPr>
          <a:xfrm>
            <a:off x="6217920" y="1545336"/>
            <a:ext cx="749808" cy="219456"/>
          </a:xfrm>
          <a:prstGeom prst="rect">
            <a:avLst/>
          </a:prstGeom>
          <a:noFill/>
          <a:ln/>
        </p:spPr>
        <p:txBody>
          <a:bodyPr wrap="square" lIns="0" tIns="0" rIns="0" bIns="0" rtlCol="0" anchor="ctr"/>
          <a:lstStyle/>
          <a:p>
            <a:pPr marL="0" indent="0" algn="ctr">
              <a:buNone/>
            </a:pPr>
            <a:r>
              <a:rPr lang="en-US" sz="850" b="1" dirty="0">
                <a:solidFill>
                  <a:srgbClr val="F59E0B"/>
                </a:solidFill>
                <a:latin typeface="Arial" pitchFamily="34" charset="0"/>
                <a:ea typeface="Arial" pitchFamily="34" charset="-122"/>
                <a:cs typeface="Arial" pitchFamily="34" charset="-120"/>
              </a:rPr>
              <a:t>Moyenne</a:t>
            </a:r>
            <a:endParaRPr lang="en-US" sz="850" dirty="0"/>
          </a:p>
        </p:txBody>
      </p:sp>
      <p:sp>
        <p:nvSpPr>
          <p:cNvPr id="22" name="Text 20"/>
          <p:cNvSpPr/>
          <p:nvPr/>
        </p:nvSpPr>
        <p:spPr>
          <a:xfrm>
            <a:off x="6217920" y="1819656"/>
            <a:ext cx="2560320" cy="320040"/>
          </a:xfrm>
          <a:prstGeom prst="rect">
            <a:avLst/>
          </a:prstGeom>
          <a:noFill/>
          <a:ln/>
        </p:spPr>
        <p:txBody>
          <a:bodyPr wrap="square" lIns="0" tIns="0" rIns="0" bIns="0" rtlCol="0" anchor="ctr"/>
          <a:lstStyle/>
          <a:p>
            <a:pPr marL="0" indent="0">
              <a:buNone/>
            </a:pPr>
            <a:r>
              <a:rPr lang="en-US" sz="1150" b="1" dirty="0">
                <a:solidFill>
                  <a:srgbClr val="10B981"/>
                </a:solidFill>
                <a:latin typeface="Arial" pitchFamily="34" charset="0"/>
                <a:ea typeface="Arial" pitchFamily="34" charset="-122"/>
                <a:cs typeface="Arial" pitchFamily="34" charset="-120"/>
              </a:rPr>
              <a:t>Synthèse vocale</a:t>
            </a:r>
            <a:endParaRPr lang="en-US" sz="1150" dirty="0"/>
          </a:p>
        </p:txBody>
      </p:sp>
      <p:sp>
        <p:nvSpPr>
          <p:cNvPr id="23" name="Text 21"/>
          <p:cNvSpPr/>
          <p:nvPr/>
        </p:nvSpPr>
        <p:spPr>
          <a:xfrm>
            <a:off x="6217920" y="2167128"/>
            <a:ext cx="2560320" cy="804672"/>
          </a:xfrm>
          <a:prstGeom prst="rect">
            <a:avLst/>
          </a:prstGeom>
          <a:noFill/>
          <a:ln/>
        </p:spPr>
        <p:txBody>
          <a:bodyPr wrap="square" lIns="0" tIns="0" rIns="0" bIns="0" rtlCol="0" anchor="ctr"/>
          <a:lstStyle/>
          <a:p>
            <a:pPr marL="0" indent="0">
              <a:buNone/>
            </a:pPr>
            <a:r>
              <a:rPr lang="en-US" sz="900" dirty="0">
                <a:solidFill>
                  <a:srgbClr val="1E293B"/>
                </a:solidFill>
                <a:latin typeface="Arial" pitchFamily="34" charset="0"/>
                <a:ea typeface="Arial" pitchFamily="34" charset="-122"/>
                <a:cs typeface="Arial" pitchFamily="34" charset="-120"/>
              </a:rPr>
              <a:t>Intégration d'une API Text-to-Speech (ex: ElevenLabs ou Web Speech API) pour rendre le chatbot accessible aux utilisateurs malvoyants ou pour une utilisation mains-libres sur mobile.</a:t>
            </a:r>
            <a:endParaRPr lang="en-US" sz="900" dirty="0"/>
          </a:p>
        </p:txBody>
      </p:sp>
      <p:sp>
        <p:nvSpPr>
          <p:cNvPr id="24" name="Shape 22"/>
          <p:cNvSpPr/>
          <p:nvPr/>
        </p:nvSpPr>
        <p:spPr>
          <a:xfrm>
            <a:off x="274320" y="3172968"/>
            <a:ext cx="2743200" cy="1993392"/>
          </a:xfrm>
          <a:prstGeom prst="roundRect">
            <a:avLst>
              <a:gd name="adj" fmla="val 6422"/>
            </a:avLst>
          </a:prstGeom>
          <a:solidFill>
            <a:srgbClr val="E0F7FA"/>
          </a:solidFill>
          <a:ln w="19050">
            <a:solidFill>
              <a:srgbClr val="0EA5E9"/>
            </a:solidFill>
            <a:prstDash val="solid"/>
          </a:ln>
          <a:effectLst>
            <a:outerShdw blurRad="88900" dist="25400" dir="2700000" algn="bl" rotWithShape="0">
              <a:srgbClr val="000000">
                <a:alpha val="13000"/>
              </a:srgbClr>
            </a:outerShdw>
          </a:effectLst>
        </p:spPr>
      </p:sp>
      <p:sp>
        <p:nvSpPr>
          <p:cNvPr id="25" name="Text 23"/>
          <p:cNvSpPr/>
          <p:nvPr/>
        </p:nvSpPr>
        <p:spPr>
          <a:xfrm>
            <a:off x="274320" y="3246120"/>
            <a:ext cx="2743200" cy="438912"/>
          </a:xfrm>
          <a:prstGeom prst="rect">
            <a:avLst/>
          </a:prstGeom>
          <a:noFill/>
          <a:ln/>
        </p:spPr>
        <p:txBody>
          <a:bodyPr wrap="square" lIns="0" tIns="0" rIns="0" bIns="0" rtlCol="0" anchor="ctr"/>
          <a:lstStyle/>
          <a:p>
            <a:pPr marL="0" indent="0" algn="ctr">
              <a:buNone/>
            </a:pPr>
            <a:r>
              <a:rPr lang="en-US" sz="2600" dirty="0">
                <a:solidFill>
                  <a:srgbClr val="000000"/>
                </a:solidFill>
                <a:latin typeface="Arial" pitchFamily="34" charset="0"/>
                <a:ea typeface="Arial" pitchFamily="34" charset="-122"/>
                <a:cs typeface="Arial" pitchFamily="34" charset="-120"/>
              </a:rPr>
              <a:t>📱</a:t>
            </a:r>
            <a:endParaRPr lang="en-US" sz="2600" dirty="0"/>
          </a:p>
        </p:txBody>
      </p:sp>
      <p:sp>
        <p:nvSpPr>
          <p:cNvPr id="26" name="Shape 24"/>
          <p:cNvSpPr/>
          <p:nvPr/>
        </p:nvSpPr>
        <p:spPr>
          <a:xfrm>
            <a:off x="365760" y="3666744"/>
            <a:ext cx="749808" cy="219456"/>
          </a:xfrm>
          <a:prstGeom prst="roundRect">
            <a:avLst>
              <a:gd name="adj" fmla="val 20833"/>
            </a:avLst>
          </a:prstGeom>
          <a:solidFill>
            <a:srgbClr val="EF4444">
              <a:alpha val="20000"/>
            </a:srgbClr>
          </a:solidFill>
          <a:ln w="12700">
            <a:solidFill>
              <a:srgbClr val="0EA5E9"/>
            </a:solidFill>
            <a:prstDash val="solid"/>
          </a:ln>
        </p:spPr>
      </p:sp>
      <p:sp>
        <p:nvSpPr>
          <p:cNvPr id="27" name="Text 25"/>
          <p:cNvSpPr/>
          <p:nvPr/>
        </p:nvSpPr>
        <p:spPr>
          <a:xfrm>
            <a:off x="365760" y="3666744"/>
            <a:ext cx="749808" cy="219456"/>
          </a:xfrm>
          <a:prstGeom prst="rect">
            <a:avLst/>
          </a:prstGeom>
          <a:noFill/>
          <a:ln/>
        </p:spPr>
        <p:txBody>
          <a:bodyPr wrap="square" lIns="0" tIns="0" rIns="0" bIns="0" rtlCol="0" anchor="ctr"/>
          <a:lstStyle/>
          <a:p>
            <a:pPr marL="0" indent="0" algn="ctr">
              <a:buNone/>
            </a:pPr>
            <a:r>
              <a:rPr lang="en-US" sz="850" b="1" dirty="0">
                <a:solidFill>
                  <a:srgbClr val="EF4444"/>
                </a:solidFill>
                <a:latin typeface="Arial" pitchFamily="34" charset="0"/>
                <a:ea typeface="Arial" pitchFamily="34" charset="-122"/>
                <a:cs typeface="Arial" pitchFamily="34" charset="-120"/>
              </a:rPr>
              <a:t>Haute</a:t>
            </a:r>
            <a:endParaRPr lang="en-US" sz="850" dirty="0"/>
          </a:p>
        </p:txBody>
      </p:sp>
      <p:sp>
        <p:nvSpPr>
          <p:cNvPr id="28" name="Text 26"/>
          <p:cNvSpPr/>
          <p:nvPr/>
        </p:nvSpPr>
        <p:spPr>
          <a:xfrm>
            <a:off x="365760" y="3941064"/>
            <a:ext cx="2560320" cy="320040"/>
          </a:xfrm>
          <a:prstGeom prst="rect">
            <a:avLst/>
          </a:prstGeom>
          <a:noFill/>
          <a:ln/>
        </p:spPr>
        <p:txBody>
          <a:bodyPr wrap="square" lIns="0" tIns="0" rIns="0" bIns="0" rtlCol="0" anchor="ctr"/>
          <a:lstStyle/>
          <a:p>
            <a:pPr marL="0" indent="0">
              <a:buNone/>
            </a:pPr>
            <a:r>
              <a:rPr lang="en-US" sz="1150" b="1" dirty="0">
                <a:solidFill>
                  <a:srgbClr val="0EA5E9"/>
                </a:solidFill>
                <a:latin typeface="Arial" pitchFamily="34" charset="0"/>
                <a:ea typeface="Arial" pitchFamily="34" charset="-122"/>
                <a:cs typeface="Arial" pitchFamily="34" charset="-120"/>
              </a:rPr>
              <a:t>Application mobile dédiée</a:t>
            </a:r>
            <a:endParaRPr lang="en-US" sz="1150" dirty="0"/>
          </a:p>
        </p:txBody>
      </p:sp>
      <p:sp>
        <p:nvSpPr>
          <p:cNvPr id="29" name="Text 27"/>
          <p:cNvSpPr/>
          <p:nvPr/>
        </p:nvSpPr>
        <p:spPr>
          <a:xfrm>
            <a:off x="365760" y="4288536"/>
            <a:ext cx="2560320" cy="804672"/>
          </a:xfrm>
          <a:prstGeom prst="rect">
            <a:avLst/>
          </a:prstGeom>
          <a:noFill/>
          <a:ln/>
        </p:spPr>
        <p:txBody>
          <a:bodyPr wrap="square" lIns="0" tIns="0" rIns="0" bIns="0" rtlCol="0" anchor="ctr"/>
          <a:lstStyle/>
          <a:p>
            <a:pPr marL="0" indent="0">
              <a:buNone/>
            </a:pPr>
            <a:r>
              <a:rPr lang="en-US" sz="900" dirty="0">
                <a:solidFill>
                  <a:srgbClr val="1E293B"/>
                </a:solidFill>
                <a:latin typeface="Arial" pitchFamily="34" charset="0"/>
                <a:ea typeface="Arial" pitchFamily="34" charset="-122"/>
                <a:cs typeface="Arial" pitchFamily="34" charset="-120"/>
              </a:rPr>
              <a:t>Développement d'une application Android et iOS (React Native ou Flutter) avec notifications push natives, mode hors-ligne pour consulter le dernier EDT téléchargé, et interface optimisée tactile.</a:t>
            </a:r>
            <a:endParaRPr lang="en-US" sz="900" dirty="0"/>
          </a:p>
        </p:txBody>
      </p:sp>
      <p:sp>
        <p:nvSpPr>
          <p:cNvPr id="30" name="Shape 28"/>
          <p:cNvSpPr/>
          <p:nvPr/>
        </p:nvSpPr>
        <p:spPr>
          <a:xfrm>
            <a:off x="3200400" y="3172968"/>
            <a:ext cx="2743200" cy="1993392"/>
          </a:xfrm>
          <a:prstGeom prst="roundRect">
            <a:avLst>
              <a:gd name="adj" fmla="val 6422"/>
            </a:avLst>
          </a:prstGeom>
          <a:solidFill>
            <a:srgbClr val="FEF3C7"/>
          </a:solidFill>
          <a:ln w="19050">
            <a:solidFill>
              <a:srgbClr val="F59E0B"/>
            </a:solidFill>
            <a:prstDash val="solid"/>
          </a:ln>
          <a:effectLst>
            <a:outerShdw blurRad="88900" dist="25400" dir="2700000" algn="bl" rotWithShape="0">
              <a:srgbClr val="000000">
                <a:alpha val="13000"/>
              </a:srgbClr>
            </a:outerShdw>
          </a:effectLst>
        </p:spPr>
      </p:sp>
      <p:sp>
        <p:nvSpPr>
          <p:cNvPr id="31" name="Text 29"/>
          <p:cNvSpPr/>
          <p:nvPr/>
        </p:nvSpPr>
        <p:spPr>
          <a:xfrm>
            <a:off x="3200400" y="3246120"/>
            <a:ext cx="2743200" cy="438912"/>
          </a:xfrm>
          <a:prstGeom prst="rect">
            <a:avLst/>
          </a:prstGeom>
          <a:noFill/>
          <a:ln/>
        </p:spPr>
        <p:txBody>
          <a:bodyPr wrap="square" lIns="0" tIns="0" rIns="0" bIns="0" rtlCol="0" anchor="ctr"/>
          <a:lstStyle/>
          <a:p>
            <a:pPr marL="0" indent="0" algn="ctr">
              <a:buNone/>
            </a:pPr>
            <a:r>
              <a:rPr lang="en-US" sz="2600" dirty="0">
                <a:solidFill>
                  <a:srgbClr val="000000"/>
                </a:solidFill>
                <a:latin typeface="Arial" pitchFamily="34" charset="0"/>
                <a:ea typeface="Arial" pitchFamily="34" charset="-122"/>
                <a:cs typeface="Arial" pitchFamily="34" charset="-120"/>
              </a:rPr>
              <a:t>🔒</a:t>
            </a:r>
            <a:endParaRPr lang="en-US" sz="2600" dirty="0"/>
          </a:p>
        </p:txBody>
      </p:sp>
      <p:sp>
        <p:nvSpPr>
          <p:cNvPr id="32" name="Shape 30"/>
          <p:cNvSpPr/>
          <p:nvPr/>
        </p:nvSpPr>
        <p:spPr>
          <a:xfrm>
            <a:off x="3291840" y="3666744"/>
            <a:ext cx="749808" cy="219456"/>
          </a:xfrm>
          <a:prstGeom prst="roundRect">
            <a:avLst>
              <a:gd name="adj" fmla="val 20833"/>
            </a:avLst>
          </a:prstGeom>
          <a:solidFill>
            <a:srgbClr val="EF4444">
              <a:alpha val="20000"/>
            </a:srgbClr>
          </a:solidFill>
          <a:ln w="12700">
            <a:solidFill>
              <a:srgbClr val="F59E0B"/>
            </a:solidFill>
            <a:prstDash val="solid"/>
          </a:ln>
        </p:spPr>
      </p:sp>
      <p:sp>
        <p:nvSpPr>
          <p:cNvPr id="33" name="Text 31"/>
          <p:cNvSpPr/>
          <p:nvPr/>
        </p:nvSpPr>
        <p:spPr>
          <a:xfrm>
            <a:off x="3291840" y="3666744"/>
            <a:ext cx="749808" cy="219456"/>
          </a:xfrm>
          <a:prstGeom prst="rect">
            <a:avLst/>
          </a:prstGeom>
          <a:noFill/>
          <a:ln/>
        </p:spPr>
        <p:txBody>
          <a:bodyPr wrap="square" lIns="0" tIns="0" rIns="0" bIns="0" rtlCol="0" anchor="ctr"/>
          <a:lstStyle/>
          <a:p>
            <a:pPr marL="0" indent="0" algn="ctr">
              <a:buNone/>
            </a:pPr>
            <a:r>
              <a:rPr lang="en-US" sz="850" b="1" dirty="0">
                <a:solidFill>
                  <a:srgbClr val="EF4444"/>
                </a:solidFill>
                <a:latin typeface="Arial" pitchFamily="34" charset="0"/>
                <a:ea typeface="Arial" pitchFamily="34" charset="-122"/>
                <a:cs typeface="Arial" pitchFamily="34" charset="-120"/>
              </a:rPr>
              <a:t>Haute</a:t>
            </a:r>
            <a:endParaRPr lang="en-US" sz="850" dirty="0"/>
          </a:p>
        </p:txBody>
      </p:sp>
      <p:sp>
        <p:nvSpPr>
          <p:cNvPr id="34" name="Text 32"/>
          <p:cNvSpPr/>
          <p:nvPr/>
        </p:nvSpPr>
        <p:spPr>
          <a:xfrm>
            <a:off x="3291840" y="3941064"/>
            <a:ext cx="2560320" cy="320040"/>
          </a:xfrm>
          <a:prstGeom prst="rect">
            <a:avLst/>
          </a:prstGeom>
          <a:noFill/>
          <a:ln/>
        </p:spPr>
        <p:txBody>
          <a:bodyPr wrap="square" lIns="0" tIns="0" rIns="0" bIns="0" rtlCol="0" anchor="ctr"/>
          <a:lstStyle/>
          <a:p>
            <a:pPr marL="0" indent="0">
              <a:buNone/>
            </a:pPr>
            <a:r>
              <a:rPr lang="en-US" sz="1150" b="1" dirty="0">
                <a:solidFill>
                  <a:srgbClr val="F59E0B"/>
                </a:solidFill>
                <a:latin typeface="Arial" pitchFamily="34" charset="0"/>
                <a:ea typeface="Arial" pitchFamily="34" charset="-122"/>
                <a:cs typeface="Arial" pitchFamily="34" charset="-120"/>
              </a:rPr>
              <a:t>Anti-conflit saisie EDT</a:t>
            </a:r>
            <a:endParaRPr lang="en-US" sz="1150" dirty="0"/>
          </a:p>
        </p:txBody>
      </p:sp>
      <p:sp>
        <p:nvSpPr>
          <p:cNvPr id="35" name="Text 33"/>
          <p:cNvSpPr/>
          <p:nvPr/>
        </p:nvSpPr>
        <p:spPr>
          <a:xfrm>
            <a:off x="3291840" y="4288536"/>
            <a:ext cx="2560320" cy="804672"/>
          </a:xfrm>
          <a:prstGeom prst="rect">
            <a:avLst/>
          </a:prstGeom>
          <a:noFill/>
          <a:ln/>
        </p:spPr>
        <p:txBody>
          <a:bodyPr wrap="square" lIns="0" tIns="0" rIns="0" bIns="0" rtlCol="0" anchor="ctr"/>
          <a:lstStyle/>
          <a:p>
            <a:pPr marL="0" indent="0">
              <a:buNone/>
            </a:pPr>
            <a:r>
              <a:rPr lang="en-US" sz="900" dirty="0">
                <a:solidFill>
                  <a:srgbClr val="1E293B"/>
                </a:solidFill>
                <a:latin typeface="Arial" pitchFamily="34" charset="0"/>
                <a:ea typeface="Arial" pitchFamily="34" charset="-122"/>
                <a:cs typeface="Arial" pitchFamily="34" charset="-120"/>
              </a:rPr>
              <a:t>Validation stricte pour empêcher le chef d'enregistrer un cours si la salle est déjà occupée sur ce créneau ou si l'enseignant est déjà assigné à une autre classe au même moment.</a:t>
            </a:r>
            <a:endParaRPr lang="en-US" sz="900" dirty="0"/>
          </a:p>
        </p:txBody>
      </p:sp>
      <p:sp>
        <p:nvSpPr>
          <p:cNvPr id="36" name="Shape 34"/>
          <p:cNvSpPr/>
          <p:nvPr/>
        </p:nvSpPr>
        <p:spPr>
          <a:xfrm>
            <a:off x="6126480" y="3172968"/>
            <a:ext cx="2743200" cy="1993392"/>
          </a:xfrm>
          <a:prstGeom prst="roundRect">
            <a:avLst>
              <a:gd name="adj" fmla="val 6422"/>
            </a:avLst>
          </a:prstGeom>
          <a:solidFill>
            <a:srgbClr val="FED7AA"/>
          </a:solidFill>
          <a:ln w="19050">
            <a:solidFill>
              <a:srgbClr val="EA580C"/>
            </a:solidFill>
            <a:prstDash val="solid"/>
          </a:ln>
          <a:effectLst>
            <a:outerShdw blurRad="88900" dist="25400" dir="2700000" algn="bl" rotWithShape="0">
              <a:srgbClr val="000000">
                <a:alpha val="13000"/>
              </a:srgbClr>
            </a:outerShdw>
          </a:effectLst>
        </p:spPr>
      </p:sp>
      <p:sp>
        <p:nvSpPr>
          <p:cNvPr id="37" name="Text 35"/>
          <p:cNvSpPr/>
          <p:nvPr/>
        </p:nvSpPr>
        <p:spPr>
          <a:xfrm>
            <a:off x="6126480" y="3246120"/>
            <a:ext cx="2743200" cy="438912"/>
          </a:xfrm>
          <a:prstGeom prst="rect">
            <a:avLst/>
          </a:prstGeom>
          <a:noFill/>
          <a:ln/>
        </p:spPr>
        <p:txBody>
          <a:bodyPr wrap="square" lIns="0" tIns="0" rIns="0" bIns="0" rtlCol="0" anchor="ctr"/>
          <a:lstStyle/>
          <a:p>
            <a:pPr marL="0" indent="0" algn="ctr">
              <a:buNone/>
            </a:pPr>
            <a:r>
              <a:rPr lang="en-US" sz="2600" dirty="0">
                <a:solidFill>
                  <a:srgbClr val="000000"/>
                </a:solidFill>
                <a:latin typeface="Arial" pitchFamily="34" charset="0"/>
                <a:ea typeface="Arial" pitchFamily="34" charset="-122"/>
                <a:cs typeface="Arial" pitchFamily="34" charset="-120"/>
              </a:rPr>
              <a:t>📊</a:t>
            </a:r>
            <a:endParaRPr lang="en-US" sz="2600" dirty="0"/>
          </a:p>
        </p:txBody>
      </p:sp>
      <p:sp>
        <p:nvSpPr>
          <p:cNvPr id="38" name="Shape 36"/>
          <p:cNvSpPr/>
          <p:nvPr/>
        </p:nvSpPr>
        <p:spPr>
          <a:xfrm>
            <a:off x="6217920" y="3666744"/>
            <a:ext cx="749808" cy="219456"/>
          </a:xfrm>
          <a:prstGeom prst="roundRect">
            <a:avLst>
              <a:gd name="adj" fmla="val 20833"/>
            </a:avLst>
          </a:prstGeom>
          <a:solidFill>
            <a:srgbClr val="10B981">
              <a:alpha val="20000"/>
            </a:srgbClr>
          </a:solidFill>
          <a:ln w="12700">
            <a:solidFill>
              <a:srgbClr val="EA580C"/>
            </a:solidFill>
            <a:prstDash val="solid"/>
          </a:ln>
        </p:spPr>
      </p:sp>
      <p:sp>
        <p:nvSpPr>
          <p:cNvPr id="39" name="Text 37"/>
          <p:cNvSpPr/>
          <p:nvPr/>
        </p:nvSpPr>
        <p:spPr>
          <a:xfrm>
            <a:off x="6217920" y="3666744"/>
            <a:ext cx="749808" cy="219456"/>
          </a:xfrm>
          <a:prstGeom prst="rect">
            <a:avLst/>
          </a:prstGeom>
          <a:noFill/>
          <a:ln/>
        </p:spPr>
        <p:txBody>
          <a:bodyPr wrap="square" lIns="0" tIns="0" rIns="0" bIns="0" rtlCol="0" anchor="ctr"/>
          <a:lstStyle/>
          <a:p>
            <a:pPr marL="0" indent="0" algn="ctr">
              <a:buNone/>
            </a:pPr>
            <a:r>
              <a:rPr lang="en-US" sz="850" b="1" dirty="0">
                <a:solidFill>
                  <a:srgbClr val="10B981"/>
                </a:solidFill>
                <a:latin typeface="Arial" pitchFamily="34" charset="0"/>
                <a:ea typeface="Arial" pitchFamily="34" charset="-122"/>
                <a:cs typeface="Arial" pitchFamily="34" charset="-120"/>
              </a:rPr>
              <a:t>Faible</a:t>
            </a:r>
            <a:endParaRPr lang="en-US" sz="850" dirty="0"/>
          </a:p>
        </p:txBody>
      </p:sp>
      <p:sp>
        <p:nvSpPr>
          <p:cNvPr id="40" name="Text 38"/>
          <p:cNvSpPr/>
          <p:nvPr/>
        </p:nvSpPr>
        <p:spPr>
          <a:xfrm>
            <a:off x="6217920" y="3941064"/>
            <a:ext cx="2560320" cy="320040"/>
          </a:xfrm>
          <a:prstGeom prst="rect">
            <a:avLst/>
          </a:prstGeom>
          <a:noFill/>
          <a:ln/>
        </p:spPr>
        <p:txBody>
          <a:bodyPr wrap="square" lIns="0" tIns="0" rIns="0" bIns="0" rtlCol="0" anchor="ctr"/>
          <a:lstStyle/>
          <a:p>
            <a:pPr marL="0" indent="0">
              <a:buNone/>
            </a:pPr>
            <a:r>
              <a:rPr lang="en-US" sz="1150" b="1" dirty="0">
                <a:solidFill>
                  <a:srgbClr val="EA580C"/>
                </a:solidFill>
                <a:latin typeface="Arial" pitchFamily="34" charset="0"/>
                <a:ea typeface="Arial" pitchFamily="34" charset="-122"/>
                <a:cs typeface="Arial" pitchFamily="34" charset="-120"/>
              </a:rPr>
              <a:t>Analytics &amp; statistiques IA</a:t>
            </a:r>
            <a:endParaRPr lang="en-US" sz="1150" dirty="0"/>
          </a:p>
        </p:txBody>
      </p:sp>
      <p:sp>
        <p:nvSpPr>
          <p:cNvPr id="41" name="Text 39"/>
          <p:cNvSpPr/>
          <p:nvPr/>
        </p:nvSpPr>
        <p:spPr>
          <a:xfrm>
            <a:off x="6217920" y="4288536"/>
            <a:ext cx="2560320" cy="804672"/>
          </a:xfrm>
          <a:prstGeom prst="rect">
            <a:avLst/>
          </a:prstGeom>
          <a:noFill/>
          <a:ln/>
        </p:spPr>
        <p:txBody>
          <a:bodyPr wrap="square" lIns="0" tIns="0" rIns="0" bIns="0" rtlCol="0" anchor="ctr"/>
          <a:lstStyle/>
          <a:p>
            <a:pPr marL="0" indent="0">
              <a:buNone/>
            </a:pPr>
            <a:r>
              <a:rPr lang="en-US" sz="900" dirty="0">
                <a:solidFill>
                  <a:srgbClr val="1E293B"/>
                </a:solidFill>
                <a:latin typeface="Arial" pitchFamily="34" charset="0"/>
                <a:ea typeface="Arial" pitchFamily="34" charset="-122"/>
                <a:cs typeface="Arial" pitchFamily="34" charset="-120"/>
              </a:rPr>
              <a:t>Tableau de bord affichant les questions les plus posées, les sujets populaires, le taux d'utilisation par département, les heures de pointe — pour améliorer continuellement le service.</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6583680" y="-914400"/>
            <a:ext cx="5029200" cy="5029200"/>
          </a:xfrm>
          <a:prstGeom prst="ellipse">
            <a:avLst/>
          </a:prstGeom>
          <a:solidFill>
            <a:srgbClr val="1B4FD8">
              <a:alpha val="20000"/>
            </a:srgbClr>
          </a:solidFill>
          <a:ln w="12700">
            <a:solidFill>
              <a:srgbClr val="1B4FD8"/>
            </a:solidFill>
            <a:prstDash val="solid"/>
          </a:ln>
        </p:spPr>
      </p:sp>
      <p:sp>
        <p:nvSpPr>
          <p:cNvPr id="3" name="Shape 1"/>
          <p:cNvSpPr/>
          <p:nvPr/>
        </p:nvSpPr>
        <p:spPr>
          <a:xfrm>
            <a:off x="-914400" y="3200400"/>
            <a:ext cx="3657600" cy="3657600"/>
          </a:xfrm>
          <a:prstGeom prst="ellipse">
            <a:avLst/>
          </a:prstGeom>
          <a:solidFill>
            <a:srgbClr val="0EA5E9">
              <a:alpha val="15000"/>
            </a:srgbClr>
          </a:solidFill>
          <a:ln w="12700">
            <a:solidFill>
              <a:srgbClr val="0EA5E9"/>
            </a:solidFill>
            <a:prstDash val="solid"/>
          </a:ln>
        </p:spPr>
      </p:sp>
      <p:sp>
        <p:nvSpPr>
          <p:cNvPr id="4" name="Shape 2"/>
          <p:cNvSpPr/>
          <p:nvPr/>
        </p:nvSpPr>
        <p:spPr>
          <a:xfrm>
            <a:off x="3200400" y="1371600"/>
            <a:ext cx="2743200" cy="2743200"/>
          </a:xfrm>
          <a:prstGeom prst="ellipse">
            <a:avLst/>
          </a:prstGeom>
          <a:solidFill>
            <a:srgbClr val="4C1D95">
              <a:alpha val="12000"/>
            </a:srgbClr>
          </a:solidFill>
          <a:ln w="12700">
            <a:solidFill>
              <a:srgbClr val="4C1D95"/>
            </a:solidFill>
            <a:prstDash val="solid"/>
          </a:ln>
        </p:spPr>
      </p:sp>
      <p:sp>
        <p:nvSpPr>
          <p:cNvPr id="5" name="Text 3"/>
          <p:cNvSpPr/>
          <p:nvPr/>
        </p:nvSpPr>
        <p:spPr>
          <a:xfrm>
            <a:off x="457200" y="347472"/>
            <a:ext cx="8229600" cy="530352"/>
          </a:xfrm>
          <a:prstGeom prst="rect">
            <a:avLst/>
          </a:prstGeom>
          <a:noFill/>
          <a:ln/>
        </p:spPr>
        <p:txBody>
          <a:bodyPr wrap="square" lIns="0" tIns="0" rIns="0" bIns="0" rtlCol="0" anchor="ctr"/>
          <a:lstStyle/>
          <a:p>
            <a:pPr marL="0" indent="0" algn="ctr">
              <a:buNone/>
            </a:pPr>
            <a:r>
              <a:rPr lang="en-US" sz="3200" b="1" kern="0" spc="400" dirty="0">
                <a:solidFill>
                  <a:srgbClr val="0EA5E9"/>
                </a:solidFill>
                <a:latin typeface="Arial" pitchFamily="34" charset="0"/>
                <a:ea typeface="Arial" pitchFamily="34" charset="-122"/>
                <a:cs typeface="Arial" pitchFamily="34" charset="-120"/>
              </a:rPr>
              <a:t>CONCLUSION</a:t>
            </a:r>
            <a:endParaRPr lang="en-US" sz="3200" dirty="0"/>
          </a:p>
        </p:txBody>
      </p:sp>
      <p:sp>
        <p:nvSpPr>
          <p:cNvPr id="6" name="Text 4"/>
          <p:cNvSpPr/>
          <p:nvPr/>
        </p:nvSpPr>
        <p:spPr>
          <a:xfrm>
            <a:off x="457200" y="932688"/>
            <a:ext cx="8229600" cy="365760"/>
          </a:xfrm>
          <a:prstGeom prst="rect">
            <a:avLst/>
          </a:prstGeom>
          <a:noFill/>
          <a:ln/>
        </p:spPr>
        <p:txBody>
          <a:bodyPr wrap="square" lIns="0" tIns="0" rIns="0" bIns="0" rtlCol="0" anchor="ctr"/>
          <a:lstStyle/>
          <a:p>
            <a:pPr marL="0" indent="0" algn="ctr">
              <a:buNone/>
            </a:pPr>
            <a:r>
              <a:rPr lang="en-US" sz="1600" dirty="0">
                <a:solidFill>
                  <a:srgbClr val="FFFFFF"/>
                </a:solidFill>
                <a:latin typeface="Arial" pitchFamily="34" charset="0"/>
                <a:ea typeface="Arial" pitchFamily="34" charset="-122"/>
                <a:cs typeface="Arial" pitchFamily="34" charset="-120"/>
              </a:rPr>
              <a:t>Ce que l'IA apporte au Chatbot EDT UGANC</a:t>
            </a:r>
            <a:endParaRPr lang="en-US" sz="1600" dirty="0"/>
          </a:p>
        </p:txBody>
      </p:sp>
      <p:sp>
        <p:nvSpPr>
          <p:cNvPr id="7" name="Shape 5"/>
          <p:cNvSpPr/>
          <p:nvPr/>
        </p:nvSpPr>
        <p:spPr>
          <a:xfrm>
            <a:off x="320040" y="1444752"/>
            <a:ext cx="2651760" cy="1143000"/>
          </a:xfrm>
          <a:prstGeom prst="roundRect">
            <a:avLst>
              <a:gd name="adj" fmla="val 11200"/>
            </a:avLst>
          </a:prstGeom>
          <a:solidFill>
            <a:srgbClr val="FFFFFF">
              <a:alpha val="9000"/>
            </a:srgbClr>
          </a:solidFill>
          <a:ln w="12700">
            <a:solidFill>
              <a:srgbClr val="0EA5E9"/>
            </a:solidFill>
            <a:prstDash val="solid"/>
          </a:ln>
          <a:effectLst>
            <a:outerShdw blurRad="88900" dist="25400" dir="2700000" algn="bl" rotWithShape="0">
              <a:srgbClr val="000000">
                <a:alpha val="13000"/>
              </a:srgbClr>
            </a:outerShdw>
          </a:effectLst>
        </p:spPr>
      </p:sp>
      <p:sp>
        <p:nvSpPr>
          <p:cNvPr id="8" name="Text 6"/>
          <p:cNvSpPr/>
          <p:nvPr/>
        </p:nvSpPr>
        <p:spPr>
          <a:xfrm>
            <a:off x="320040" y="1499616"/>
            <a:ext cx="2651760" cy="384048"/>
          </a:xfrm>
          <a:prstGeom prst="rect">
            <a:avLst/>
          </a:prstGeom>
          <a:noFill/>
          <a:ln/>
        </p:spPr>
        <p:txBody>
          <a:bodyPr wrap="square" lIns="0" tIns="0" rIns="0" bIns="0" rtlCol="0" anchor="ctr"/>
          <a:lstStyle/>
          <a:p>
            <a:pPr marL="0" indent="0" algn="ctr">
              <a:buNone/>
            </a:pPr>
            <a:r>
              <a:rPr lang="en-US" sz="2400" dirty="0">
                <a:solidFill>
                  <a:srgbClr val="000000"/>
                </a:solidFill>
                <a:latin typeface="Arial" pitchFamily="34" charset="0"/>
                <a:ea typeface="Arial" pitchFamily="34" charset="-122"/>
                <a:cs typeface="Arial" pitchFamily="34" charset="-120"/>
              </a:rPr>
              <a:t>💬</a:t>
            </a:r>
            <a:endParaRPr lang="en-US" sz="2400" dirty="0"/>
          </a:p>
        </p:txBody>
      </p:sp>
      <p:sp>
        <p:nvSpPr>
          <p:cNvPr id="9" name="Text 7"/>
          <p:cNvSpPr/>
          <p:nvPr/>
        </p:nvSpPr>
        <p:spPr>
          <a:xfrm>
            <a:off x="320040" y="1865376"/>
            <a:ext cx="265176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Langage naturel</a:t>
            </a:r>
            <a:endParaRPr lang="en-US" sz="1300" dirty="0"/>
          </a:p>
        </p:txBody>
      </p:sp>
      <p:sp>
        <p:nvSpPr>
          <p:cNvPr id="10" name="Text 8"/>
          <p:cNvSpPr/>
          <p:nvPr/>
        </p:nvSpPr>
        <p:spPr>
          <a:xfrm>
            <a:off x="320040" y="2157984"/>
            <a:ext cx="2651760" cy="402336"/>
          </a:xfrm>
          <a:prstGeom prst="rect">
            <a:avLst/>
          </a:prstGeom>
          <a:noFill/>
          <a:ln/>
        </p:spPr>
        <p:txBody>
          <a:bodyPr wrap="square" lIns="0" tIns="0" rIns="0" bIns="0" rtlCol="0" anchor="ctr"/>
          <a:lstStyle/>
          <a:p>
            <a:pPr marL="0" indent="0" algn="ctr">
              <a:buNone/>
            </a:pPr>
            <a:r>
              <a:rPr lang="en-US" sz="1000" dirty="0">
                <a:solidFill>
                  <a:srgbClr val="93C5FD"/>
                </a:solidFill>
                <a:latin typeface="Arial" pitchFamily="34" charset="0"/>
                <a:ea typeface="Arial" pitchFamily="34" charset="-122"/>
                <a:cs typeface="Arial" pitchFamily="34" charset="-120"/>
              </a:rPr>
              <a:t>Répond en FR/EN</a:t>
            </a:r>
            <a:endParaRPr lang="en-US" sz="1000" dirty="0"/>
          </a:p>
          <a:p>
            <a:pPr marL="0" indent="0" algn="ctr">
              <a:buNone/>
            </a:pPr>
            <a:r>
              <a:rPr lang="en-US" sz="1000" dirty="0">
                <a:solidFill>
                  <a:srgbClr val="93C5FD"/>
                </a:solidFill>
                <a:latin typeface="Arial" pitchFamily="34" charset="0"/>
                <a:ea typeface="Arial" pitchFamily="34" charset="-122"/>
                <a:cs typeface="Arial" pitchFamily="34" charset="-120"/>
              </a:rPr>
              <a:t>à toute question</a:t>
            </a:r>
            <a:endParaRPr lang="en-US" sz="1000" dirty="0"/>
          </a:p>
        </p:txBody>
      </p:sp>
      <p:sp>
        <p:nvSpPr>
          <p:cNvPr id="11" name="Shape 9"/>
          <p:cNvSpPr/>
          <p:nvPr/>
        </p:nvSpPr>
        <p:spPr>
          <a:xfrm>
            <a:off x="3172968" y="1444752"/>
            <a:ext cx="2651760" cy="1143000"/>
          </a:xfrm>
          <a:prstGeom prst="roundRect">
            <a:avLst>
              <a:gd name="adj" fmla="val 11200"/>
            </a:avLst>
          </a:prstGeom>
          <a:solidFill>
            <a:srgbClr val="FFFFFF">
              <a:alpha val="9000"/>
            </a:srgbClr>
          </a:solidFill>
          <a:ln w="12700">
            <a:solidFill>
              <a:srgbClr val="0EA5E9"/>
            </a:solidFill>
            <a:prstDash val="solid"/>
          </a:ln>
          <a:effectLst>
            <a:outerShdw blurRad="88900" dist="25400" dir="2700000" algn="bl" rotWithShape="0">
              <a:srgbClr val="000000">
                <a:alpha val="13000"/>
              </a:srgbClr>
            </a:outerShdw>
          </a:effectLst>
        </p:spPr>
      </p:sp>
      <p:sp>
        <p:nvSpPr>
          <p:cNvPr id="12" name="Text 10"/>
          <p:cNvSpPr/>
          <p:nvPr/>
        </p:nvSpPr>
        <p:spPr>
          <a:xfrm>
            <a:off x="3172968" y="1499616"/>
            <a:ext cx="2651760" cy="384048"/>
          </a:xfrm>
          <a:prstGeom prst="rect">
            <a:avLst/>
          </a:prstGeom>
          <a:noFill/>
          <a:ln/>
        </p:spPr>
        <p:txBody>
          <a:bodyPr wrap="square" lIns="0" tIns="0" rIns="0" bIns="0" rtlCol="0" anchor="ctr"/>
          <a:lstStyle/>
          <a:p>
            <a:pPr marL="0" indent="0" algn="ctr">
              <a:buNone/>
            </a:pPr>
            <a:r>
              <a:rPr lang="en-US" sz="2400" dirty="0">
                <a:solidFill>
                  <a:srgbClr val="000000"/>
                </a:solidFill>
                <a:latin typeface="Arial" pitchFamily="34" charset="0"/>
                <a:ea typeface="Arial" pitchFamily="34" charset="-122"/>
                <a:cs typeface="Arial" pitchFamily="34" charset="-120"/>
              </a:rPr>
              <a:t>🗄️</a:t>
            </a:r>
            <a:endParaRPr lang="en-US" sz="2400" dirty="0"/>
          </a:p>
        </p:txBody>
      </p:sp>
      <p:sp>
        <p:nvSpPr>
          <p:cNvPr id="13" name="Text 11"/>
          <p:cNvSpPr/>
          <p:nvPr/>
        </p:nvSpPr>
        <p:spPr>
          <a:xfrm>
            <a:off x="3172968" y="1865376"/>
            <a:ext cx="265176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Données live</a:t>
            </a:r>
            <a:endParaRPr lang="en-US" sz="1300" dirty="0"/>
          </a:p>
        </p:txBody>
      </p:sp>
      <p:sp>
        <p:nvSpPr>
          <p:cNvPr id="14" name="Text 12"/>
          <p:cNvSpPr/>
          <p:nvPr/>
        </p:nvSpPr>
        <p:spPr>
          <a:xfrm>
            <a:off x="3172968" y="2157984"/>
            <a:ext cx="2651760" cy="402336"/>
          </a:xfrm>
          <a:prstGeom prst="rect">
            <a:avLst/>
          </a:prstGeom>
          <a:noFill/>
          <a:ln/>
        </p:spPr>
        <p:txBody>
          <a:bodyPr wrap="square" lIns="0" tIns="0" rIns="0" bIns="0" rtlCol="0" anchor="ctr"/>
          <a:lstStyle/>
          <a:p>
            <a:pPr marL="0" indent="0" algn="ctr">
              <a:buNone/>
            </a:pPr>
            <a:r>
              <a:rPr lang="en-US" sz="1000" dirty="0">
                <a:solidFill>
                  <a:srgbClr val="93C5FD"/>
                </a:solidFill>
                <a:latin typeface="Arial" pitchFamily="34" charset="0"/>
                <a:ea typeface="Arial" pitchFamily="34" charset="-122"/>
                <a:cs typeface="Arial" pitchFamily="34" charset="-120"/>
              </a:rPr>
              <a:t>Accès temps réel</a:t>
            </a:r>
            <a:endParaRPr lang="en-US" sz="1000" dirty="0"/>
          </a:p>
          <a:p>
            <a:pPr marL="0" indent="0" algn="ctr">
              <a:buNone/>
            </a:pPr>
            <a:r>
              <a:rPr lang="en-US" sz="1000" dirty="0">
                <a:solidFill>
                  <a:srgbClr val="93C5FD"/>
                </a:solidFill>
                <a:latin typeface="Arial" pitchFamily="34" charset="0"/>
                <a:ea typeface="Arial" pitchFamily="34" charset="-122"/>
                <a:cs typeface="Arial" pitchFamily="34" charset="-120"/>
              </a:rPr>
              <a:t>à toute la BDD</a:t>
            </a:r>
            <a:endParaRPr lang="en-US" sz="1000" dirty="0"/>
          </a:p>
        </p:txBody>
      </p:sp>
      <p:sp>
        <p:nvSpPr>
          <p:cNvPr id="15" name="Shape 13"/>
          <p:cNvSpPr/>
          <p:nvPr/>
        </p:nvSpPr>
        <p:spPr>
          <a:xfrm>
            <a:off x="6025896" y="1444752"/>
            <a:ext cx="2651760" cy="1143000"/>
          </a:xfrm>
          <a:prstGeom prst="roundRect">
            <a:avLst>
              <a:gd name="adj" fmla="val 11200"/>
            </a:avLst>
          </a:prstGeom>
          <a:solidFill>
            <a:srgbClr val="FFFFFF">
              <a:alpha val="9000"/>
            </a:srgbClr>
          </a:solidFill>
          <a:ln w="12700">
            <a:solidFill>
              <a:srgbClr val="0EA5E9"/>
            </a:solidFill>
            <a:prstDash val="solid"/>
          </a:ln>
          <a:effectLst>
            <a:outerShdw blurRad="88900" dist="25400" dir="2700000" algn="bl" rotWithShape="0">
              <a:srgbClr val="000000">
                <a:alpha val="13000"/>
              </a:srgbClr>
            </a:outerShdw>
          </a:effectLst>
        </p:spPr>
      </p:sp>
      <p:sp>
        <p:nvSpPr>
          <p:cNvPr id="16" name="Text 14"/>
          <p:cNvSpPr/>
          <p:nvPr/>
        </p:nvSpPr>
        <p:spPr>
          <a:xfrm>
            <a:off x="6025896" y="1499616"/>
            <a:ext cx="2651760" cy="384048"/>
          </a:xfrm>
          <a:prstGeom prst="rect">
            <a:avLst/>
          </a:prstGeom>
          <a:noFill/>
          <a:ln/>
        </p:spPr>
        <p:txBody>
          <a:bodyPr wrap="square" lIns="0" tIns="0" rIns="0" bIns="0" rtlCol="0" anchor="ctr"/>
          <a:lstStyle/>
          <a:p>
            <a:pPr marL="0" indent="0" algn="ctr">
              <a:buNone/>
            </a:pPr>
            <a:r>
              <a:rPr lang="en-US" sz="2400" dirty="0">
                <a:solidFill>
                  <a:srgbClr val="000000"/>
                </a:solidFill>
                <a:latin typeface="Arial" pitchFamily="34" charset="0"/>
                <a:ea typeface="Arial" pitchFamily="34" charset="-122"/>
                <a:cs typeface="Arial" pitchFamily="34" charset="-120"/>
              </a:rPr>
              <a:t>🎯</a:t>
            </a:r>
            <a:endParaRPr lang="en-US" sz="2400" dirty="0"/>
          </a:p>
        </p:txBody>
      </p:sp>
      <p:sp>
        <p:nvSpPr>
          <p:cNvPr id="17" name="Text 15"/>
          <p:cNvSpPr/>
          <p:nvPr/>
        </p:nvSpPr>
        <p:spPr>
          <a:xfrm>
            <a:off x="6025896" y="1865376"/>
            <a:ext cx="265176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Actions UI</a:t>
            </a:r>
            <a:endParaRPr lang="en-US" sz="1300" dirty="0"/>
          </a:p>
        </p:txBody>
      </p:sp>
      <p:sp>
        <p:nvSpPr>
          <p:cNvPr id="18" name="Text 16"/>
          <p:cNvSpPr/>
          <p:nvPr/>
        </p:nvSpPr>
        <p:spPr>
          <a:xfrm>
            <a:off x="6025896" y="2157984"/>
            <a:ext cx="2651760" cy="402336"/>
          </a:xfrm>
          <a:prstGeom prst="rect">
            <a:avLst/>
          </a:prstGeom>
          <a:noFill/>
          <a:ln/>
        </p:spPr>
        <p:txBody>
          <a:bodyPr wrap="square" lIns="0" tIns="0" rIns="0" bIns="0" rtlCol="0" anchor="ctr"/>
          <a:lstStyle/>
          <a:p>
            <a:pPr marL="0" indent="0" algn="ctr">
              <a:buNone/>
            </a:pPr>
            <a:r>
              <a:rPr lang="en-US" sz="1000" dirty="0">
                <a:solidFill>
                  <a:srgbClr val="93C5FD"/>
                </a:solidFill>
                <a:latin typeface="Arial" pitchFamily="34" charset="0"/>
                <a:ea typeface="Arial" pitchFamily="34" charset="-122"/>
                <a:cs typeface="Arial" pitchFamily="34" charset="-120"/>
              </a:rPr>
              <a:t>Déclenche vues</a:t>
            </a:r>
            <a:endParaRPr lang="en-US" sz="1000" dirty="0"/>
          </a:p>
          <a:p>
            <a:pPr marL="0" indent="0" algn="ctr">
              <a:buNone/>
            </a:pPr>
            <a:r>
              <a:rPr lang="en-US" sz="1000" dirty="0">
                <a:solidFill>
                  <a:srgbClr val="93C5FD"/>
                </a:solidFill>
                <a:latin typeface="Arial" pitchFamily="34" charset="0"/>
                <a:ea typeface="Arial" pitchFamily="34" charset="-122"/>
                <a:cs typeface="Arial" pitchFamily="34" charset="-120"/>
              </a:rPr>
              <a:t>sans navigation</a:t>
            </a:r>
            <a:endParaRPr lang="en-US" sz="1000" dirty="0"/>
          </a:p>
        </p:txBody>
      </p:sp>
      <p:sp>
        <p:nvSpPr>
          <p:cNvPr id="19" name="Shape 17"/>
          <p:cNvSpPr/>
          <p:nvPr/>
        </p:nvSpPr>
        <p:spPr>
          <a:xfrm>
            <a:off x="320040" y="2834640"/>
            <a:ext cx="2651760" cy="1143000"/>
          </a:xfrm>
          <a:prstGeom prst="roundRect">
            <a:avLst>
              <a:gd name="adj" fmla="val 11200"/>
            </a:avLst>
          </a:prstGeom>
          <a:solidFill>
            <a:srgbClr val="FFFFFF">
              <a:alpha val="9000"/>
            </a:srgbClr>
          </a:solidFill>
          <a:ln w="12700">
            <a:solidFill>
              <a:srgbClr val="0EA5E9"/>
            </a:solidFill>
            <a:prstDash val="solid"/>
          </a:ln>
          <a:effectLst>
            <a:outerShdw blurRad="88900" dist="25400" dir="2700000" algn="bl" rotWithShape="0">
              <a:srgbClr val="000000">
                <a:alpha val="13000"/>
              </a:srgbClr>
            </a:outerShdw>
          </a:effectLst>
        </p:spPr>
      </p:sp>
      <p:sp>
        <p:nvSpPr>
          <p:cNvPr id="20" name="Text 18"/>
          <p:cNvSpPr/>
          <p:nvPr/>
        </p:nvSpPr>
        <p:spPr>
          <a:xfrm>
            <a:off x="320040" y="2889504"/>
            <a:ext cx="2651760" cy="384048"/>
          </a:xfrm>
          <a:prstGeom prst="rect">
            <a:avLst/>
          </a:prstGeom>
          <a:noFill/>
          <a:ln/>
        </p:spPr>
        <p:txBody>
          <a:bodyPr wrap="square" lIns="0" tIns="0" rIns="0" bIns="0" rtlCol="0" anchor="ctr"/>
          <a:lstStyle/>
          <a:p>
            <a:pPr marL="0" indent="0" algn="ctr">
              <a:buNone/>
            </a:pPr>
            <a:r>
              <a:rPr lang="en-US" sz="2400" dirty="0">
                <a:solidFill>
                  <a:srgbClr val="000000"/>
                </a:solidFill>
                <a:latin typeface="Arial" pitchFamily="34" charset="0"/>
                <a:ea typeface="Arial" pitchFamily="34" charset="-122"/>
                <a:cs typeface="Arial" pitchFamily="34" charset="-120"/>
              </a:rPr>
              <a:t>🌐</a:t>
            </a:r>
            <a:endParaRPr lang="en-US" sz="2400" dirty="0"/>
          </a:p>
        </p:txBody>
      </p:sp>
      <p:sp>
        <p:nvSpPr>
          <p:cNvPr id="21" name="Text 19"/>
          <p:cNvSpPr/>
          <p:nvPr/>
        </p:nvSpPr>
        <p:spPr>
          <a:xfrm>
            <a:off x="320040" y="3255264"/>
            <a:ext cx="265176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Recherche web</a:t>
            </a:r>
            <a:endParaRPr lang="en-US" sz="1300" dirty="0"/>
          </a:p>
        </p:txBody>
      </p:sp>
      <p:sp>
        <p:nvSpPr>
          <p:cNvPr id="22" name="Text 20"/>
          <p:cNvSpPr/>
          <p:nvPr/>
        </p:nvSpPr>
        <p:spPr>
          <a:xfrm>
            <a:off x="320040" y="3547872"/>
            <a:ext cx="2651760" cy="402336"/>
          </a:xfrm>
          <a:prstGeom prst="rect">
            <a:avLst/>
          </a:prstGeom>
          <a:noFill/>
          <a:ln/>
        </p:spPr>
        <p:txBody>
          <a:bodyPr wrap="square" lIns="0" tIns="0" rIns="0" bIns="0" rtlCol="0" anchor="ctr"/>
          <a:lstStyle/>
          <a:p>
            <a:pPr marL="0" indent="0" algn="ctr">
              <a:buNone/>
            </a:pPr>
            <a:r>
              <a:rPr lang="en-US" sz="1000" dirty="0">
                <a:solidFill>
                  <a:srgbClr val="93C5FD"/>
                </a:solidFill>
                <a:latin typeface="Arial" pitchFamily="34" charset="0"/>
                <a:ea typeface="Arial" pitchFamily="34" charset="-122"/>
                <a:cs typeface="Arial" pitchFamily="34" charset="-120"/>
              </a:rPr>
              <a:t>Tavily pour</a:t>
            </a:r>
            <a:endParaRPr lang="en-US" sz="1000" dirty="0"/>
          </a:p>
          <a:p>
            <a:pPr marL="0" indent="0" algn="ctr">
              <a:buNone/>
            </a:pPr>
            <a:r>
              <a:rPr lang="en-US" sz="1000" dirty="0">
                <a:solidFill>
                  <a:srgbClr val="93C5FD"/>
                </a:solidFill>
                <a:latin typeface="Arial" pitchFamily="34" charset="0"/>
                <a:ea typeface="Arial" pitchFamily="34" charset="-122"/>
                <a:cs typeface="Arial" pitchFamily="34" charset="-120"/>
              </a:rPr>
              <a:t>infos récentes</a:t>
            </a:r>
            <a:endParaRPr lang="en-US" sz="1000" dirty="0"/>
          </a:p>
        </p:txBody>
      </p:sp>
      <p:sp>
        <p:nvSpPr>
          <p:cNvPr id="23" name="Shape 21"/>
          <p:cNvSpPr/>
          <p:nvPr/>
        </p:nvSpPr>
        <p:spPr>
          <a:xfrm>
            <a:off x="3172968" y="2834640"/>
            <a:ext cx="2651760" cy="1143000"/>
          </a:xfrm>
          <a:prstGeom prst="roundRect">
            <a:avLst>
              <a:gd name="adj" fmla="val 11200"/>
            </a:avLst>
          </a:prstGeom>
          <a:solidFill>
            <a:srgbClr val="FFFFFF">
              <a:alpha val="9000"/>
            </a:srgbClr>
          </a:solidFill>
          <a:ln w="12700">
            <a:solidFill>
              <a:srgbClr val="0EA5E9"/>
            </a:solidFill>
            <a:prstDash val="solid"/>
          </a:ln>
          <a:effectLst>
            <a:outerShdw blurRad="88900" dist="25400" dir="2700000" algn="bl" rotWithShape="0">
              <a:srgbClr val="000000">
                <a:alpha val="13000"/>
              </a:srgbClr>
            </a:outerShdw>
          </a:effectLst>
        </p:spPr>
      </p:sp>
      <p:sp>
        <p:nvSpPr>
          <p:cNvPr id="24" name="Text 22"/>
          <p:cNvSpPr/>
          <p:nvPr/>
        </p:nvSpPr>
        <p:spPr>
          <a:xfrm>
            <a:off x="3172968" y="2889504"/>
            <a:ext cx="2651760" cy="384048"/>
          </a:xfrm>
          <a:prstGeom prst="rect">
            <a:avLst/>
          </a:prstGeom>
          <a:noFill/>
          <a:ln/>
        </p:spPr>
        <p:txBody>
          <a:bodyPr wrap="square" lIns="0" tIns="0" rIns="0" bIns="0" rtlCol="0" anchor="ctr"/>
          <a:lstStyle/>
          <a:p>
            <a:pPr marL="0" indent="0" algn="ctr">
              <a:buNone/>
            </a:pPr>
            <a:r>
              <a:rPr lang="en-US" sz="2400" dirty="0">
                <a:solidFill>
                  <a:srgbClr val="000000"/>
                </a:solidFill>
                <a:latin typeface="Arial" pitchFamily="34" charset="0"/>
                <a:ea typeface="Arial" pitchFamily="34" charset="-122"/>
                <a:cs typeface="Arial" pitchFamily="34" charset="-120"/>
              </a:rPr>
              <a:t>🧠</a:t>
            </a:r>
            <a:endParaRPr lang="en-US" sz="2400" dirty="0"/>
          </a:p>
        </p:txBody>
      </p:sp>
      <p:sp>
        <p:nvSpPr>
          <p:cNvPr id="25" name="Text 23"/>
          <p:cNvSpPr/>
          <p:nvPr/>
        </p:nvSpPr>
        <p:spPr>
          <a:xfrm>
            <a:off x="3172968" y="3255264"/>
            <a:ext cx="265176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Contexte</a:t>
            </a:r>
            <a:endParaRPr lang="en-US" sz="1300" dirty="0"/>
          </a:p>
        </p:txBody>
      </p:sp>
      <p:sp>
        <p:nvSpPr>
          <p:cNvPr id="26" name="Text 24"/>
          <p:cNvSpPr/>
          <p:nvPr/>
        </p:nvSpPr>
        <p:spPr>
          <a:xfrm>
            <a:off x="3172968" y="3547872"/>
            <a:ext cx="2651760" cy="402336"/>
          </a:xfrm>
          <a:prstGeom prst="rect">
            <a:avLst/>
          </a:prstGeom>
          <a:noFill/>
          <a:ln/>
        </p:spPr>
        <p:txBody>
          <a:bodyPr wrap="square" lIns="0" tIns="0" rIns="0" bIns="0" rtlCol="0" anchor="ctr"/>
          <a:lstStyle/>
          <a:p>
            <a:pPr marL="0" indent="0" algn="ctr">
              <a:buNone/>
            </a:pPr>
            <a:r>
              <a:rPr lang="en-US" sz="1000" dirty="0">
                <a:solidFill>
                  <a:srgbClr val="93C5FD"/>
                </a:solidFill>
                <a:latin typeface="Arial" pitchFamily="34" charset="0"/>
                <a:ea typeface="Arial" pitchFamily="34" charset="-122"/>
                <a:cs typeface="Arial" pitchFamily="34" charset="-120"/>
              </a:rPr>
              <a:t>Mémoire des</a:t>
            </a:r>
            <a:endParaRPr lang="en-US" sz="1000" dirty="0"/>
          </a:p>
          <a:p>
            <a:pPr marL="0" indent="0" algn="ctr">
              <a:buNone/>
            </a:pPr>
            <a:r>
              <a:rPr lang="en-US" sz="1000" dirty="0">
                <a:solidFill>
                  <a:srgbClr val="93C5FD"/>
                </a:solidFill>
                <a:latin typeface="Arial" pitchFamily="34" charset="0"/>
                <a:ea typeface="Arial" pitchFamily="34" charset="-122"/>
                <a:cs typeface="Arial" pitchFamily="34" charset="-120"/>
              </a:rPr>
              <a:t>10 derniers échanges</a:t>
            </a:r>
            <a:endParaRPr lang="en-US" sz="1000" dirty="0"/>
          </a:p>
        </p:txBody>
      </p:sp>
      <p:sp>
        <p:nvSpPr>
          <p:cNvPr id="27" name="Shape 25"/>
          <p:cNvSpPr/>
          <p:nvPr/>
        </p:nvSpPr>
        <p:spPr>
          <a:xfrm>
            <a:off x="6025896" y="2834640"/>
            <a:ext cx="2651760" cy="1143000"/>
          </a:xfrm>
          <a:prstGeom prst="roundRect">
            <a:avLst>
              <a:gd name="adj" fmla="val 11200"/>
            </a:avLst>
          </a:prstGeom>
          <a:solidFill>
            <a:srgbClr val="FFFFFF">
              <a:alpha val="9000"/>
            </a:srgbClr>
          </a:solidFill>
          <a:ln w="12700">
            <a:solidFill>
              <a:srgbClr val="0EA5E9"/>
            </a:solidFill>
            <a:prstDash val="solid"/>
          </a:ln>
          <a:effectLst>
            <a:outerShdw blurRad="88900" dist="25400" dir="2700000" algn="bl" rotWithShape="0">
              <a:srgbClr val="000000">
                <a:alpha val="13000"/>
              </a:srgbClr>
            </a:outerShdw>
          </a:effectLst>
        </p:spPr>
      </p:sp>
      <p:sp>
        <p:nvSpPr>
          <p:cNvPr id="28" name="Text 26"/>
          <p:cNvSpPr/>
          <p:nvPr/>
        </p:nvSpPr>
        <p:spPr>
          <a:xfrm>
            <a:off x="6025896" y="2889504"/>
            <a:ext cx="2651760" cy="384048"/>
          </a:xfrm>
          <a:prstGeom prst="rect">
            <a:avLst/>
          </a:prstGeom>
          <a:noFill/>
          <a:ln/>
        </p:spPr>
        <p:txBody>
          <a:bodyPr wrap="square" lIns="0" tIns="0" rIns="0" bIns="0" rtlCol="0" anchor="ctr"/>
          <a:lstStyle/>
          <a:p>
            <a:pPr marL="0" indent="0" algn="ctr">
              <a:buNone/>
            </a:pPr>
            <a:r>
              <a:rPr lang="en-US" sz="2400" dirty="0">
                <a:solidFill>
                  <a:srgbClr val="000000"/>
                </a:solidFill>
                <a:latin typeface="Arial" pitchFamily="34" charset="0"/>
                <a:ea typeface="Arial" pitchFamily="34" charset="-122"/>
                <a:cs typeface="Arial" pitchFamily="34" charset="-120"/>
              </a:rPr>
              <a:t>🔒</a:t>
            </a:r>
            <a:endParaRPr lang="en-US" sz="2400" dirty="0"/>
          </a:p>
        </p:txBody>
      </p:sp>
      <p:sp>
        <p:nvSpPr>
          <p:cNvPr id="29" name="Text 27"/>
          <p:cNvSpPr/>
          <p:nvPr/>
        </p:nvSpPr>
        <p:spPr>
          <a:xfrm>
            <a:off x="6025896" y="3255264"/>
            <a:ext cx="265176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Sécurité</a:t>
            </a:r>
            <a:endParaRPr lang="en-US" sz="1300" dirty="0"/>
          </a:p>
        </p:txBody>
      </p:sp>
      <p:sp>
        <p:nvSpPr>
          <p:cNvPr id="30" name="Text 28"/>
          <p:cNvSpPr/>
          <p:nvPr/>
        </p:nvSpPr>
        <p:spPr>
          <a:xfrm>
            <a:off x="6025896" y="3547872"/>
            <a:ext cx="2651760" cy="402336"/>
          </a:xfrm>
          <a:prstGeom prst="rect">
            <a:avLst/>
          </a:prstGeom>
          <a:noFill/>
          <a:ln/>
        </p:spPr>
        <p:txBody>
          <a:bodyPr wrap="square" lIns="0" tIns="0" rIns="0" bIns="0" rtlCol="0" anchor="ctr"/>
          <a:lstStyle/>
          <a:p>
            <a:pPr marL="0" indent="0" algn="ctr">
              <a:buNone/>
            </a:pPr>
            <a:r>
              <a:rPr lang="en-US" sz="1000" dirty="0">
                <a:solidFill>
                  <a:srgbClr val="93C5FD"/>
                </a:solidFill>
                <a:latin typeface="Arial" pitchFamily="34" charset="0"/>
                <a:ea typeface="Arial" pitchFamily="34" charset="-122"/>
                <a:cs typeface="Arial" pitchFamily="34" charset="-120"/>
              </a:rPr>
              <a:t>Cloisonnement</a:t>
            </a:r>
            <a:endParaRPr lang="en-US" sz="1000" dirty="0"/>
          </a:p>
          <a:p>
            <a:pPr marL="0" indent="0" algn="ctr">
              <a:buNone/>
            </a:pPr>
            <a:r>
              <a:rPr lang="en-US" sz="1000" dirty="0">
                <a:solidFill>
                  <a:srgbClr val="93C5FD"/>
                </a:solidFill>
                <a:latin typeface="Arial" pitchFamily="34" charset="0"/>
                <a:ea typeface="Arial" pitchFamily="34" charset="-122"/>
                <a:cs typeface="Arial" pitchFamily="34" charset="-120"/>
              </a:rPr>
              <a:t>par département</a:t>
            </a:r>
            <a:endParaRPr lang="en-US" sz="1000" dirty="0"/>
          </a:p>
        </p:txBody>
      </p:sp>
      <p:sp>
        <p:nvSpPr>
          <p:cNvPr id="31" name="Shape 29"/>
          <p:cNvSpPr/>
          <p:nvPr/>
        </p:nvSpPr>
        <p:spPr>
          <a:xfrm>
            <a:off x="1371600" y="4041648"/>
            <a:ext cx="6400800" cy="27432"/>
          </a:xfrm>
          <a:prstGeom prst="rect">
            <a:avLst/>
          </a:prstGeom>
          <a:solidFill>
            <a:srgbClr val="0EA5E9">
              <a:alpha val="60000"/>
            </a:srgbClr>
          </a:solidFill>
          <a:ln w="12700">
            <a:solidFill>
              <a:srgbClr val="0EA5E9"/>
            </a:solidFill>
            <a:prstDash val="solid"/>
          </a:ln>
        </p:spPr>
      </p:sp>
      <p:sp>
        <p:nvSpPr>
          <p:cNvPr id="32" name="Shape 30"/>
          <p:cNvSpPr/>
          <p:nvPr/>
        </p:nvSpPr>
        <p:spPr>
          <a:xfrm>
            <a:off x="228600" y="4133088"/>
            <a:ext cx="822960" cy="274320"/>
          </a:xfrm>
          <a:prstGeom prst="roundRect">
            <a:avLst>
              <a:gd name="adj" fmla="val 16667"/>
            </a:avLst>
          </a:prstGeom>
          <a:solidFill>
            <a:srgbClr val="FFFFFF">
              <a:alpha val="12000"/>
            </a:srgbClr>
          </a:solidFill>
          <a:ln w="10160">
            <a:solidFill>
              <a:srgbClr val="0EA5E9"/>
            </a:solidFill>
            <a:prstDash val="solid"/>
          </a:ln>
        </p:spPr>
      </p:sp>
      <p:sp>
        <p:nvSpPr>
          <p:cNvPr id="33" name="Text 31"/>
          <p:cNvSpPr/>
          <p:nvPr/>
        </p:nvSpPr>
        <p:spPr>
          <a:xfrm>
            <a:off x="228600" y="4133088"/>
            <a:ext cx="822960" cy="274320"/>
          </a:xfrm>
          <a:prstGeom prst="rect">
            <a:avLst/>
          </a:prstGeom>
          <a:noFill/>
          <a:ln/>
        </p:spPr>
        <p:txBody>
          <a:bodyPr wrap="square" lIns="0" tIns="0" rIns="0" bIns="0" rtlCol="0" anchor="ctr"/>
          <a:lstStyle/>
          <a:p>
            <a:pPr marL="0" indent="0" algn="ctr">
              <a:buNone/>
            </a:pPr>
            <a:r>
              <a:rPr lang="en-US" sz="750" dirty="0">
                <a:solidFill>
                  <a:srgbClr val="FFFFFF"/>
                </a:solidFill>
                <a:latin typeface="Arial" pitchFamily="34" charset="0"/>
                <a:ea typeface="Arial" pitchFamily="34" charset="-122"/>
                <a:cs typeface="Arial" pitchFamily="34" charset="-120"/>
              </a:rPr>
              <a:t>Laravel 10</a:t>
            </a:r>
            <a:endParaRPr lang="en-US" sz="750" dirty="0"/>
          </a:p>
        </p:txBody>
      </p:sp>
      <p:sp>
        <p:nvSpPr>
          <p:cNvPr id="34" name="Shape 32"/>
          <p:cNvSpPr/>
          <p:nvPr/>
        </p:nvSpPr>
        <p:spPr>
          <a:xfrm>
            <a:off x="1115568" y="4133088"/>
            <a:ext cx="822960" cy="274320"/>
          </a:xfrm>
          <a:prstGeom prst="roundRect">
            <a:avLst>
              <a:gd name="adj" fmla="val 16667"/>
            </a:avLst>
          </a:prstGeom>
          <a:solidFill>
            <a:srgbClr val="FFFFFF">
              <a:alpha val="12000"/>
            </a:srgbClr>
          </a:solidFill>
          <a:ln w="10160">
            <a:solidFill>
              <a:srgbClr val="0EA5E9"/>
            </a:solidFill>
            <a:prstDash val="solid"/>
          </a:ln>
        </p:spPr>
      </p:sp>
      <p:sp>
        <p:nvSpPr>
          <p:cNvPr id="35" name="Text 33"/>
          <p:cNvSpPr/>
          <p:nvPr/>
        </p:nvSpPr>
        <p:spPr>
          <a:xfrm>
            <a:off x="1115568" y="4133088"/>
            <a:ext cx="822960" cy="274320"/>
          </a:xfrm>
          <a:prstGeom prst="rect">
            <a:avLst/>
          </a:prstGeom>
          <a:noFill/>
          <a:ln/>
        </p:spPr>
        <p:txBody>
          <a:bodyPr wrap="square" lIns="0" tIns="0" rIns="0" bIns="0" rtlCol="0" anchor="ctr"/>
          <a:lstStyle/>
          <a:p>
            <a:pPr marL="0" indent="0" algn="ctr">
              <a:buNone/>
            </a:pPr>
            <a:r>
              <a:rPr lang="en-US" sz="750" dirty="0">
                <a:solidFill>
                  <a:srgbClr val="FFFFFF"/>
                </a:solidFill>
                <a:latin typeface="Arial" pitchFamily="34" charset="0"/>
                <a:ea typeface="Arial" pitchFamily="34" charset="-122"/>
                <a:cs typeface="Arial" pitchFamily="34" charset="-120"/>
              </a:rPr>
              <a:t>MySQL</a:t>
            </a:r>
            <a:endParaRPr lang="en-US" sz="750" dirty="0"/>
          </a:p>
        </p:txBody>
      </p:sp>
      <p:sp>
        <p:nvSpPr>
          <p:cNvPr id="36" name="Shape 34"/>
          <p:cNvSpPr/>
          <p:nvPr/>
        </p:nvSpPr>
        <p:spPr>
          <a:xfrm>
            <a:off x="2002536" y="4133088"/>
            <a:ext cx="822960" cy="274320"/>
          </a:xfrm>
          <a:prstGeom prst="roundRect">
            <a:avLst>
              <a:gd name="adj" fmla="val 16667"/>
            </a:avLst>
          </a:prstGeom>
          <a:solidFill>
            <a:srgbClr val="FFFFFF">
              <a:alpha val="12000"/>
            </a:srgbClr>
          </a:solidFill>
          <a:ln w="10160">
            <a:solidFill>
              <a:srgbClr val="0EA5E9"/>
            </a:solidFill>
            <a:prstDash val="solid"/>
          </a:ln>
        </p:spPr>
      </p:sp>
      <p:sp>
        <p:nvSpPr>
          <p:cNvPr id="37" name="Text 35"/>
          <p:cNvSpPr/>
          <p:nvPr/>
        </p:nvSpPr>
        <p:spPr>
          <a:xfrm>
            <a:off x="2002536" y="4133088"/>
            <a:ext cx="822960" cy="274320"/>
          </a:xfrm>
          <a:prstGeom prst="rect">
            <a:avLst/>
          </a:prstGeom>
          <a:noFill/>
          <a:ln/>
        </p:spPr>
        <p:txBody>
          <a:bodyPr wrap="square" lIns="0" tIns="0" rIns="0" bIns="0" rtlCol="0" anchor="ctr"/>
          <a:lstStyle/>
          <a:p>
            <a:pPr marL="0" indent="0" algn="ctr">
              <a:buNone/>
            </a:pPr>
            <a:r>
              <a:rPr lang="en-US" sz="750" dirty="0">
                <a:solidFill>
                  <a:srgbClr val="FFFFFF"/>
                </a:solidFill>
                <a:latin typeface="Arial" pitchFamily="34" charset="0"/>
                <a:ea typeface="Arial" pitchFamily="34" charset="-122"/>
                <a:cs typeface="Arial" pitchFamily="34" charset="-120"/>
              </a:rPr>
              <a:t>LLaMA 3.1 8B</a:t>
            </a:r>
            <a:endParaRPr lang="en-US" sz="750" dirty="0"/>
          </a:p>
        </p:txBody>
      </p:sp>
      <p:sp>
        <p:nvSpPr>
          <p:cNvPr id="38" name="Shape 36"/>
          <p:cNvSpPr/>
          <p:nvPr/>
        </p:nvSpPr>
        <p:spPr>
          <a:xfrm>
            <a:off x="2889504" y="4133088"/>
            <a:ext cx="822960" cy="274320"/>
          </a:xfrm>
          <a:prstGeom prst="roundRect">
            <a:avLst>
              <a:gd name="adj" fmla="val 16667"/>
            </a:avLst>
          </a:prstGeom>
          <a:solidFill>
            <a:srgbClr val="FFFFFF">
              <a:alpha val="12000"/>
            </a:srgbClr>
          </a:solidFill>
          <a:ln w="10160">
            <a:solidFill>
              <a:srgbClr val="0EA5E9"/>
            </a:solidFill>
            <a:prstDash val="solid"/>
          </a:ln>
        </p:spPr>
      </p:sp>
      <p:sp>
        <p:nvSpPr>
          <p:cNvPr id="39" name="Text 37"/>
          <p:cNvSpPr/>
          <p:nvPr/>
        </p:nvSpPr>
        <p:spPr>
          <a:xfrm>
            <a:off x="2889504" y="4133088"/>
            <a:ext cx="822960" cy="274320"/>
          </a:xfrm>
          <a:prstGeom prst="rect">
            <a:avLst/>
          </a:prstGeom>
          <a:noFill/>
          <a:ln/>
        </p:spPr>
        <p:txBody>
          <a:bodyPr wrap="square" lIns="0" tIns="0" rIns="0" bIns="0" rtlCol="0" anchor="ctr"/>
          <a:lstStyle/>
          <a:p>
            <a:pPr marL="0" indent="0" algn="ctr">
              <a:buNone/>
            </a:pPr>
            <a:r>
              <a:rPr lang="en-US" sz="750" dirty="0">
                <a:solidFill>
                  <a:srgbClr val="FFFFFF"/>
                </a:solidFill>
                <a:latin typeface="Arial" pitchFamily="34" charset="0"/>
                <a:ea typeface="Arial" pitchFamily="34" charset="-122"/>
                <a:cs typeface="Arial" pitchFamily="34" charset="-120"/>
              </a:rPr>
              <a:t>Groq API</a:t>
            </a:r>
            <a:endParaRPr lang="en-US" sz="750" dirty="0"/>
          </a:p>
        </p:txBody>
      </p:sp>
      <p:sp>
        <p:nvSpPr>
          <p:cNvPr id="40" name="Shape 38"/>
          <p:cNvSpPr/>
          <p:nvPr/>
        </p:nvSpPr>
        <p:spPr>
          <a:xfrm>
            <a:off x="3776472" y="4133088"/>
            <a:ext cx="822960" cy="274320"/>
          </a:xfrm>
          <a:prstGeom prst="roundRect">
            <a:avLst>
              <a:gd name="adj" fmla="val 16667"/>
            </a:avLst>
          </a:prstGeom>
          <a:solidFill>
            <a:srgbClr val="FFFFFF">
              <a:alpha val="12000"/>
            </a:srgbClr>
          </a:solidFill>
          <a:ln w="10160">
            <a:solidFill>
              <a:srgbClr val="0EA5E9"/>
            </a:solidFill>
            <a:prstDash val="solid"/>
          </a:ln>
        </p:spPr>
      </p:sp>
      <p:sp>
        <p:nvSpPr>
          <p:cNvPr id="41" name="Text 39"/>
          <p:cNvSpPr/>
          <p:nvPr/>
        </p:nvSpPr>
        <p:spPr>
          <a:xfrm>
            <a:off x="3776472" y="4133088"/>
            <a:ext cx="822960" cy="274320"/>
          </a:xfrm>
          <a:prstGeom prst="rect">
            <a:avLst/>
          </a:prstGeom>
          <a:noFill/>
          <a:ln/>
        </p:spPr>
        <p:txBody>
          <a:bodyPr wrap="square" lIns="0" tIns="0" rIns="0" bIns="0" rtlCol="0" anchor="ctr"/>
          <a:lstStyle/>
          <a:p>
            <a:pPr marL="0" indent="0" algn="ctr">
              <a:buNone/>
            </a:pPr>
            <a:r>
              <a:rPr lang="en-US" sz="750" dirty="0">
                <a:solidFill>
                  <a:srgbClr val="FFFFFF"/>
                </a:solidFill>
                <a:latin typeface="Arial" pitchFamily="34" charset="0"/>
                <a:ea typeface="Arial" pitchFamily="34" charset="-122"/>
                <a:cs typeface="Arial" pitchFamily="34" charset="-120"/>
              </a:rPr>
              <a:t>Tavily</a:t>
            </a:r>
            <a:endParaRPr lang="en-US" sz="750" dirty="0"/>
          </a:p>
        </p:txBody>
      </p:sp>
      <p:sp>
        <p:nvSpPr>
          <p:cNvPr id="42" name="Shape 40"/>
          <p:cNvSpPr/>
          <p:nvPr/>
        </p:nvSpPr>
        <p:spPr>
          <a:xfrm>
            <a:off x="4663440" y="4133088"/>
            <a:ext cx="822960" cy="274320"/>
          </a:xfrm>
          <a:prstGeom prst="roundRect">
            <a:avLst>
              <a:gd name="adj" fmla="val 16667"/>
            </a:avLst>
          </a:prstGeom>
          <a:solidFill>
            <a:srgbClr val="FFFFFF">
              <a:alpha val="12000"/>
            </a:srgbClr>
          </a:solidFill>
          <a:ln w="10160">
            <a:solidFill>
              <a:srgbClr val="0EA5E9"/>
            </a:solidFill>
            <a:prstDash val="solid"/>
          </a:ln>
        </p:spPr>
      </p:sp>
      <p:sp>
        <p:nvSpPr>
          <p:cNvPr id="43" name="Text 41"/>
          <p:cNvSpPr/>
          <p:nvPr/>
        </p:nvSpPr>
        <p:spPr>
          <a:xfrm>
            <a:off x="4663440" y="4133088"/>
            <a:ext cx="822960" cy="274320"/>
          </a:xfrm>
          <a:prstGeom prst="rect">
            <a:avLst/>
          </a:prstGeom>
          <a:noFill/>
          <a:ln/>
        </p:spPr>
        <p:txBody>
          <a:bodyPr wrap="square" lIns="0" tIns="0" rIns="0" bIns="0" rtlCol="0" anchor="ctr"/>
          <a:lstStyle/>
          <a:p>
            <a:pPr marL="0" indent="0" algn="ctr">
              <a:buNone/>
            </a:pPr>
            <a:r>
              <a:rPr lang="en-US" sz="750" dirty="0">
                <a:solidFill>
                  <a:srgbClr val="FFFFFF"/>
                </a:solidFill>
                <a:latin typeface="Arial" pitchFamily="34" charset="0"/>
                <a:ea typeface="Arial" pitchFamily="34" charset="-122"/>
                <a:cs typeface="Arial" pitchFamily="34" charset="-120"/>
              </a:rPr>
              <a:t>JavaScript ES6</a:t>
            </a:r>
            <a:endParaRPr lang="en-US" sz="750" dirty="0"/>
          </a:p>
        </p:txBody>
      </p:sp>
      <p:sp>
        <p:nvSpPr>
          <p:cNvPr id="44" name="Shape 42"/>
          <p:cNvSpPr/>
          <p:nvPr/>
        </p:nvSpPr>
        <p:spPr>
          <a:xfrm>
            <a:off x="5550408" y="4133088"/>
            <a:ext cx="822960" cy="274320"/>
          </a:xfrm>
          <a:prstGeom prst="roundRect">
            <a:avLst>
              <a:gd name="adj" fmla="val 16667"/>
            </a:avLst>
          </a:prstGeom>
          <a:solidFill>
            <a:srgbClr val="FFFFFF">
              <a:alpha val="12000"/>
            </a:srgbClr>
          </a:solidFill>
          <a:ln w="10160">
            <a:solidFill>
              <a:srgbClr val="0EA5E9"/>
            </a:solidFill>
            <a:prstDash val="solid"/>
          </a:ln>
        </p:spPr>
      </p:sp>
      <p:sp>
        <p:nvSpPr>
          <p:cNvPr id="45" name="Text 43"/>
          <p:cNvSpPr/>
          <p:nvPr/>
        </p:nvSpPr>
        <p:spPr>
          <a:xfrm>
            <a:off x="5550408" y="4133088"/>
            <a:ext cx="822960" cy="274320"/>
          </a:xfrm>
          <a:prstGeom prst="rect">
            <a:avLst/>
          </a:prstGeom>
          <a:noFill/>
          <a:ln/>
        </p:spPr>
        <p:txBody>
          <a:bodyPr wrap="square" lIns="0" tIns="0" rIns="0" bIns="0" rtlCol="0" anchor="ctr"/>
          <a:lstStyle/>
          <a:p>
            <a:pPr marL="0" indent="0" algn="ctr">
              <a:buNone/>
            </a:pPr>
            <a:r>
              <a:rPr lang="en-US" sz="750" dirty="0">
                <a:solidFill>
                  <a:srgbClr val="FFFFFF"/>
                </a:solidFill>
                <a:latin typeface="Arial" pitchFamily="34" charset="0"/>
                <a:ea typeface="Arial" pitchFamily="34" charset="-122"/>
                <a:cs typeface="Arial" pitchFamily="34" charset="-120"/>
              </a:rPr>
              <a:t>Blade</a:t>
            </a:r>
            <a:endParaRPr lang="en-US" sz="750" dirty="0"/>
          </a:p>
        </p:txBody>
      </p:sp>
      <p:sp>
        <p:nvSpPr>
          <p:cNvPr id="46" name="Shape 44"/>
          <p:cNvSpPr/>
          <p:nvPr/>
        </p:nvSpPr>
        <p:spPr>
          <a:xfrm>
            <a:off x="6437376" y="4133088"/>
            <a:ext cx="822960" cy="274320"/>
          </a:xfrm>
          <a:prstGeom prst="roundRect">
            <a:avLst>
              <a:gd name="adj" fmla="val 16667"/>
            </a:avLst>
          </a:prstGeom>
          <a:solidFill>
            <a:srgbClr val="FFFFFF">
              <a:alpha val="12000"/>
            </a:srgbClr>
          </a:solidFill>
          <a:ln w="10160">
            <a:solidFill>
              <a:srgbClr val="0EA5E9"/>
            </a:solidFill>
            <a:prstDash val="solid"/>
          </a:ln>
        </p:spPr>
      </p:sp>
      <p:sp>
        <p:nvSpPr>
          <p:cNvPr id="47" name="Text 45"/>
          <p:cNvSpPr/>
          <p:nvPr/>
        </p:nvSpPr>
        <p:spPr>
          <a:xfrm>
            <a:off x="6437376" y="4133088"/>
            <a:ext cx="822960" cy="274320"/>
          </a:xfrm>
          <a:prstGeom prst="rect">
            <a:avLst/>
          </a:prstGeom>
          <a:noFill/>
          <a:ln/>
        </p:spPr>
        <p:txBody>
          <a:bodyPr wrap="square" lIns="0" tIns="0" rIns="0" bIns="0" rtlCol="0" anchor="ctr"/>
          <a:lstStyle/>
          <a:p>
            <a:pPr marL="0" indent="0" algn="ctr">
              <a:buNone/>
            </a:pPr>
            <a:r>
              <a:rPr lang="en-US" sz="750" dirty="0">
                <a:solidFill>
                  <a:srgbClr val="FFFFFF"/>
                </a:solidFill>
                <a:latin typeface="Arial" pitchFamily="34" charset="0"/>
                <a:ea typeface="Arial" pitchFamily="34" charset="-122"/>
                <a:cs typeface="Arial" pitchFamily="34" charset="-120"/>
              </a:rPr>
              <a:t>OpenAI Format</a:t>
            </a:r>
            <a:endParaRPr lang="en-US" sz="750" dirty="0"/>
          </a:p>
        </p:txBody>
      </p:sp>
      <p:sp>
        <p:nvSpPr>
          <p:cNvPr id="48" name="Shape 46"/>
          <p:cNvSpPr/>
          <p:nvPr/>
        </p:nvSpPr>
        <p:spPr>
          <a:xfrm>
            <a:off x="7324344" y="4133088"/>
            <a:ext cx="822960" cy="274320"/>
          </a:xfrm>
          <a:prstGeom prst="roundRect">
            <a:avLst>
              <a:gd name="adj" fmla="val 16667"/>
            </a:avLst>
          </a:prstGeom>
          <a:solidFill>
            <a:srgbClr val="FFFFFF">
              <a:alpha val="12000"/>
            </a:srgbClr>
          </a:solidFill>
          <a:ln w="10160">
            <a:solidFill>
              <a:srgbClr val="0EA5E9"/>
            </a:solidFill>
            <a:prstDash val="solid"/>
          </a:ln>
        </p:spPr>
      </p:sp>
      <p:sp>
        <p:nvSpPr>
          <p:cNvPr id="49" name="Text 47"/>
          <p:cNvSpPr/>
          <p:nvPr/>
        </p:nvSpPr>
        <p:spPr>
          <a:xfrm>
            <a:off x="7324344" y="4133088"/>
            <a:ext cx="822960" cy="274320"/>
          </a:xfrm>
          <a:prstGeom prst="rect">
            <a:avLst/>
          </a:prstGeom>
          <a:noFill/>
          <a:ln/>
        </p:spPr>
        <p:txBody>
          <a:bodyPr wrap="square" lIns="0" tIns="0" rIns="0" bIns="0" rtlCol="0" anchor="ctr"/>
          <a:lstStyle/>
          <a:p>
            <a:pPr marL="0" indent="0" algn="ctr">
              <a:buNone/>
            </a:pPr>
            <a:r>
              <a:rPr lang="en-US" sz="750" dirty="0">
                <a:solidFill>
                  <a:srgbClr val="FFFFFF"/>
                </a:solidFill>
                <a:latin typeface="Arial" pitchFamily="34" charset="0"/>
                <a:ea typeface="Arial" pitchFamily="34" charset="-122"/>
                <a:cs typeface="Arial" pitchFamily="34" charset="-120"/>
              </a:rPr>
              <a:t>Eloquent ORM</a:t>
            </a:r>
            <a:endParaRPr lang="en-US" sz="750" dirty="0"/>
          </a:p>
        </p:txBody>
      </p:sp>
      <p:sp>
        <p:nvSpPr>
          <p:cNvPr id="50" name="Shape 48"/>
          <p:cNvSpPr/>
          <p:nvPr/>
        </p:nvSpPr>
        <p:spPr>
          <a:xfrm>
            <a:off x="8211312" y="4133088"/>
            <a:ext cx="822960" cy="274320"/>
          </a:xfrm>
          <a:prstGeom prst="roundRect">
            <a:avLst>
              <a:gd name="adj" fmla="val 16667"/>
            </a:avLst>
          </a:prstGeom>
          <a:solidFill>
            <a:srgbClr val="FFFFFF">
              <a:alpha val="12000"/>
            </a:srgbClr>
          </a:solidFill>
          <a:ln w="10160">
            <a:solidFill>
              <a:srgbClr val="0EA5E9"/>
            </a:solidFill>
            <a:prstDash val="solid"/>
          </a:ln>
        </p:spPr>
      </p:sp>
      <p:sp>
        <p:nvSpPr>
          <p:cNvPr id="51" name="Text 49"/>
          <p:cNvSpPr/>
          <p:nvPr/>
        </p:nvSpPr>
        <p:spPr>
          <a:xfrm>
            <a:off x="8211312" y="4133088"/>
            <a:ext cx="822960" cy="274320"/>
          </a:xfrm>
          <a:prstGeom prst="rect">
            <a:avLst/>
          </a:prstGeom>
          <a:noFill/>
          <a:ln/>
        </p:spPr>
        <p:txBody>
          <a:bodyPr wrap="square" lIns="0" tIns="0" rIns="0" bIns="0" rtlCol="0" anchor="ctr"/>
          <a:lstStyle/>
          <a:p>
            <a:pPr marL="0" indent="0" algn="ctr">
              <a:buNone/>
            </a:pPr>
            <a:r>
              <a:rPr lang="en-US" sz="750" dirty="0">
                <a:solidFill>
                  <a:srgbClr val="FFFFFF"/>
                </a:solidFill>
                <a:latin typeface="Arial" pitchFamily="34" charset="0"/>
                <a:ea typeface="Arial" pitchFamily="34" charset="-122"/>
                <a:cs typeface="Arial" pitchFamily="34" charset="-120"/>
              </a:rPr>
              <a:t>Notif Polling</a:t>
            </a:r>
            <a:endParaRPr lang="en-US" sz="750" dirty="0"/>
          </a:p>
        </p:txBody>
      </p:sp>
      <p:sp>
        <p:nvSpPr>
          <p:cNvPr id="52" name="Text 50"/>
          <p:cNvSpPr/>
          <p:nvPr/>
        </p:nvSpPr>
        <p:spPr>
          <a:xfrm>
            <a:off x="457200" y="4480560"/>
            <a:ext cx="8229600" cy="292608"/>
          </a:xfrm>
          <a:prstGeom prst="rect">
            <a:avLst/>
          </a:prstGeom>
          <a:noFill/>
          <a:ln/>
        </p:spPr>
        <p:txBody>
          <a:bodyPr wrap="square" lIns="0" tIns="0" rIns="0" bIns="0" rtlCol="0" anchor="ctr"/>
          <a:lstStyle/>
          <a:p>
            <a:pPr marL="0" indent="0" algn="ctr">
              <a:buNone/>
            </a:pPr>
            <a:r>
              <a:rPr lang="en-US" sz="1100" dirty="0">
                <a:solidFill>
                  <a:srgbClr val="93C5FD"/>
                </a:solidFill>
                <a:latin typeface="Arial" pitchFamily="34" charset="0"/>
                <a:ea typeface="Arial" pitchFamily="34" charset="-122"/>
                <a:cs typeface="Arial" pitchFamily="34" charset="-120"/>
              </a:rPr>
              <a:t>Groupe 6 — NTIC  |  Toumany Billy Condé &amp; Binôme  |  Mme Makera Kaba  |  UGANC 2025-2026</a:t>
            </a:r>
            <a:endParaRPr lang="en-US" sz="1100" dirty="0"/>
          </a:p>
        </p:txBody>
      </p:sp>
      <p:sp>
        <p:nvSpPr>
          <p:cNvPr id="53" name="Text 51"/>
          <p:cNvSpPr/>
          <p:nvPr/>
        </p:nvSpPr>
        <p:spPr>
          <a:xfrm>
            <a:off x="457200" y="4800600"/>
            <a:ext cx="8229600"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Des questions sur l'Intelligence Artificielle ?</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3603</Words>
  <Application>Microsoft Office PowerPoint</Application>
  <PresentationFormat>Affichage à l'écran (16:9)</PresentationFormat>
  <Paragraphs>594</Paragraphs>
  <Slides>20</Slides>
  <Notes>20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20</vt:i4>
      </vt:variant>
    </vt:vector>
  </HeadingPairs>
  <TitlesOfParts>
    <vt:vector size="23" baseType="lpstr">
      <vt:lpstr>Arial</vt:lpstr>
      <vt:lpstr>Courier New</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IA Chatbot EDT UGANC — Documentation Technique</dc:title>
  <dc:subject>PptxGenJS Presentation</dc:subject>
  <dc:creator>PptxGenJS</dc:creator>
  <cp:lastModifiedBy>Toumany Conde</cp:lastModifiedBy>
  <cp:revision>2</cp:revision>
  <dcterms:created xsi:type="dcterms:W3CDTF">2026-06-16T18:24:02Z</dcterms:created>
  <dcterms:modified xsi:type="dcterms:W3CDTF">2026-06-16T18:30:26Z</dcterms:modified>
</cp:coreProperties>
</file>